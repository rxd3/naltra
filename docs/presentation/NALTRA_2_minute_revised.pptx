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97d1994d75874380" /><Relationship Type="http://schemas.openxmlformats.org/officeDocument/2006/relationships/extended-properties" Target="/docProps/app.xml" Id="R54d1b11b0a0f496b" /><Relationship Type="http://schemas.openxmlformats.org/officeDocument/2006/relationships/officeDocument" Target="/ppt/presentation.xml" Id="R98d91906961d45a8" /></Relationships>
</file>

<file path=ppt/presentation.xml><?xml version="1.0" encoding="utf-8"?>
<p:presentation xmlns:p="http://schemas.openxmlformats.org/presentationml/2006/main">
  <p:sldMasterIdLst>
    <p:sldMasterId xmlns:r="http://schemas.openxmlformats.org/officeDocument/2006/relationships" id="2147483648" r:id="R5454579b4b4a485f"/>
  </p:sldMasterIdLst>
  <p:notesMasterIdLst>
    <p:notesMasterId xmlns:r="http://schemas.openxmlformats.org/officeDocument/2006/relationships" r:id="R8515c98cbd964a1d"/>
  </p:notesMasterIdLst>
  <p:sldIdLst>
    <p:sldId xmlns:r="http://schemas.openxmlformats.org/officeDocument/2006/relationships" id="256" r:id="R9c28de581cc84566"/>
    <p:sldId xmlns:r="http://schemas.openxmlformats.org/officeDocument/2006/relationships" id="257" r:id="R524838d4f8464f0a"/>
    <p:sldId xmlns:r="http://schemas.openxmlformats.org/officeDocument/2006/relationships" id="258" r:id="R9ebaab037f344d60"/>
    <p:sldId xmlns:r="http://schemas.openxmlformats.org/officeDocument/2006/relationships" id="259" r:id="Rb0e963b8867f46b3"/>
    <p:sldId xmlns:r="http://schemas.openxmlformats.org/officeDocument/2006/relationships" id="260" r:id="Rfdde1cfb97cc41e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2042e3a0e2e464d" /><Relationship Type="http://schemas.openxmlformats.org/officeDocument/2006/relationships/slideMaster" Target="/ppt/slideMasters/slideMaster1.xml" Id="R5454579b4b4a485f" /><Relationship Type="http://schemas.openxmlformats.org/officeDocument/2006/relationships/notesMaster" Target="/ppt/notesMasters/notesMaster1.xml" Id="R8515c98cbd964a1d" /><Relationship Type="http://schemas.openxmlformats.org/officeDocument/2006/relationships/presProps" Target="/ppt/presProps.xml" Id="Rb424e584844548cc" /><Relationship Type="http://schemas.openxmlformats.org/officeDocument/2006/relationships/tableStyles" Target="/ppt/tableStyles.xml" Id="R1f9c5ce918a048b5" /><Relationship Type="http://schemas.openxmlformats.org/officeDocument/2006/relationships/slide" Target="/ppt/slides/slide1.xml" Id="R9c28de581cc84566" /><Relationship Type="http://schemas.openxmlformats.org/officeDocument/2006/relationships/slide" Target="/ppt/slides/slide2.xml" Id="R524838d4f8464f0a" /><Relationship Type="http://schemas.openxmlformats.org/officeDocument/2006/relationships/slide" Target="/ppt/slides/slide3.xml" Id="R9ebaab037f344d60" /><Relationship Type="http://schemas.openxmlformats.org/officeDocument/2006/relationships/slide" Target="/ppt/slides/slide4.xml" Id="Rb0e963b8867f46b3" /><Relationship Type="http://schemas.openxmlformats.org/officeDocument/2006/relationships/slide" Target="/ppt/slides/slide5.xml" Id="Rfdde1cfb97cc41e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f4d7ac35cf84d9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68b7ea3367c4726" /><Relationship Type="http://schemas.openxmlformats.org/officeDocument/2006/relationships/notesMaster" Target="/ppt/notesMasters/notesMaster1.xml" Id="Rbf57c92f259e4786" /></Relationships>
</file>

<file path=ppt/notesSlides/_rels/notesSlide2.xml.rels>&#65279;<?xml version="1.0" encoding="utf-8"?><Relationships xmlns="http://schemas.openxmlformats.org/package/2006/relationships"><Relationship Type="http://schemas.openxmlformats.org/officeDocument/2006/relationships/slide" Target="/ppt/slides/slide2.xml" Id="R609d30d780444963" /><Relationship Type="http://schemas.openxmlformats.org/officeDocument/2006/relationships/notesMaster" Target="/ppt/notesMasters/notesMaster1.xml" Id="Rd94f25232edc4f40" /></Relationships>
</file>

<file path=ppt/notesSlides/_rels/notesSlide3.xml.rels>&#65279;<?xml version="1.0" encoding="utf-8"?><Relationships xmlns="http://schemas.openxmlformats.org/package/2006/relationships"><Relationship Type="http://schemas.openxmlformats.org/officeDocument/2006/relationships/slide" Target="/ppt/slides/slide3.xml" Id="R73e69de8ba1e48e9" /><Relationship Type="http://schemas.openxmlformats.org/officeDocument/2006/relationships/notesMaster" Target="/ppt/notesMasters/notesMaster1.xml" Id="Rea50f9bfee1349f2" /></Relationships>
</file>

<file path=ppt/notesSlides/_rels/notesSlide4.xml.rels>&#65279;<?xml version="1.0" encoding="utf-8"?><Relationships xmlns="http://schemas.openxmlformats.org/package/2006/relationships"><Relationship Type="http://schemas.openxmlformats.org/officeDocument/2006/relationships/slide" Target="/ppt/slides/slide4.xml" Id="Rd2ccc5693390414d" /><Relationship Type="http://schemas.openxmlformats.org/officeDocument/2006/relationships/notesMaster" Target="/ppt/notesMasters/notesMaster1.xml" Id="Re2aa015796e64864" /></Relationships>
</file>

<file path=ppt/notesSlides/_rels/notesSlide5.xml.rels>&#65279;<?xml version="1.0" encoding="utf-8"?><Relationships xmlns="http://schemas.openxmlformats.org/package/2006/relationships"><Relationship Type="http://schemas.openxmlformats.org/officeDocument/2006/relationships/slide" Target="/ppt/slides/slide5.xml" Id="Rfca2953ab9964d0c" /><Relationship Type="http://schemas.openxmlformats.org/officeDocument/2006/relationships/notesMaster" Target="/ppt/notesMasters/notesMaster1.xml" Id="Rbc90f2763d964fc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0:00–0:17</a:t>
            </a:r>
          </a:p>
          <a:p xmlns:a="http://schemas.openxmlformats.org/drawingml/2006/main">
            <a:r>
              <a:t/>
            </a:r>
          </a:p>
          <a:p xmlns:a="http://schemas.openxmlformats.org/drawingml/2006/main">
            <a:r>
              <a:t>NALTRA is a multilingual system for classifying research text into scientific fields. It predicts multiple labels, detects out-of-distribution inputs, and evaluates robustness across Turkish, English, code-switching and noise.</a:t>
            </a:r>
          </a:p>
          <a:p xmlns:a="http://schemas.openxmlformats.org/drawingml/2006/main">
            <a:r>
              <a:t/>
            </a:r>
          </a:p>
          <a:p xmlns:a="http://schemas.openxmlformats.org/drawingml/2006/main">
            <a:r>
              <a:t>Sources for preparation, not spoken:</a:t>
            </a:r>
          </a:p>
          <a:p xmlns:a="http://schemas.openxmlformats.org/drawingml/2006/main">
            <a:r>
              <a:t>README.md: project purpose and models</a:t>
            </a:r>
          </a:p>
          <a:p xmlns:a="http://schemas.openxmlformats.org/drawingml/2006/main">
            <a:r>
              <a:t>docs/core_ml.md: prediction output and OOD scoring</a:t>
            </a:r>
          </a:p>
          <a:p xmlns:a="http://schemas.openxmlformats.org/drawingml/2006/main">
            <a:r>
              <a:t>taxonomy/taxonomy.json: actual natural_sciences / physical_sciences / optics subtree</a:t>
            </a:r>
          </a:p>
          <a:p xmlns:a="http://schemas.openxmlformats.org/drawingml/2006/main">
            <a:r>
              <a:t>Blue nodes are illustrative labels, not predictions from an executed example.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0:17–0:42</a:t>
            </a:r>
          </a:p>
          <a:p xmlns:a="http://schemas.openxmlformats.org/drawingml/2006/main">
            <a:r>
              <a:t/>
            </a:r>
          </a:p>
          <a:p xmlns:a="http://schemas.openxmlformats.org/drawingml/2006/main">
            <a:r>
              <a:t>We cleaned CORDIS Horizon 2020 objectives and mapped EuroSciVoc assignments. Filtering labels with at least fifty source projects retained 31,407 projects and 473 labels. We grouped duplicates before splitting seventy-fifteen-fifteen. Translated Turkish and synthetic variants retain the same project splits.</a:t>
            </a:r>
          </a:p>
          <a:p xmlns:a="http://schemas.openxmlformats.org/drawingml/2006/main">
            <a:r>
              <a:t/>
            </a:r>
          </a:p>
          <a:p xmlns:a="http://schemas.openxmlformats.org/drawingml/2006/main">
            <a:r>
              <a:t>Sources for preparation, not spoken:</a:t>
            </a:r>
          </a:p>
          <a:p xmlns:a="http://schemas.openxmlformats.org/drawingml/2006/main">
            <a:r>
              <a:t>docs/dataset.md: source, cleaning, label support and grouped splits</a:t>
            </a:r>
          </a:p>
          <a:p xmlns:a="http://schemas.openxmlformats.org/drawingml/2006/main">
            <a:r>
              <a:t>Label support uses the full archive, including projects later assigned to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0:42–1:05</a:t>
            </a:r>
          </a:p>
          <a:p xmlns:a="http://schemas.openxmlformats.org/drawingml/2006/main">
            <a:r>
              <a:t/>
            </a:r>
          </a:p>
          <a:p xmlns:a="http://schemas.openxmlformats.org/drawingml/2006/main">
            <a:r>
              <a:t>We compared TF-IDF baselines, hybrid retrieval, BiLSTM and XLM-R, plus voting ensembles. Models train on English and Turkish. Val-A tunes member thresholds, and val-B tunes ensembles before testing. We use micro-F1, hierarchical F1 and paired bootstrap comparisons with Holm correction.</a:t>
            </a:r>
          </a:p>
          <a:p xmlns:a="http://schemas.openxmlformats.org/drawingml/2006/main">
            <a:r>
              <a:t/>
            </a:r>
          </a:p>
          <a:p xmlns:a="http://schemas.openxmlformats.org/drawingml/2006/main">
            <a:r>
              <a:t>Sources for preparation, not spoken:</a:t>
            </a:r>
          </a:p>
          <a:p xmlns:a="http://schemas.openxmlformats.org/drawingml/2006/main">
            <a:r>
              <a:t>docs/evaluation.md: models, validation partitions, metrics and 10,000 paired resamples</a:t>
            </a:r>
          </a:p>
          <a:p xmlns:a="http://schemas.openxmlformats.org/drawingml/2006/main">
            <a:r>
              <a:t>Hyperparameters and neural checkpoints previously used full validation, a documented reuse limitation.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1:05–1:30</a:t>
            </a:r>
          </a:p>
          <a:p xmlns:a="http://schemas.openxmlformats.org/drawingml/2006/main">
            <a:r>
              <a:t/>
            </a:r>
          </a:p>
          <a:p xmlns:a="http://schemas.openxmlformats.org/drawingml/2006/main">
            <a:r>
              <a:t>SVM reaches 0.558 English and 0.489 Turkish micro-F1. Weighted soft voting scores lower, so ensembles do not beat SVM. Neural results reflect a limited training budget. SVM takes two milliseconds per text on CPU and handles roughly 740 texts per second in batches.</a:t>
            </a:r>
          </a:p>
          <a:p xmlns:a="http://schemas.openxmlformats.org/drawingml/2006/main">
            <a:r>
              <a:t/>
            </a:r>
          </a:p>
          <a:p xmlns:a="http://schemas.openxmlformats.org/drawingml/2006/main">
            <a:r>
              <a:t>Sources for preparation, not spoken:</a:t>
            </a:r>
          </a:p>
          <a:p xmlns:a="http://schemas.openxmlformats.org/drawingml/2006/main">
            <a:r>
              <a:t>results/metrics/cordis_v1.1.0_ensemble/summary.json: full EN/TR metrics</a:t>
            </a:r>
          </a:p>
          <a:p xmlns:a="http://schemas.openxmlformats.org/drawingml/2006/main">
            <a:r>
              <a:t>results/benchmarks/cordis_v1.1.0/benchmark_summary.json: matching SVM artifacts and CPU timings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1:30–1:50</a:t>
            </a:r>
          </a:p>
          <a:p xmlns:a="http://schemas.openxmlformats.org/drawingml/2006/main">
            <a:r>
              <a:t/>
            </a:r>
          </a:p>
          <a:p xmlns:a="http://schemas.openxmlformats.org/drawingml/2006/main">
            <a:r>
              <a:t>Hybrid kNN loses less F1 under shifts, while SVM keeps higher accuracy. Separately retrained SVM reaches 0.927 English AUROC for humanities OOD detection. Silver labels and one training seed limit conclusions. Next: verify artifacts, repeat seeds and use independent selection data.</a:t>
            </a:r>
          </a:p>
          <a:p xmlns:a="http://schemas.openxmlformats.org/drawingml/2006/main">
            <a:r>
              <a:t/>
            </a:r>
          </a:p>
          <a:p xmlns:a="http://schemas.openxmlformats.org/drawingml/2006/main">
            <a:r>
              <a:t>Sources for preparation, not spoken:</a:t>
            </a:r>
          </a:p>
          <a:p xmlns:a="http://schemas.openxmlformats.org/drawingml/2006/main">
            <a:r>
              <a:t>results/metrics/cordis_v1.1.0_ensemble/summary.json: robustness comparisons</a:t>
            </a:r>
          </a:p>
          <a:p xmlns:a="http://schemas.openxmlformats.org/drawingml/2006/main">
            <a:r>
              <a:t>results/ood/cordis_v1.1.0/summary.json: humanities holdout, 4,351 ID and 94 OOD projects per language</a:t>
            </a:r>
          </a:p>
          <a:p xmlns:a="http://schemas.openxmlformats.org/drawingml/2006/main">
            <a:r>
              <a:t>docs/results.md and docs/reproducibility.md: limitations and pending original artifact verification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79a85b1e3a5489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986a5722829408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1d08450a22e478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70684c7b24b400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e32f988fba3466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bb6ff5971a74b5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47421E-8744-4746-920B-1BEDDE74002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1F898DF-8FA9-4E32-A708-923E51D7F42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3195880-24DA-4ED7-8E73-1B71EB09443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1FDB467-71C7-45BD-B8D4-CF7CB51479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AEEC481-658D-4DFD-9834-08D155289D5A}"/>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9B9C459-3033-47C8-ADAB-7C257FCB128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E79E728-60E9-489E-B427-19DBC6D5283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F59EA74-8D53-4880-B699-1C069F859B5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F822803-505B-46DB-B566-B789FECFF57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5502142-BFBF-4967-B319-F2C2548642B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8bd167fa8a44cdb" /><Relationship Type="http://schemas.openxmlformats.org/officeDocument/2006/relationships/slideLayout" Target="/ppt/slideLayouts/slideLayout1.xml" Id="R706ddfa12d8b4246" /><Relationship Type="http://schemas.openxmlformats.org/officeDocument/2006/relationships/slideLayout" Target="/ppt/slideLayouts/slideLayout2.xml" Id="R57b003f3ea7241da" /><Relationship Type="http://schemas.openxmlformats.org/officeDocument/2006/relationships/slideLayout" Target="/ppt/slideLayouts/slideLayout3.xml" Id="R28b7fafe6de541c1" /><Relationship Type="http://schemas.openxmlformats.org/officeDocument/2006/relationships/slideLayout" Target="/ppt/slideLayouts/slideLayout4.xml" Id="R73e50c31a33c4d24" /><Relationship Type="http://schemas.openxmlformats.org/officeDocument/2006/relationships/slideLayout" Target="/ppt/slideLayouts/slideLayout5.xml" Id="R72759da159ca41b6" /><Relationship Type="http://schemas.openxmlformats.org/officeDocument/2006/relationships/slideLayout" Target="/ppt/slideLayouts/slideLayout6.xml" Id="R9631b7f9c9a7468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6ddfa12d8b4246"/>
    <p:sldLayoutId xmlns:r="http://schemas.openxmlformats.org/officeDocument/2006/relationships" id="2147483650" r:id="R57b003f3ea7241da"/>
    <p:sldLayoutId xmlns:r="http://schemas.openxmlformats.org/officeDocument/2006/relationships" id="2147483651" r:id="R28b7fafe6de541c1"/>
    <p:sldLayoutId xmlns:r="http://schemas.openxmlformats.org/officeDocument/2006/relationships" id="2147483652" r:id="R73e50c31a33c4d24"/>
    <p:sldLayoutId xmlns:r="http://schemas.openxmlformats.org/officeDocument/2006/relationships" id="2147483653" r:id="R72759da159ca41b6"/>
    <p:sldLayoutId xmlns:r="http://schemas.openxmlformats.org/officeDocument/2006/relationships" id="2147483654" r:id="R9631b7f9c9a7468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5389c3745b5411d" /><Relationship Type="http://schemas.openxmlformats.org/officeDocument/2006/relationships/notesSlide" Target="/ppt/notesSlides/notesSlide1.xml" Id="R6d1f7c969fba442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5d18e0fbec94cac" /><Relationship Type="http://schemas.openxmlformats.org/officeDocument/2006/relationships/notesSlide" Target="/ppt/notesSlides/notesSlide2.xml" Id="R99d34c8e9f554d7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ffabaadc78404017" /><Relationship Type="http://schemas.openxmlformats.org/officeDocument/2006/relationships/notesSlide" Target="/ppt/notesSlides/notesSlide3.xml" Id="R794349bd7ac24363"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da6377c01f945b1" /><Relationship Type="http://schemas.openxmlformats.org/officeDocument/2006/relationships/chart" Target="/ppt/slides/charts/chart1.xml" Id="R6564bc74c1f04e61" /><Relationship Type="http://schemas.openxmlformats.org/officeDocument/2006/relationships/notesSlide" Target="/ppt/notesSlides/notesSlide4.xml" Id="R8fac867bc12e4c9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cfbd8000b27443e" /><Relationship Type="http://schemas.openxmlformats.org/officeDocument/2006/relationships/chart" Target="/ppt/slides/charts/chart2.xml" Id="Ra10ce9355f184d97" /><Relationship Type="http://schemas.openxmlformats.org/officeDocument/2006/relationships/notesSlide" Target="/ppt/notesSlides/notesSlide5.xml" Id="R0cba6df47b224880"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English</c:v>
          </c:tx>
          <c:spPr>
            <a:solidFill xmlns:a="http://schemas.openxmlformats.org/drawingml/2006/main">
              <a:srgbClr val="2878B5"/>
            </a:solidFill>
          </c:spPr>
          <c:cat>
            <c:strRef>
              <c:f>'Chart Data'!$A$2:$A$7</c:f>
              <c:strCache>
                <c:ptCount val="6"/>
                <c:pt idx="0">
                  <c:v>XLM-R</c:v>
                </c:pt>
                <c:pt idx="1">
                  <c:v>Naive Bayes</c:v>
                </c:pt>
                <c:pt idx="2">
                  <c:v>BiLSTM</c:v>
                </c:pt>
                <c:pt idx="3">
                  <c:v>Hybrid kNN</c:v>
                </c:pt>
                <c:pt idx="4">
                  <c:v>Weighted soft</c:v>
                </c:pt>
                <c:pt idx="5">
                  <c:v>SVM</c:v>
                </c:pt>
              </c:strCache>
            </c:strRef>
          </c:cat>
          <c:val>
            <c:numRef>
              <c:f>'Chart Data'!$B$2:$B$7</c:f>
              <c:numCache>
                <c:formatCode>0.000</c:formatCode>
                <c:ptCount val="6"/>
                <c:pt idx="0">
                  <c:v>0.247645</c:v>
                </c:pt>
                <c:pt idx="1">
                  <c:v>0.277664</c:v>
                </c:pt>
                <c:pt idx="2">
                  <c:v>0.289056</c:v>
                </c:pt>
                <c:pt idx="3">
                  <c:v>0.392936</c:v>
                </c:pt>
                <c:pt idx="4">
                  <c:v>0.522841</c:v>
                </c:pt>
                <c:pt idx="5">
                  <c:v>0.558367</c:v>
                </c:pt>
              </c:numCache>
            </c:numRef>
          </c:val>
        </c:ser>
        <c:ser>
          <c:idx val="1"/>
          <c:order val="1"/>
          <c:tx>
            <c:v>Turkish</c:v>
          </c:tx>
          <c:spPr>
            <a:solidFill xmlns:a="http://schemas.openxmlformats.org/drawingml/2006/main">
              <a:srgbClr val="D47722"/>
            </a:solidFill>
          </c:spPr>
          <c:cat>
            <c:strRef>
              <c:f>'Chart Data'!$C$2:$C$7</c:f>
              <c:strCache>
                <c:ptCount val="6"/>
                <c:pt idx="0">
                  <c:v>XLM-R</c:v>
                </c:pt>
                <c:pt idx="1">
                  <c:v>Naive Bayes</c:v>
                </c:pt>
                <c:pt idx="2">
                  <c:v>BiLSTM</c:v>
                </c:pt>
                <c:pt idx="3">
                  <c:v>Hybrid kNN</c:v>
                </c:pt>
                <c:pt idx="4">
                  <c:v>Weighted soft</c:v>
                </c:pt>
                <c:pt idx="5">
                  <c:v>SVM</c:v>
                </c:pt>
              </c:strCache>
            </c:strRef>
          </c:cat>
          <c:val>
            <c:numRef>
              <c:f>'Chart Data'!$D$2:$D$7</c:f>
              <c:numCache>
                <c:formatCode>0.000</c:formatCode>
                <c:ptCount val="6"/>
                <c:pt idx="0">
                  <c:v>0.239759</c:v>
                </c:pt>
                <c:pt idx="1">
                  <c:v>0.275253</c:v>
                </c:pt>
                <c:pt idx="2">
                  <c:v>0.270771</c:v>
                </c:pt>
                <c:pt idx="3">
                  <c:v>0.381721</c:v>
                </c:pt>
                <c:pt idx="4">
                  <c:v>0.472292</c:v>
                </c:pt>
                <c:pt idx="5">
                  <c:v>0.488603</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500">
                  <a:solidFill>
                    <a:srgbClr val="12283D"/>
                  </a:solidFill>
                  <a:latin typeface="Arial"/>
                  <a:ea typeface="Arial"/>
                  <a:cs typeface="Arial"/>
                </a:defRPr>
              </a:pPr>
            </a:p>
          </c:txPr>
          <c:dLblPos val="outEnd"/>
          <c:showLegendKey val="0"/>
          <c:showVal val="1"/>
          <c:showCatName val="0"/>
          <c:showSerName val="0"/>
          <c:showPercent val="0"/>
          <c:showBubbleSize val="0"/>
          <c:showLeaderLines val="0"/>
        </c:dLbls>
        <c:gapWidth val="65"/>
        <c:overlap val="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12283D"/>
                </a:solidFill>
                <a:latin typeface="Arial"/>
                <a:ea typeface="Arial"/>
                <a:cs typeface="Arial"/>
              </a:defRPr>
            </a:pPr>
          </a:p>
        </c:txPr>
        <c:crossAx val="48672768"/>
      </c:catAx>
      <c:valAx>
        <c:axId val="48672768"/>
        <c:scaling>
          <c:orientation val="minMax"/>
          <c:max val="1"/>
          <c:min val="0"/>
        </c:scaling>
        <c:delete val="0"/>
        <c:axPos val="b"/>
        <c:majorGridlines>
          <c:spPr>
            <a:ln xmlns:a="http://schemas.openxmlformats.org/drawingml/2006/main" w="9525">
              <a:solidFill>
                <a:srgbClr val="DDE5EB"/>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16170"/>
                </a:solidFill>
                <a:latin typeface="Arial"/>
                <a:ea typeface="Arial"/>
                <a:cs typeface="Arial"/>
              </a:defRPr>
            </a:pPr>
          </a:p>
        </c:txPr>
        <c:crossAx val="48650112"/>
        <c:crossBetween val="between"/>
        <c:majorUnit val="0.2"/>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2283D"/>
              </a:solidFill>
              <a:latin typeface="Arial"/>
              <a:ea typeface="Arial"/>
              <a:cs typeface="Arial"/>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SVM</c:v>
          </c:tx>
          <c:spPr>
            <a:solidFill xmlns:a="http://schemas.openxmlformats.org/drawingml/2006/main">
              <a:srgbClr val="2878B5"/>
            </a:solidFill>
          </c:spPr>
          <c:cat>
            <c:strRef>
              <c:f>'Chart Data'!$A$2:$A$3</c:f>
              <c:strCache>
                <c:ptCount val="2"/>
                <c:pt idx="0">
                  <c:v>Turkish</c:v>
                </c:pt>
                <c:pt idx="1">
                  <c:v>Noisy English</c:v>
                </c:pt>
              </c:strCache>
            </c:strRef>
          </c:cat>
          <c:val>
            <c:numRef>
              <c:f>'Chart Data'!$B$2:$B$3</c:f>
              <c:numCache>
                <c:formatCode>0.000</c:formatCode>
                <c:ptCount val="2"/>
                <c:pt idx="0">
                  <c:v>0.069764</c:v>
                </c:pt>
                <c:pt idx="1">
                  <c:v>0.078269</c:v>
                </c:pt>
              </c:numCache>
            </c:numRef>
          </c:val>
        </c:ser>
        <c:ser>
          <c:idx val="1"/>
          <c:order val="1"/>
          <c:tx>
            <c:v>Hybrid kNN</c:v>
          </c:tx>
          <c:spPr>
            <a:solidFill xmlns:a="http://schemas.openxmlformats.org/drawingml/2006/main">
              <a:srgbClr val="D47722"/>
            </a:solidFill>
          </c:spPr>
          <c:cat>
            <c:strRef>
              <c:f>'Chart Data'!$C$2:$C$3</c:f>
              <c:strCache>
                <c:ptCount val="2"/>
                <c:pt idx="0">
                  <c:v>Turkish</c:v>
                </c:pt>
                <c:pt idx="1">
                  <c:v>Noisy English</c:v>
                </c:pt>
              </c:strCache>
            </c:strRef>
          </c:cat>
          <c:val>
            <c:numRef>
              <c:f>'Chart Data'!$D$2:$D$3</c:f>
              <c:numCache>
                <c:formatCode>0.000</c:formatCode>
                <c:ptCount val="2"/>
                <c:pt idx="0">
                  <c:v>0.011215</c:v>
                </c:pt>
                <c:pt idx="1">
                  <c:v>0.018914</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800">
                  <a:solidFill>
                    <a:srgbClr val="12283D"/>
                  </a:solidFill>
                  <a:latin typeface="Arial"/>
                  <a:ea typeface="Arial"/>
                  <a:cs typeface="Arial"/>
                </a:defRPr>
              </a:pPr>
            </a:p>
          </c:txPr>
          <c:dLblPos val="outEnd"/>
          <c:showLegendKey val="0"/>
          <c:showVal val="1"/>
          <c:showCatName val="0"/>
          <c:showSerName val="0"/>
          <c:showPercent val="0"/>
          <c:showBubbleSize val="0"/>
          <c:showLeaderLines val="0"/>
        </c:dLbls>
        <c:gapWidth val="110"/>
        <c:overlap val="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DE5EB"/>
            </a:solidFill>
          </a:ln>
        </c:spPr>
        <c:txPr>
          <a:bodyPr xmlns:a="http://schemas.openxmlformats.org/drawingml/2006/main" anchorCtr="1"/>
          <a:lstStyle xmlns:a="http://schemas.openxmlformats.org/drawingml/2006/main"/>
          <a:p xmlns:a="http://schemas.openxmlformats.org/drawingml/2006/main">
            <a:pPr>
              <a:defRPr sz="1800">
                <a:solidFill>
                  <a:srgbClr val="12283D"/>
                </a:solidFill>
                <a:latin typeface="Arial"/>
                <a:ea typeface="Arial"/>
                <a:cs typeface="Arial"/>
              </a:defRPr>
            </a:pPr>
          </a:p>
        </c:txPr>
        <c:crossAx val="48672768"/>
      </c:catAx>
      <c:valAx>
        <c:axId val="48672768"/>
        <c:scaling>
          <c:orientation val="minMax"/>
          <c:max val="0.1"/>
          <c:min val="0"/>
        </c:scaling>
        <c:delete val="0"/>
        <c:axPos val="l"/>
        <c:majorGridlines>
          <c:spPr>
            <a:ln xmlns:a="http://schemas.openxmlformats.org/drawingml/2006/main" w="9525">
              <a:solidFill>
                <a:srgbClr val="DDE5EB"/>
              </a:solidFill>
              <a:prstDash val="solid"/>
            </a:ln>
          </c:spPr>
        </c:majorGridlines>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425">
                <a:solidFill>
                  <a:srgbClr val="516170"/>
                </a:solidFill>
                <a:latin typeface="Arial"/>
                <a:ea typeface="Arial"/>
                <a:cs typeface="Arial"/>
              </a:defRPr>
            </a:pPr>
          </a:p>
        </c:txPr>
        <c:crossAx val="48650112"/>
        <c:crossBetween val="between"/>
        <c:majorUnit val="0.025"/>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725">
              <a:solidFill>
                <a:srgbClr val="12283D"/>
              </a:solidFill>
              <a:latin typeface="Arial"/>
              <a:ea typeface="Arial"/>
              <a:cs typeface="Arial"/>
            </a:defRPr>
          </a:pPr>
        </a:p>
      </c:txPr>
    </c:legend>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2283D"/>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0DB95490-2DB6-4A31-965B-F15AC0E22669}"/>
              </a:ext>
            </a:extLst>
          </p:cNvPr>
          <p:cNvCxnSpPr>
            <a:stCxn xmlns:a="http://schemas.openxmlformats.org/drawingml/2006/main" id="12" idx="2"/>
            <a:endCxn xmlns:a="http://schemas.openxmlformats.org/drawingml/2006/main" id="14" idx="0"/>
          </p:cNvCxnSpPr>
          <p:nvPr/>
        </p:nvCxnSpPr>
        <p:spPr>
          <a:xfrm xmlns:a="http://schemas.openxmlformats.org/drawingml/2006/main">
            <a:off x="9429750" y="4514850"/>
            <a:ext cx="1152525" cy="495300"/>
          </a:xfrm>
          <a:prstGeom xmlns:a="http://schemas.openxmlformats.org/drawingml/2006/main" prst="bentConnector4">
            <a:avLst>
              <a:gd name="adj1" fmla="val 0"/>
              <a:gd name="adj2" fmla="val 50000"/>
            </a:avLst>
          </a:prstGeom>
          <a:ln xmlns:a="http://schemas.openxmlformats.org/drawingml/2006/main" w="19050">
            <a:solidFill>
              <a:srgbClr val="BED3E5"/>
            </a:solidFill>
            <a:prstDash val="solid"/>
            <a:headEnd type="none" w="med" len="med"/>
            <a:tailEnd type="none" w="med" len="med"/>
          </a:ln>
        </p:spPr>
      </p:cxnSp>
      <p:cxnSp>
        <p:nvCxnSpPr>
          <p:cNvPr id="17" name="">
            <a:extLst xmlns:a="http://schemas.openxmlformats.org/drawingml/2006/main">
              <a:ext uri="{FF2B5EF4-FFF2-40B4-BE49-F238E27FC236}">
                <a16:creationId xmlns:a16="http://schemas.microsoft.com/office/drawing/2014/main" id="{E7DC16FD-7F3B-46ED-AE91-527B7731F96B}"/>
              </a:ext>
            </a:extLst>
          </p:cNvPr>
          <p:cNvCxnSpPr>
            <a:stCxn xmlns:a="http://schemas.openxmlformats.org/drawingml/2006/main" id="12" idx="2"/>
            <a:endCxn xmlns:a="http://schemas.openxmlformats.org/drawingml/2006/main" id="13" idx="0"/>
          </p:cNvCxnSpPr>
          <p:nvPr/>
        </p:nvCxnSpPr>
        <p:spPr>
          <a:xfrm xmlns:a="http://schemas.openxmlformats.org/drawingml/2006/main" flipH="1">
            <a:off x="8258175" y="4514850"/>
            <a:ext cx="1171575" cy="495300"/>
          </a:xfrm>
          <a:prstGeom xmlns:a="http://schemas.openxmlformats.org/drawingml/2006/main" prst="bentConnector4">
            <a:avLst>
              <a:gd name="adj1" fmla="val 0"/>
              <a:gd name="adj2" fmla="val 50000"/>
            </a:avLst>
          </a:prstGeom>
          <a:ln xmlns:a="http://schemas.openxmlformats.org/drawingml/2006/main" w="19050">
            <a:solidFill>
              <a:srgbClr val="BED3E5"/>
            </a:solidFill>
            <a:prstDash val="solid"/>
            <a:headEnd type="none" w="med" len="med"/>
            <a:tailEnd type="none" w="med" len="med"/>
          </a:ln>
        </p:spPr>
      </p:cxnSp>
      <p:cxnSp>
        <p:nvCxnSpPr>
          <p:cNvPr id="16" name="">
            <a:extLst xmlns:a="http://schemas.openxmlformats.org/drawingml/2006/main">
              <a:ext uri="{FF2B5EF4-FFF2-40B4-BE49-F238E27FC236}">
                <a16:creationId xmlns:a16="http://schemas.microsoft.com/office/drawing/2014/main" id="{AD1553D8-4104-465C-AFB5-1FE7CF56739A}"/>
              </a:ext>
            </a:extLst>
          </p:cNvPr>
          <p:cNvCxnSpPr>
            <a:stCxn xmlns:a="http://schemas.openxmlformats.org/drawingml/2006/main" id="11" idx="2"/>
            <a:endCxn xmlns:a="http://schemas.openxmlformats.org/drawingml/2006/main" id="12" idx="0"/>
          </p:cNvCxnSpPr>
          <p:nvPr/>
        </p:nvCxnSpPr>
        <p:spPr>
          <a:xfrm xmlns:a="http://schemas.openxmlformats.org/drawingml/2006/main">
            <a:off x="9429750" y="3562350"/>
            <a:ext cx="0" cy="438150"/>
          </a:xfrm>
          <a:prstGeom xmlns:a="http://schemas.openxmlformats.org/drawingml/2006/main" prst="straightConnector1">
            <a:avLst/>
          </a:prstGeom>
          <a:ln xmlns:a="http://schemas.openxmlformats.org/drawingml/2006/main" w="19050">
            <a:solidFill>
              <a:srgbClr val="BED3E5"/>
            </a:solidFill>
            <a:prstDash val="solid"/>
            <a:headEnd type="none" w="med" len="med"/>
            <a:tailEnd type="none" w="med" len="med"/>
          </a:ln>
        </p:spPr>
      </p:cxnSp>
      <p:cxnSp>
        <p:nvCxnSpPr>
          <p:cNvPr id="15" name="">
            <a:extLst xmlns:a="http://schemas.openxmlformats.org/drawingml/2006/main">
              <a:ext uri="{FF2B5EF4-FFF2-40B4-BE49-F238E27FC236}">
                <a16:creationId xmlns:a16="http://schemas.microsoft.com/office/drawing/2014/main" id="{A0018E89-5D94-40ED-82CD-07BA3464D165}"/>
              </a:ext>
            </a:extLst>
          </p:cNvPr>
          <p:cNvCxnSpPr>
            <a:stCxn xmlns:a="http://schemas.openxmlformats.org/drawingml/2006/main" id="10" idx="2"/>
            <a:endCxn xmlns:a="http://schemas.openxmlformats.org/drawingml/2006/main" id="11" idx="0"/>
          </p:cNvCxnSpPr>
          <p:nvPr/>
        </p:nvCxnSpPr>
        <p:spPr>
          <a:xfrm xmlns:a="http://schemas.openxmlformats.org/drawingml/2006/main">
            <a:off x="9429750" y="2609850"/>
            <a:ext cx="0" cy="438150"/>
          </a:xfrm>
          <a:prstGeom xmlns:a="http://schemas.openxmlformats.org/drawingml/2006/main" prst="straightConnector1">
            <a:avLst/>
          </a:prstGeom>
          <a:ln xmlns:a="http://schemas.openxmlformats.org/drawingml/2006/main" w="19050">
            <a:solidFill>
              <a:srgbClr val="BED3E5"/>
            </a:solidFill>
            <a:prstDash val="solid"/>
            <a:headEnd type="none" w="med" len="med"/>
            <a:tailEnd type="none" w="med" len="med"/>
          </a:ln>
        </p:spPr>
      </p:cxnSp>
      <p:sp>
        <p:nvSpPr>
          <p:cNvPr id="21" name="">
            <a:extLst xmlns:a="http://schemas.openxmlformats.org/drawingml/2006/main">
              <a:ext uri="{FF2B5EF4-FFF2-40B4-BE49-F238E27FC236}">
                <a16:creationId xmlns:a16="http://schemas.microsoft.com/office/drawing/2014/main" id="{FFDD2144-45BE-4BF2-B6FB-79B6BBE526A6}"/>
              </a:ext>
            </a:extLst>
          </p:cNvPr>
          <p:cNvSpPr>
            <a:spLocks xmlns:a="http://schemas.openxmlformats.org/drawingml/2006/main" noGrp="1"/>
          </p:cNvSpPr>
          <p:nvPr/>
        </p:nvSpPr>
        <p:spPr>
          <a:xfrm xmlns:a="http://schemas.openxmlformats.org/drawingml/2006/main">
            <a:off x="609600" y="619125"/>
            <a:ext cx="6286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525" b="1">
                <a:solidFill>
                  <a:srgbClr val="FFFFFF"/>
                </a:solidFill>
                <a:latin typeface="Arial"/>
                <a:ea typeface="Arial"/>
                <a:cs typeface="Arial"/>
              </a:defRPr>
            </a:defPPr>
          </a:lstStyle>
          <a:p xmlns:a="http://schemas.openxmlformats.org/drawingml/2006/main">
            <a:pPr>
              <a:defRPr sz="3525" b="1">
                <a:solidFill>
                  <a:srgbClr val="FFFFFF"/>
                </a:solidFill>
                <a:latin typeface="Arial"/>
                <a:ea typeface="Arial"/>
                <a:cs typeface="Arial"/>
              </a:defRPr>
            </a:pPr>
            <a:r>
              <a:rPr sz="3525" b="1">
                <a:solidFill>
                  <a:srgbClr val="FFFFFF"/>
                </a:solidFill>
                <a:latin typeface="Arial"/>
                <a:ea typeface="Arial"/>
                <a:cs typeface="Arial"/>
              </a:rPr>
              <a:t>NALTRA is a multilingual</a:t>
            </a:r>
          </a:p>
          <a:p xmlns:a="http://schemas.openxmlformats.org/drawingml/2006/main">
            <a:pPr>
              <a:defRPr sz="3525" b="1">
                <a:solidFill>
                  <a:srgbClr val="FFFFFF"/>
                </a:solidFill>
                <a:latin typeface="Arial"/>
                <a:ea typeface="Arial"/>
                <a:cs typeface="Arial"/>
              </a:defRPr>
            </a:pPr>
            <a:r>
              <a:rPr sz="3525" b="1">
                <a:solidFill>
                  <a:srgbClr val="FFFFFF"/>
                </a:solidFill>
                <a:latin typeface="Arial"/>
                <a:ea typeface="Arial"/>
                <a:cs typeface="Arial"/>
              </a:rPr>
              <a:t>research-text classifier</a:t>
            </a:r>
          </a:p>
        </p:txBody>
      </p:sp>
      <p:sp>
        <p:nvSpPr>
          <p:cNvPr id="2" name="">
            <a:extLst xmlns:a="http://schemas.openxmlformats.org/drawingml/2006/main">
              <a:ext uri="{FF2B5EF4-FFF2-40B4-BE49-F238E27FC236}">
                <a16:creationId xmlns:a16="http://schemas.microsoft.com/office/drawing/2014/main" id="{84E95973-F6D0-4937-8212-BAF64DCD82E4}"/>
              </a:ext>
            </a:extLst>
          </p:cNvPr>
          <p:cNvSpPr>
            <a:spLocks xmlns:a="http://schemas.openxmlformats.org/drawingml/2006/main" noGrp="1"/>
          </p:cNvSpPr>
          <p:nvPr/>
        </p:nvSpPr>
        <p:spPr>
          <a:xfrm xmlns:a="http://schemas.openxmlformats.org/drawingml/2006/main">
            <a:off x="609600" y="2266950"/>
            <a:ext cx="6019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ED3E5"/>
                </a:solidFill>
                <a:latin typeface="Arial"/>
                <a:ea typeface="Arial"/>
                <a:cs typeface="Arial"/>
              </a:defRPr>
            </a:defPPr>
          </a:lstStyle>
          <a:p xmlns:a="http://schemas.openxmlformats.org/drawingml/2006/main">
            <a:pPr>
              <a:defRPr sz="2025" b="0">
                <a:solidFill>
                  <a:srgbClr val="BED3E5"/>
                </a:solidFill>
                <a:latin typeface="Arial"/>
                <a:ea typeface="Arial"/>
                <a:cs typeface="Arial"/>
              </a:defRPr>
            </a:pPr>
            <a:r>
              <a:rPr sz="2025" b="0">
                <a:solidFill>
                  <a:srgbClr val="BED3E5"/>
                </a:solidFill>
                <a:latin typeface="Arial"/>
                <a:ea typeface="Arial"/>
                <a:cs typeface="Arial"/>
              </a:rPr>
              <a:t>It maps project objectives to scientific fields</a:t>
            </a:r>
          </a:p>
          <a:p xmlns:a="http://schemas.openxmlformats.org/drawingml/2006/main">
            <a:pPr>
              <a:defRPr sz="2025" b="0">
                <a:solidFill>
                  <a:srgbClr val="BED3E5"/>
                </a:solidFill>
                <a:latin typeface="Arial"/>
                <a:ea typeface="Arial"/>
                <a:cs typeface="Arial"/>
              </a:defRPr>
            </a:pPr>
            <a:r>
              <a:rPr sz="2025" b="0">
                <a:solidFill>
                  <a:srgbClr val="BED3E5"/>
                </a:solidFill>
                <a:latin typeface="Arial"/>
                <a:ea typeface="Arial"/>
                <a:cs typeface="Arial"/>
              </a:rPr>
              <a:t>and their taxonomy ancestors.</a:t>
            </a:r>
          </a:p>
        </p:txBody>
      </p:sp>
      <p:sp>
        <p:nvSpPr>
          <p:cNvPr id="3" name="">
            <a:extLst xmlns:a="http://schemas.openxmlformats.org/drawingml/2006/main">
              <a:ext uri="{FF2B5EF4-FFF2-40B4-BE49-F238E27FC236}">
                <a16:creationId xmlns:a16="http://schemas.microsoft.com/office/drawing/2014/main" id="{DEDE0B69-2CF7-4CE4-B7FA-704136EF5514}"/>
              </a:ext>
            </a:extLst>
          </p:cNvPr>
          <p:cNvSpPr>
            <a:spLocks xmlns:a="http://schemas.openxmlformats.org/drawingml/2006/main" noGrp="1"/>
          </p:cNvSpPr>
          <p:nvPr/>
        </p:nvSpPr>
        <p:spPr>
          <a:xfrm xmlns:a="http://schemas.openxmlformats.org/drawingml/2006/main">
            <a:off x="609600" y="3476625"/>
            <a:ext cx="5905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FFFFFF"/>
                </a:solidFill>
                <a:latin typeface="Arial"/>
                <a:ea typeface="Arial"/>
                <a:cs typeface="Arial"/>
              </a:defRPr>
            </a:defPPr>
          </a:lstStyle>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Taxonomy classification</a:t>
            </a:r>
          </a:p>
        </p:txBody>
      </p:sp>
      <p:sp>
        <p:nvSpPr>
          <p:cNvPr id="4" name="">
            <a:extLst xmlns:a="http://schemas.openxmlformats.org/drawingml/2006/main">
              <a:ext uri="{FF2B5EF4-FFF2-40B4-BE49-F238E27FC236}">
                <a16:creationId xmlns:a16="http://schemas.microsoft.com/office/drawing/2014/main" id="{2450515F-E137-4BEC-A4C3-0962BC74CA3B}"/>
              </a:ext>
            </a:extLst>
          </p:cNvPr>
          <p:cNvSpPr>
            <a:spLocks xmlns:a="http://schemas.openxmlformats.org/drawingml/2006/main" noGrp="1"/>
          </p:cNvSpPr>
          <p:nvPr/>
        </p:nvSpPr>
        <p:spPr>
          <a:xfrm xmlns:a="http://schemas.openxmlformats.org/drawingml/2006/main">
            <a:off x="609600" y="3876675"/>
            <a:ext cx="590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BED3E5"/>
                </a:solidFill>
                <a:latin typeface="Arial"/>
                <a:ea typeface="Arial"/>
                <a:cs typeface="Arial"/>
              </a:defRPr>
            </a:defPPr>
          </a:lstStyle>
          <a:p xmlns:a="http://schemas.openxmlformats.org/drawingml/2006/main">
            <a:pPr>
              <a:defRPr sz="1725" b="0">
                <a:solidFill>
                  <a:srgbClr val="BED3E5"/>
                </a:solidFill>
                <a:latin typeface="Arial"/>
                <a:ea typeface="Arial"/>
                <a:cs typeface="Arial"/>
              </a:defRPr>
            </a:pPr>
            <a:r>
              <a:rPr sz="1725" b="0">
                <a:solidFill>
                  <a:srgbClr val="BED3E5"/>
                </a:solidFill>
                <a:latin typeface="Arial"/>
                <a:ea typeface="Arial"/>
                <a:cs typeface="Arial"/>
              </a:rPr>
              <a:t>Multiple scientific labels per project</a:t>
            </a:r>
          </a:p>
        </p:txBody>
      </p:sp>
      <p:sp>
        <p:nvSpPr>
          <p:cNvPr id="5" name="">
            <a:extLst xmlns:a="http://schemas.openxmlformats.org/drawingml/2006/main">
              <a:ext uri="{FF2B5EF4-FFF2-40B4-BE49-F238E27FC236}">
                <a16:creationId xmlns:a16="http://schemas.microsoft.com/office/drawing/2014/main" id="{7EABDBAC-01B5-4D74-A37C-D1110D3A14AB}"/>
              </a:ext>
            </a:extLst>
          </p:cNvPr>
          <p:cNvSpPr>
            <a:spLocks xmlns:a="http://schemas.openxmlformats.org/drawingml/2006/main" noGrp="1"/>
          </p:cNvSpPr>
          <p:nvPr/>
        </p:nvSpPr>
        <p:spPr>
          <a:xfrm xmlns:a="http://schemas.openxmlformats.org/drawingml/2006/main">
            <a:off x="609600" y="4314825"/>
            <a:ext cx="5905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FFFFFF"/>
                </a:solidFill>
                <a:latin typeface="Arial"/>
                <a:ea typeface="Arial"/>
                <a:cs typeface="Arial"/>
              </a:defRPr>
            </a:defPPr>
          </a:lstStyle>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OOD detection</a:t>
            </a:r>
          </a:p>
        </p:txBody>
      </p:sp>
      <p:sp>
        <p:nvSpPr>
          <p:cNvPr id="6" name="">
            <a:extLst xmlns:a="http://schemas.openxmlformats.org/drawingml/2006/main">
              <a:ext uri="{FF2B5EF4-FFF2-40B4-BE49-F238E27FC236}">
                <a16:creationId xmlns:a16="http://schemas.microsoft.com/office/drawing/2014/main" id="{B09A0021-6F7F-406A-AB8C-FBE57910AA0B}"/>
              </a:ext>
            </a:extLst>
          </p:cNvPr>
          <p:cNvSpPr>
            <a:spLocks xmlns:a="http://schemas.openxmlformats.org/drawingml/2006/main" noGrp="1"/>
          </p:cNvSpPr>
          <p:nvPr/>
        </p:nvSpPr>
        <p:spPr>
          <a:xfrm xmlns:a="http://schemas.openxmlformats.org/drawingml/2006/main">
            <a:off x="609600" y="4714875"/>
            <a:ext cx="590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BED3E5"/>
                </a:solidFill>
                <a:latin typeface="Arial"/>
                <a:ea typeface="Arial"/>
                <a:cs typeface="Arial"/>
              </a:defRPr>
            </a:defPPr>
          </a:lstStyle>
          <a:p xmlns:a="http://schemas.openxmlformats.org/drawingml/2006/main">
            <a:pPr>
              <a:defRPr sz="1725" b="0">
                <a:solidFill>
                  <a:srgbClr val="BED3E5"/>
                </a:solidFill>
                <a:latin typeface="Arial"/>
                <a:ea typeface="Arial"/>
                <a:cs typeface="Arial"/>
              </a:defRPr>
            </a:pPr>
            <a:r>
              <a:rPr sz="1725" b="0">
                <a:solidFill>
                  <a:srgbClr val="BED3E5"/>
                </a:solidFill>
                <a:latin typeface="Arial"/>
                <a:ea typeface="Arial"/>
                <a:cs typeface="Arial"/>
              </a:rPr>
              <a:t>Confidence scoring and a held-out-domain test</a:t>
            </a:r>
          </a:p>
        </p:txBody>
      </p:sp>
      <p:sp>
        <p:nvSpPr>
          <p:cNvPr id="7" name="">
            <a:extLst xmlns:a="http://schemas.openxmlformats.org/drawingml/2006/main">
              <a:ext uri="{FF2B5EF4-FFF2-40B4-BE49-F238E27FC236}">
                <a16:creationId xmlns:a16="http://schemas.microsoft.com/office/drawing/2014/main" id="{1813510A-5B77-4AF0-A1D3-E85AC8505209}"/>
              </a:ext>
            </a:extLst>
          </p:cNvPr>
          <p:cNvSpPr>
            <a:spLocks xmlns:a="http://schemas.openxmlformats.org/drawingml/2006/main" noGrp="1"/>
          </p:cNvSpPr>
          <p:nvPr/>
        </p:nvSpPr>
        <p:spPr>
          <a:xfrm xmlns:a="http://schemas.openxmlformats.org/drawingml/2006/main">
            <a:off x="609600" y="5153025"/>
            <a:ext cx="5905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FFFFFF"/>
                </a:solidFill>
                <a:latin typeface="Arial"/>
                <a:ea typeface="Arial"/>
                <a:cs typeface="Arial"/>
              </a:defRPr>
            </a:defPPr>
          </a:lstStyle>
          <a:p xmlns:a="http://schemas.openxmlformats.org/drawingml/2006/main">
            <a:pPr>
              <a:defRPr sz="2100" b="1">
                <a:solidFill>
                  <a:srgbClr val="FFFFFF"/>
                </a:solidFill>
                <a:latin typeface="Arial"/>
                <a:ea typeface="Arial"/>
                <a:cs typeface="Arial"/>
              </a:defRPr>
            </a:pPr>
            <a:r>
              <a:rPr sz="2100" b="1">
                <a:solidFill>
                  <a:srgbClr val="FFFFFF"/>
                </a:solidFill>
                <a:latin typeface="Arial"/>
                <a:ea typeface="Arial"/>
                <a:cs typeface="Arial"/>
              </a:rPr>
              <a:t>Robustness evaluation</a:t>
            </a:r>
          </a:p>
        </p:txBody>
      </p:sp>
      <p:sp>
        <p:nvSpPr>
          <p:cNvPr id="8" name="">
            <a:extLst xmlns:a="http://schemas.openxmlformats.org/drawingml/2006/main">
              <a:ext uri="{FF2B5EF4-FFF2-40B4-BE49-F238E27FC236}">
                <a16:creationId xmlns:a16="http://schemas.microsoft.com/office/drawing/2014/main" id="{1B2EA3B6-6C43-4ADA-8B9A-9FB8A18AFA26}"/>
              </a:ext>
            </a:extLst>
          </p:cNvPr>
          <p:cNvSpPr>
            <a:spLocks xmlns:a="http://schemas.openxmlformats.org/drawingml/2006/main" noGrp="1"/>
          </p:cNvSpPr>
          <p:nvPr/>
        </p:nvSpPr>
        <p:spPr>
          <a:xfrm xmlns:a="http://schemas.openxmlformats.org/drawingml/2006/main">
            <a:off x="609600" y="5553075"/>
            <a:ext cx="590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BED3E5"/>
                </a:solidFill>
                <a:latin typeface="Arial"/>
                <a:ea typeface="Arial"/>
                <a:cs typeface="Arial"/>
              </a:defRPr>
            </a:defPPr>
          </a:lstStyle>
          <a:p xmlns:a="http://schemas.openxmlformats.org/drawingml/2006/main">
            <a:pPr>
              <a:defRPr sz="1725" b="0">
                <a:solidFill>
                  <a:srgbClr val="BED3E5"/>
                </a:solidFill>
                <a:latin typeface="Arial"/>
                <a:ea typeface="Arial"/>
                <a:cs typeface="Arial"/>
              </a:defRPr>
            </a:pPr>
            <a:r>
              <a:rPr sz="1725" b="0">
                <a:solidFill>
                  <a:srgbClr val="BED3E5"/>
                </a:solidFill>
                <a:latin typeface="Arial"/>
                <a:ea typeface="Arial"/>
                <a:cs typeface="Arial"/>
              </a:rPr>
              <a:t>English, Turkish, mixed and noisy input</a:t>
            </a:r>
          </a:p>
        </p:txBody>
      </p:sp>
      <p:sp>
        <p:nvSpPr>
          <p:cNvPr id="9" name="">
            <a:extLst xmlns:a="http://schemas.openxmlformats.org/drawingml/2006/main">
              <a:ext uri="{FF2B5EF4-FFF2-40B4-BE49-F238E27FC236}">
                <a16:creationId xmlns:a16="http://schemas.microsoft.com/office/drawing/2014/main" id="{C702B356-F437-420E-A16D-F7B7744206B6}"/>
              </a:ext>
            </a:extLst>
          </p:cNvPr>
          <p:cNvSpPr>
            <a:spLocks xmlns:a="http://schemas.openxmlformats.org/drawingml/2006/main" noGrp="1"/>
          </p:cNvSpPr>
          <p:nvPr/>
        </p:nvSpPr>
        <p:spPr>
          <a:xfrm xmlns:a="http://schemas.openxmlformats.org/drawingml/2006/main">
            <a:off x="7286625" y="1438275"/>
            <a:ext cx="42767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FFFFFF"/>
                </a:solidFill>
                <a:latin typeface="Arial"/>
                <a:ea typeface="Arial"/>
                <a:cs typeface="Arial"/>
              </a:defRPr>
            </a:defPPr>
          </a:lstStyle>
          <a:p xmlns:a="http://schemas.openxmlformats.org/drawingml/2006/main">
            <a:pPr>
              <a:defRPr sz="2175" b="1">
                <a:solidFill>
                  <a:srgbClr val="FFFFFF"/>
                </a:solidFill>
                <a:latin typeface="Arial"/>
                <a:ea typeface="Arial"/>
                <a:cs typeface="Arial"/>
              </a:defRPr>
            </a:pPr>
            <a:r>
              <a:rPr sz="2175" b="1">
                <a:solidFill>
                  <a:srgbClr val="FFFFFF"/>
                </a:solidFill>
                <a:latin typeface="Arial"/>
                <a:ea typeface="Arial"/>
                <a:cs typeface="Arial"/>
              </a:rPr>
              <a:t>EuroSciVoc hierarchy</a:t>
            </a:r>
          </a:p>
        </p:txBody>
      </p:sp>
      <p:sp>
        <p:nvSpPr>
          <p:cNvPr id="10" name="taxonomy-natural_sciences">
            <a:extLst xmlns:a="http://schemas.openxmlformats.org/drawingml/2006/main">
              <a:ext uri="{FF2B5EF4-FFF2-40B4-BE49-F238E27FC236}">
                <a16:creationId xmlns:a16="http://schemas.microsoft.com/office/drawing/2014/main" id="{AD7855F9-6868-419E-9CB8-84147B0C5E2C}"/>
              </a:ext>
            </a:extLst>
          </p:cNvPr>
          <p:cNvSpPr>
            <a:spLocks xmlns:a="http://schemas.openxmlformats.org/drawingml/2006/main" noGrp="1"/>
          </p:cNvSpPr>
          <p:nvPr/>
        </p:nvSpPr>
        <p:spPr>
          <a:xfrm xmlns:a="http://schemas.openxmlformats.org/drawingml/2006/main">
            <a:off x="8096250" y="2095500"/>
            <a:ext cx="2667000" cy="514350"/>
          </a:xfrm>
          <a:prstGeom xmlns:a="http://schemas.openxmlformats.org/drawingml/2006/main" prst="rect">
            <a:avLst/>
          </a:prstGeom>
          <a:noFill xmlns:a="http://schemas.openxmlformats.org/drawingml/2006/main"/>
          <a:ln xmlns:a="http://schemas.openxmlformats.org/drawingml/2006/main" w="14288">
            <a:solidFill>
              <a:srgbClr val="BED3E5"/>
            </a:solidFill>
            <a:prstDash val="solid"/>
          </a:ln>
        </p:spPr>
        <p:txBody>
          <a:bodyPr xmlns:a="http://schemas.openxmlformats.org/drawingml/2006/main" wrap="none" lIns="38100" tIns="38100" rIns="38100" bIns="38100" anchor="ctr">
            <a:noAutofit/>
          </a:bodyP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Natural sciences</a:t>
            </a:r>
          </a:p>
        </p:txBody>
      </p:sp>
      <p:sp>
        <p:nvSpPr>
          <p:cNvPr id="11" name="taxonomy-physical_sciences">
            <a:extLst xmlns:a="http://schemas.openxmlformats.org/drawingml/2006/main">
              <a:ext uri="{FF2B5EF4-FFF2-40B4-BE49-F238E27FC236}">
                <a16:creationId xmlns:a16="http://schemas.microsoft.com/office/drawing/2014/main" id="{2946DD42-62DC-42DF-B139-2A7235F021DF}"/>
              </a:ext>
            </a:extLst>
          </p:cNvPr>
          <p:cNvSpPr>
            <a:spLocks xmlns:a="http://schemas.openxmlformats.org/drawingml/2006/main" noGrp="1"/>
          </p:cNvSpPr>
          <p:nvPr/>
        </p:nvSpPr>
        <p:spPr>
          <a:xfrm xmlns:a="http://schemas.openxmlformats.org/drawingml/2006/main">
            <a:off x="8096250" y="3048000"/>
            <a:ext cx="2667000" cy="514350"/>
          </a:xfrm>
          <a:prstGeom xmlns:a="http://schemas.openxmlformats.org/drawingml/2006/main" prst="rect">
            <a:avLst/>
          </a:prstGeom>
          <a:noFill xmlns:a="http://schemas.openxmlformats.org/drawingml/2006/main"/>
          <a:ln xmlns:a="http://schemas.openxmlformats.org/drawingml/2006/main" w="14288">
            <a:solidFill>
              <a:srgbClr val="BED3E5"/>
            </a:solidFill>
            <a:prstDash val="solid"/>
          </a:ln>
        </p:spPr>
        <p:txBody>
          <a:bodyPr xmlns:a="http://schemas.openxmlformats.org/drawingml/2006/main" wrap="none" lIns="38100" tIns="38100" rIns="38100" bIns="38100" anchor="ctr">
            <a:noAutofit/>
          </a:bodyP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Physical sciences</a:t>
            </a:r>
          </a:p>
        </p:txBody>
      </p:sp>
      <p:sp>
        <p:nvSpPr>
          <p:cNvPr id="12" name="taxonomy-optics">
            <a:extLst xmlns:a="http://schemas.openxmlformats.org/drawingml/2006/main">
              <a:ext uri="{FF2B5EF4-FFF2-40B4-BE49-F238E27FC236}">
                <a16:creationId xmlns:a16="http://schemas.microsoft.com/office/drawing/2014/main" id="{612F92BF-5FEB-45F2-A262-03AA8CE1E23D}"/>
              </a:ext>
            </a:extLst>
          </p:cNvPr>
          <p:cNvSpPr>
            <a:spLocks xmlns:a="http://schemas.openxmlformats.org/drawingml/2006/main" noGrp="1"/>
          </p:cNvSpPr>
          <p:nvPr/>
        </p:nvSpPr>
        <p:spPr>
          <a:xfrm xmlns:a="http://schemas.openxmlformats.org/drawingml/2006/main">
            <a:off x="8096250" y="4000500"/>
            <a:ext cx="2667000" cy="514350"/>
          </a:xfrm>
          <a:prstGeom xmlns:a="http://schemas.openxmlformats.org/drawingml/2006/main" prst="rect">
            <a:avLst/>
          </a:prstGeom>
          <a:noFill xmlns:a="http://schemas.openxmlformats.org/drawingml/2006/main"/>
          <a:ln xmlns:a="http://schemas.openxmlformats.org/drawingml/2006/main" w="14288">
            <a:solidFill>
              <a:srgbClr val="BED3E5"/>
            </a:solidFill>
            <a:prstDash val="solid"/>
          </a:ln>
        </p:spPr>
        <p:txBody>
          <a:bodyPr xmlns:a="http://schemas.openxmlformats.org/drawingml/2006/main" wrap="none" lIns="38100" tIns="38100" rIns="38100" bIns="38100" anchor="ctr">
            <a:noAutofit/>
          </a:bodyP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Optics</a:t>
            </a:r>
          </a:p>
        </p:txBody>
      </p:sp>
      <p:sp>
        <p:nvSpPr>
          <p:cNvPr id="13" name="taxonomy-laser_physics">
            <a:extLst xmlns:a="http://schemas.openxmlformats.org/drawingml/2006/main">
              <a:ext uri="{FF2B5EF4-FFF2-40B4-BE49-F238E27FC236}">
                <a16:creationId xmlns:a16="http://schemas.microsoft.com/office/drawing/2014/main" id="{24574227-A0FF-45E3-86B6-70C24143AB52}"/>
              </a:ext>
            </a:extLst>
          </p:cNvPr>
          <p:cNvSpPr>
            <a:spLocks xmlns:a="http://schemas.openxmlformats.org/drawingml/2006/main" noGrp="1"/>
          </p:cNvSpPr>
          <p:nvPr/>
        </p:nvSpPr>
        <p:spPr>
          <a:xfrm xmlns:a="http://schemas.openxmlformats.org/drawingml/2006/main">
            <a:off x="7258050" y="5010150"/>
            <a:ext cx="2000250" cy="514350"/>
          </a:xfrm>
          <a:prstGeom xmlns:a="http://schemas.openxmlformats.org/drawingml/2006/main" prst="rect">
            <a:avLst/>
          </a:prstGeom>
          <a:solidFill xmlns:a="http://schemas.openxmlformats.org/drawingml/2006/main">
            <a:srgbClr val="2878B5"/>
          </a:solidFill>
          <a:ln xmlns:a="http://schemas.openxmlformats.org/drawingml/2006/main" w="14288">
            <a:solidFill>
              <a:srgbClr val="2878B5"/>
            </a:solidFill>
            <a:prstDash val="solid"/>
          </a:ln>
        </p:spPr>
        <p:txBody>
          <a:bodyPr xmlns:a="http://schemas.openxmlformats.org/drawingml/2006/main" wrap="none" lIns="38100" tIns="38100" rIns="38100" bIns="38100" anchor="ctr">
            <a:noAutofit/>
          </a:bodyP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Laser physics</a:t>
            </a:r>
          </a:p>
        </p:txBody>
      </p:sp>
      <p:sp>
        <p:nvSpPr>
          <p:cNvPr id="14" name="taxonomy-nonlinear_optics">
            <a:extLst xmlns:a="http://schemas.openxmlformats.org/drawingml/2006/main">
              <a:ext uri="{FF2B5EF4-FFF2-40B4-BE49-F238E27FC236}">
                <a16:creationId xmlns:a16="http://schemas.microsoft.com/office/drawing/2014/main" id="{9ADFE3B6-77B3-4DBF-A4A8-86A24D5B2AF1}"/>
              </a:ext>
            </a:extLst>
          </p:cNvPr>
          <p:cNvSpPr>
            <a:spLocks xmlns:a="http://schemas.openxmlformats.org/drawingml/2006/main" noGrp="1"/>
          </p:cNvSpPr>
          <p:nvPr/>
        </p:nvSpPr>
        <p:spPr>
          <a:xfrm xmlns:a="http://schemas.openxmlformats.org/drawingml/2006/main">
            <a:off x="9582150" y="5010150"/>
            <a:ext cx="2000250" cy="514350"/>
          </a:xfrm>
          <a:prstGeom xmlns:a="http://schemas.openxmlformats.org/drawingml/2006/main" prst="rect">
            <a:avLst/>
          </a:prstGeom>
          <a:solidFill xmlns:a="http://schemas.openxmlformats.org/drawingml/2006/main">
            <a:srgbClr val="2878B5"/>
          </a:solidFill>
          <a:ln xmlns:a="http://schemas.openxmlformats.org/drawingml/2006/main" w="14288">
            <a:solidFill>
              <a:srgbClr val="2878B5"/>
            </a:solidFill>
            <a:prstDash val="solid"/>
          </a:ln>
        </p:spPr>
        <p:txBody>
          <a:bodyPr xmlns:a="http://schemas.openxmlformats.org/drawingml/2006/main" wrap="none" lIns="38100" tIns="38100" rIns="38100" bIns="38100" anchor="ctr">
            <a:noAutofit/>
          </a:bodyPr>
          <a:lstStyle xmlns:a="http://schemas.openxmlformats.org/drawingml/2006/main">
            <a:defPPr algn="ctr">
              <a:defRPr sz="1800">
                <a:solidFill>
                  <a:srgbClr val="FFFFFF"/>
                </a:solidFill>
                <a:latin typeface="Arial"/>
                <a:ea typeface="Arial"/>
                <a:cs typeface="Arial"/>
              </a:defRPr>
            </a:defPPr>
          </a:lstStyle>
          <a:p xmlns:a="http://schemas.openxmlformats.org/drawingml/2006/main">
            <a:pPr algn="ctr">
              <a:defRPr sz="1800">
                <a:solidFill>
                  <a:srgbClr val="FFFFFF"/>
                </a:solidFill>
                <a:latin typeface="Arial"/>
                <a:ea typeface="Arial"/>
                <a:cs typeface="Arial"/>
              </a:defRPr>
            </a:pPr>
            <a:r>
              <a:rPr sz="1800">
                <a:solidFill>
                  <a:srgbClr val="FFFFFF"/>
                </a:solidFill>
                <a:latin typeface="Arial"/>
                <a:ea typeface="Arial"/>
                <a:cs typeface="Arial"/>
              </a:rPr>
              <a:t>Nonlinear optics</a:t>
            </a:r>
          </a:p>
        </p:txBody>
      </p:sp>
      <p:sp>
        <p:nvSpPr>
          <p:cNvPr id="19" name="">
            <a:extLst xmlns:a="http://schemas.openxmlformats.org/drawingml/2006/main">
              <a:ext uri="{FF2B5EF4-FFF2-40B4-BE49-F238E27FC236}">
                <a16:creationId xmlns:a16="http://schemas.microsoft.com/office/drawing/2014/main" id="{63EE427F-42E2-452C-8D96-2D55E0E2B144}"/>
              </a:ext>
            </a:extLst>
          </p:cNvPr>
          <p:cNvSpPr>
            <a:spLocks xmlns:a="http://schemas.openxmlformats.org/drawingml/2006/main" noGrp="1"/>
          </p:cNvSpPr>
          <p:nvPr/>
        </p:nvSpPr>
        <p:spPr>
          <a:xfrm xmlns:a="http://schemas.openxmlformats.org/drawingml/2006/main">
            <a:off x="7258050" y="5762625"/>
            <a:ext cx="43243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BED3E5"/>
                </a:solidFill>
                <a:latin typeface="Arial"/>
                <a:ea typeface="Arial"/>
                <a:cs typeface="Arial"/>
              </a:defRPr>
            </a:defPPr>
          </a:lstStyle>
          <a:p xmlns:a="http://schemas.openxmlformats.org/drawingml/2006/main">
            <a:pPr>
              <a:defRPr sz="1575" b="0">
                <a:solidFill>
                  <a:srgbClr val="BED3E5"/>
                </a:solidFill>
                <a:latin typeface="Arial"/>
                <a:ea typeface="Arial"/>
                <a:cs typeface="Arial"/>
              </a:defRPr>
            </a:pPr>
            <a:r>
              <a:rPr sz="1575" b="0">
                <a:solidFill>
                  <a:srgbClr val="BED3E5"/>
                </a:solidFill>
                <a:latin typeface="Arial"/>
                <a:ea typeface="Arial"/>
                <a:cs typeface="Arial"/>
              </a:rPr>
              <a:t>Blue: example direct predictions</a:t>
            </a:r>
          </a:p>
          <a:p xmlns:a="http://schemas.openxmlformats.org/drawingml/2006/main">
            <a:pPr>
              <a:defRPr sz="1575" b="0">
                <a:solidFill>
                  <a:srgbClr val="BED3E5"/>
                </a:solidFill>
                <a:latin typeface="Arial"/>
                <a:ea typeface="Arial"/>
                <a:cs typeface="Arial"/>
              </a:defRPr>
            </a:pPr>
            <a:r>
              <a:rPr sz="1575" b="0">
                <a:solidFill>
                  <a:srgbClr val="BED3E5"/>
                </a:solidFill>
                <a:latin typeface="Arial"/>
                <a:ea typeface="Arial"/>
                <a:cs typeface="Arial"/>
              </a:rPr>
              <a:t>Outlined: ancestors included in the output</a:t>
            </a:r>
          </a:p>
        </p:txBody>
      </p:sp>
      <p:sp>
        <p:nvSpPr>
          <p:cNvPr id="20" name="">
            <a:extLst xmlns:a="http://schemas.openxmlformats.org/drawingml/2006/main">
              <a:ext uri="{FF2B5EF4-FFF2-40B4-BE49-F238E27FC236}">
                <a16:creationId xmlns:a16="http://schemas.microsoft.com/office/drawing/2014/main" id="{DC6C06DE-6E66-4307-ADB4-BAE7BADE2391}"/>
              </a:ext>
            </a:extLst>
          </p:cNvPr>
          <p:cNvSpPr>
            <a:spLocks xmlns:a="http://schemas.openxmlformats.org/drawingml/2006/main" noGrp="1"/>
          </p:cNvSpPr>
          <p:nvPr/>
        </p:nvSpPr>
        <p:spPr>
          <a:xfrm xmlns:a="http://schemas.openxmlformats.org/drawingml/2006/main">
            <a:off x="609600" y="6467475"/>
            <a:ext cx="1714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ED3E5"/>
                </a:solidFill>
                <a:latin typeface="Arial"/>
                <a:ea typeface="Arial"/>
                <a:cs typeface="Arial"/>
              </a:defRPr>
            </a:defPPr>
          </a:lstStyle>
          <a:p xmlns:a="http://schemas.openxmlformats.org/drawingml/2006/main">
            <a:pPr>
              <a:defRPr sz="1200" b="0">
                <a:solidFill>
                  <a:srgbClr val="BED3E5"/>
                </a:solidFill>
                <a:latin typeface="Arial"/>
                <a:ea typeface="Arial"/>
                <a:cs typeface="Arial"/>
              </a:defRPr>
            </a:pPr>
            <a:r>
              <a:rPr sz="1200" b="0">
                <a:solidFill>
                  <a:srgbClr val="BED3E5"/>
                </a:solidFill>
                <a:latin typeface="Arial"/>
                <a:ea typeface="Arial"/>
                <a:cs typeface="Arial"/>
              </a:rPr>
              <a:t>NALTRA   1/5</a:t>
            </a:r>
          </a:p>
        </p:txBody>
      </p:sp>
    </p:spTree>
    <p:extLst>
      <p:ext uri="{BB962C8B-B14F-4D97-AF65-F5344CB8AC3E}">
        <p14:creationId xmlns:p14="http://schemas.microsoft.com/office/powerpoint/2010/main" val="130969646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C0C6778F-1D46-4376-B1B1-EECB0BBE1610}"/>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2283D"/>
                </a:solidFill>
                <a:latin typeface="Arial"/>
                <a:ea typeface="Arial"/>
                <a:cs typeface="Arial"/>
              </a:defRPr>
            </a:defPPr>
          </a:lstStyle>
          <a:p xmlns:a="http://schemas.openxmlformats.org/drawingml/2006/main">
            <a:pPr>
              <a:buNone/>
              <a:defRPr sz="3600" b="1">
                <a:solidFill>
                  <a:srgbClr val="12283D"/>
                </a:solidFill>
                <a:latin typeface="Arial"/>
                <a:ea typeface="Arial"/>
                <a:cs typeface="Arial"/>
              </a:defRPr>
            </a:pPr>
            <a:r>
              <a:rPr sz="3600" b="1">
                <a:solidFill>
                  <a:srgbClr val="12283D"/>
                </a:solidFill>
                <a:latin typeface="Arial"/>
                <a:ea typeface="Arial"/>
                <a:cs typeface="Arial"/>
              </a:rPr>
              <a:t>Dataset preparation</a:t>
            </a:r>
          </a:p>
        </p:txBody>
      </p:sp>
      <p:sp>
        <p:nvSpPr>
          <p:cNvPr id="2" name="">
            <a:extLst xmlns:a="http://schemas.openxmlformats.org/drawingml/2006/main">
              <a:ext uri="{FF2B5EF4-FFF2-40B4-BE49-F238E27FC236}">
                <a16:creationId xmlns:a16="http://schemas.microsoft.com/office/drawing/2014/main" id="{0410A2CC-00AA-448E-B894-0B71DEF35820}"/>
              </a:ext>
            </a:extLst>
          </p:cNvPr>
          <p:cNvSpPr>
            <a:spLocks xmlns:a="http://schemas.openxmlformats.org/drawingml/2006/main" noGrp="1"/>
          </p:cNvSpPr>
          <p:nvPr/>
        </p:nvSpPr>
        <p:spPr>
          <a:xfrm xmlns:a="http://schemas.openxmlformats.org/drawingml/2006/main">
            <a:off x="609600" y="1181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16170"/>
                </a:solidFill>
                <a:latin typeface="Arial"/>
                <a:ea typeface="Arial"/>
                <a:cs typeface="Arial"/>
              </a:defRPr>
            </a:defPPr>
          </a:lstStyle>
          <a:p xmlns:a="http://schemas.openxmlformats.org/drawingml/2006/main">
            <a:pPr>
              <a:buNone/>
              <a:defRPr sz="1875" b="0">
                <a:solidFill>
                  <a:srgbClr val="516170"/>
                </a:solidFill>
                <a:latin typeface="Arial"/>
                <a:ea typeface="Arial"/>
                <a:cs typeface="Arial"/>
              </a:defRPr>
            </a:pPr>
            <a:r>
              <a:rPr sz="1875" b="0">
                <a:solidFill>
                  <a:srgbClr val="516170"/>
                </a:solidFill>
                <a:latin typeface="Arial"/>
                <a:ea typeface="Arial"/>
                <a:cs typeface="Arial"/>
              </a:rPr>
              <a:t>Multi-label classification of EU Horizon 2020 research objectives</a:t>
            </a:r>
          </a:p>
        </p:txBody>
      </p:sp>
      <p:sp>
        <p:nvSpPr>
          <p:cNvPr id="3" name="">
            <a:extLst xmlns:a="http://schemas.openxmlformats.org/drawingml/2006/main">
              <a:ext uri="{FF2B5EF4-FFF2-40B4-BE49-F238E27FC236}">
                <a16:creationId xmlns:a16="http://schemas.microsoft.com/office/drawing/2014/main" id="{E5621F63-606D-4A01-9A1E-66FA6084D867}"/>
              </a:ext>
            </a:extLst>
          </p:cNvPr>
          <p:cNvSpPr>
            <a:spLocks xmlns:a="http://schemas.openxmlformats.org/drawingml/2006/main" noGrp="1"/>
          </p:cNvSpPr>
          <p:nvPr/>
        </p:nvSpPr>
        <p:spPr>
          <a:xfrm xmlns:a="http://schemas.openxmlformats.org/drawingml/2006/main">
            <a:off x="10191750" y="6419850"/>
            <a:ext cx="1390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170"/>
                </a:solidFill>
                <a:latin typeface="Arial"/>
                <a:ea typeface="Arial"/>
                <a:cs typeface="Arial"/>
              </a:defRPr>
            </a:defPPr>
          </a:lstStyle>
          <a:p xmlns:a="http://schemas.openxmlformats.org/drawingml/2006/main">
            <a:pPr>
              <a:buNone/>
              <a:defRPr sz="1200" b="0">
                <a:solidFill>
                  <a:srgbClr val="516170"/>
                </a:solidFill>
                <a:latin typeface="Arial"/>
                <a:ea typeface="Arial"/>
                <a:cs typeface="Arial"/>
              </a:defRPr>
            </a:pPr>
            <a:r>
              <a:rPr sz="1200" b="0">
                <a:solidFill>
                  <a:srgbClr val="516170"/>
                </a:solidFill>
                <a:latin typeface="Arial"/>
                <a:ea typeface="Arial"/>
                <a:cs typeface="Arial"/>
              </a:rPr>
              <a:t>NALTRA   2/5</a:t>
            </a:r>
          </a:p>
        </p:txBody>
      </p:sp>
      <p:sp>
        <p:nvSpPr>
          <p:cNvPr id="4" name="">
            <a:extLst xmlns:a="http://schemas.openxmlformats.org/drawingml/2006/main">
              <a:ext uri="{FF2B5EF4-FFF2-40B4-BE49-F238E27FC236}">
                <a16:creationId xmlns:a16="http://schemas.microsoft.com/office/drawing/2014/main" id="{1850E956-C73F-4C5F-AA26-DF3B019ADDAB}"/>
              </a:ext>
            </a:extLst>
          </p:cNvPr>
          <p:cNvSpPr>
            <a:spLocks xmlns:a="http://schemas.openxmlformats.org/drawingml/2006/main" noGrp="1"/>
          </p:cNvSpPr>
          <p:nvPr/>
        </p:nvSpPr>
        <p:spPr>
          <a:xfrm xmlns:a="http://schemas.openxmlformats.org/drawingml/2006/main">
            <a:off x="609600" y="1933575"/>
            <a:ext cx="342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2878B5"/>
                </a:solidFill>
                <a:latin typeface="Arial"/>
                <a:ea typeface="Arial"/>
                <a:cs typeface="Arial"/>
              </a:defRPr>
            </a:defPPr>
          </a:lstStyle>
          <a:p xmlns:a="http://schemas.openxmlformats.org/drawingml/2006/main">
            <a:pPr>
              <a:buNone/>
              <a:defRPr sz="4800" b="1">
                <a:solidFill>
                  <a:srgbClr val="2878B5"/>
                </a:solidFill>
                <a:latin typeface="Arial"/>
                <a:ea typeface="Arial"/>
                <a:cs typeface="Arial"/>
              </a:defRPr>
            </a:pPr>
            <a:r>
              <a:rPr sz="4800" b="1">
                <a:solidFill>
                  <a:srgbClr val="2878B5"/>
                </a:solidFill>
                <a:latin typeface="Arial"/>
                <a:ea typeface="Arial"/>
                <a:cs typeface="Arial"/>
              </a:rPr>
              <a:t>31,407</a:t>
            </a:r>
          </a:p>
        </p:txBody>
      </p:sp>
      <p:sp>
        <p:nvSpPr>
          <p:cNvPr id="5" name="">
            <a:extLst xmlns:a="http://schemas.openxmlformats.org/drawingml/2006/main">
              <a:ext uri="{FF2B5EF4-FFF2-40B4-BE49-F238E27FC236}">
                <a16:creationId xmlns:a16="http://schemas.microsoft.com/office/drawing/2014/main" id="{0A9410D3-32B7-45C2-92A0-2805AA0758C8}"/>
              </a:ext>
            </a:extLst>
          </p:cNvPr>
          <p:cNvSpPr>
            <a:spLocks xmlns:a="http://schemas.openxmlformats.org/drawingml/2006/main" noGrp="1"/>
          </p:cNvSpPr>
          <p:nvPr/>
        </p:nvSpPr>
        <p:spPr>
          <a:xfrm xmlns:a="http://schemas.openxmlformats.org/drawingml/2006/main">
            <a:off x="609600" y="2695575"/>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16170"/>
                </a:solidFill>
                <a:latin typeface="Arial"/>
                <a:ea typeface="Arial"/>
                <a:cs typeface="Arial"/>
              </a:defRPr>
            </a:defPPr>
          </a:lstStyle>
          <a:p xmlns:a="http://schemas.openxmlformats.org/drawingml/2006/main">
            <a:pPr>
              <a:buNone/>
              <a:defRPr sz="1950" b="0">
                <a:solidFill>
                  <a:srgbClr val="516170"/>
                </a:solidFill>
                <a:latin typeface="Arial"/>
                <a:ea typeface="Arial"/>
                <a:cs typeface="Arial"/>
              </a:defRPr>
            </a:pPr>
            <a:r>
              <a:rPr sz="1950" b="0">
                <a:solidFill>
                  <a:srgbClr val="516170"/>
                </a:solidFill>
                <a:latin typeface="Arial"/>
                <a:ea typeface="Arial"/>
                <a:cs typeface="Arial"/>
              </a:rPr>
              <a:t>retained projects</a:t>
            </a:r>
          </a:p>
        </p:txBody>
      </p:sp>
      <p:sp>
        <p:nvSpPr>
          <p:cNvPr id="6" name="">
            <a:extLst xmlns:a="http://schemas.openxmlformats.org/drawingml/2006/main">
              <a:ext uri="{FF2B5EF4-FFF2-40B4-BE49-F238E27FC236}">
                <a16:creationId xmlns:a16="http://schemas.microsoft.com/office/drawing/2014/main" id="{D08839EA-4401-40E6-A1AC-E11CD3E022B7}"/>
              </a:ext>
            </a:extLst>
          </p:cNvPr>
          <p:cNvSpPr>
            <a:spLocks xmlns:a="http://schemas.openxmlformats.org/drawingml/2006/main" noGrp="1"/>
          </p:cNvSpPr>
          <p:nvPr/>
        </p:nvSpPr>
        <p:spPr>
          <a:xfrm xmlns:a="http://schemas.openxmlformats.org/drawingml/2006/main">
            <a:off x="4381500" y="1933575"/>
            <a:ext cx="342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2878B5"/>
                </a:solidFill>
                <a:latin typeface="Arial"/>
                <a:ea typeface="Arial"/>
                <a:cs typeface="Arial"/>
              </a:defRPr>
            </a:defPPr>
          </a:lstStyle>
          <a:p xmlns:a="http://schemas.openxmlformats.org/drawingml/2006/main">
            <a:pPr>
              <a:buNone/>
              <a:defRPr sz="4800" b="1">
                <a:solidFill>
                  <a:srgbClr val="2878B5"/>
                </a:solidFill>
                <a:latin typeface="Arial"/>
                <a:ea typeface="Arial"/>
                <a:cs typeface="Arial"/>
              </a:defRPr>
            </a:pPr>
            <a:r>
              <a:rPr sz="4800" b="1">
                <a:solidFill>
                  <a:srgbClr val="2878B5"/>
                </a:solidFill>
                <a:latin typeface="Arial"/>
                <a:ea typeface="Arial"/>
                <a:cs typeface="Arial"/>
              </a:rPr>
              <a:t>473</a:t>
            </a:r>
          </a:p>
        </p:txBody>
      </p:sp>
      <p:sp>
        <p:nvSpPr>
          <p:cNvPr id="7" name="">
            <a:extLst xmlns:a="http://schemas.openxmlformats.org/drawingml/2006/main">
              <a:ext uri="{FF2B5EF4-FFF2-40B4-BE49-F238E27FC236}">
                <a16:creationId xmlns:a16="http://schemas.microsoft.com/office/drawing/2014/main" id="{5AE7F652-8876-40E6-B5AD-06D62A29293C}"/>
              </a:ext>
            </a:extLst>
          </p:cNvPr>
          <p:cNvSpPr>
            <a:spLocks xmlns:a="http://schemas.openxmlformats.org/drawingml/2006/main" noGrp="1"/>
          </p:cNvSpPr>
          <p:nvPr/>
        </p:nvSpPr>
        <p:spPr>
          <a:xfrm xmlns:a="http://schemas.openxmlformats.org/drawingml/2006/main">
            <a:off x="4381500" y="2695575"/>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16170"/>
                </a:solidFill>
                <a:latin typeface="Arial"/>
                <a:ea typeface="Arial"/>
                <a:cs typeface="Arial"/>
              </a:defRPr>
            </a:defPPr>
          </a:lstStyle>
          <a:p xmlns:a="http://schemas.openxmlformats.org/drawingml/2006/main">
            <a:pPr>
              <a:buNone/>
              <a:defRPr sz="1950" b="0">
                <a:solidFill>
                  <a:srgbClr val="516170"/>
                </a:solidFill>
                <a:latin typeface="Arial"/>
                <a:ea typeface="Arial"/>
                <a:cs typeface="Arial"/>
              </a:defRPr>
            </a:pPr>
            <a:r>
              <a:rPr sz="1950" b="0">
                <a:solidFill>
                  <a:srgbClr val="516170"/>
                </a:solidFill>
                <a:latin typeface="Arial"/>
                <a:ea typeface="Arial"/>
                <a:cs typeface="Arial"/>
              </a:rPr>
              <a:t>direct labels</a:t>
            </a:r>
          </a:p>
        </p:txBody>
      </p:sp>
      <p:sp>
        <p:nvSpPr>
          <p:cNvPr id="8" name="">
            <a:extLst xmlns:a="http://schemas.openxmlformats.org/drawingml/2006/main">
              <a:ext uri="{FF2B5EF4-FFF2-40B4-BE49-F238E27FC236}">
                <a16:creationId xmlns:a16="http://schemas.microsoft.com/office/drawing/2014/main" id="{9D64B134-D7D7-43DD-BC89-665266FC6AE6}"/>
              </a:ext>
            </a:extLst>
          </p:cNvPr>
          <p:cNvSpPr>
            <a:spLocks xmlns:a="http://schemas.openxmlformats.org/drawingml/2006/main" noGrp="1"/>
          </p:cNvSpPr>
          <p:nvPr/>
        </p:nvSpPr>
        <p:spPr>
          <a:xfrm xmlns:a="http://schemas.openxmlformats.org/drawingml/2006/main">
            <a:off x="8153400" y="1933575"/>
            <a:ext cx="3429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2878B5"/>
                </a:solidFill>
                <a:latin typeface="Arial"/>
                <a:ea typeface="Arial"/>
                <a:cs typeface="Arial"/>
              </a:defRPr>
            </a:defPPr>
          </a:lstStyle>
          <a:p xmlns:a="http://schemas.openxmlformats.org/drawingml/2006/main">
            <a:pPr>
              <a:buNone/>
              <a:defRPr sz="4800" b="1">
                <a:solidFill>
                  <a:srgbClr val="2878B5"/>
                </a:solidFill>
                <a:latin typeface="Arial"/>
                <a:ea typeface="Arial"/>
                <a:cs typeface="Arial"/>
              </a:defRPr>
            </a:pPr>
            <a:r>
              <a:rPr sz="4800" b="1">
                <a:solidFill>
                  <a:srgbClr val="2878B5"/>
                </a:solidFill>
                <a:latin typeface="Arial"/>
                <a:ea typeface="Arial"/>
                <a:cs typeface="Arial"/>
              </a:rPr>
              <a:t>586</a:t>
            </a:r>
          </a:p>
        </p:txBody>
      </p:sp>
      <p:sp>
        <p:nvSpPr>
          <p:cNvPr id="9" name="">
            <a:extLst xmlns:a="http://schemas.openxmlformats.org/drawingml/2006/main">
              <a:ext uri="{FF2B5EF4-FFF2-40B4-BE49-F238E27FC236}">
                <a16:creationId xmlns:a16="http://schemas.microsoft.com/office/drawing/2014/main" id="{29EC393A-CCE2-413E-B2FF-9B15B1D58955}"/>
              </a:ext>
            </a:extLst>
          </p:cNvPr>
          <p:cNvSpPr>
            <a:spLocks xmlns:a="http://schemas.openxmlformats.org/drawingml/2006/main" noGrp="1"/>
          </p:cNvSpPr>
          <p:nvPr/>
        </p:nvSpPr>
        <p:spPr>
          <a:xfrm xmlns:a="http://schemas.openxmlformats.org/drawingml/2006/main">
            <a:off x="8153400" y="2695575"/>
            <a:ext cx="342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516170"/>
                </a:solidFill>
                <a:latin typeface="Arial"/>
                <a:ea typeface="Arial"/>
                <a:cs typeface="Arial"/>
              </a:defRPr>
            </a:defPPr>
          </a:lstStyle>
          <a:p xmlns:a="http://schemas.openxmlformats.org/drawingml/2006/main">
            <a:pPr>
              <a:buNone/>
              <a:defRPr sz="1950" b="0">
                <a:solidFill>
                  <a:srgbClr val="516170"/>
                </a:solidFill>
                <a:latin typeface="Arial"/>
                <a:ea typeface="Arial"/>
                <a:cs typeface="Arial"/>
              </a:defRPr>
            </a:pPr>
            <a:r>
              <a:rPr sz="1950" b="0">
                <a:solidFill>
                  <a:srgbClr val="516170"/>
                </a:solidFill>
                <a:latin typeface="Arial"/>
                <a:ea typeface="Arial"/>
                <a:cs typeface="Arial"/>
              </a:rPr>
              <a:t>hierarchy nodes</a:t>
            </a:r>
          </a:p>
        </p:txBody>
      </p:sp>
      <p:sp>
        <p:nvSpPr>
          <p:cNvPr id="10" name="">
            <a:extLst xmlns:a="http://schemas.openxmlformats.org/drawingml/2006/main">
              <a:ext uri="{FF2B5EF4-FFF2-40B4-BE49-F238E27FC236}">
                <a16:creationId xmlns:a16="http://schemas.microsoft.com/office/drawing/2014/main" id="{F5A29476-14A7-466B-B14E-A170D0BCE339}"/>
              </a:ext>
            </a:extLst>
          </p:cNvPr>
          <p:cNvSpPr>
            <a:spLocks xmlns:a="http://schemas.openxmlformats.org/drawingml/2006/main" noGrp="1"/>
          </p:cNvSpPr>
          <p:nvPr/>
        </p:nvSpPr>
        <p:spPr>
          <a:xfrm xmlns:a="http://schemas.openxmlformats.org/drawingml/2006/main">
            <a:off x="609600" y="3381375"/>
            <a:ext cx="590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2283D"/>
                </a:solidFill>
                <a:latin typeface="Arial"/>
                <a:ea typeface="Arial"/>
                <a:cs typeface="Arial"/>
              </a:defRPr>
            </a:defPPr>
          </a:lstStyle>
          <a:p xmlns:a="http://schemas.openxmlformats.org/drawingml/2006/main">
            <a:pPr>
              <a:buNone/>
              <a:defRPr sz="2175" b="1">
                <a:solidFill>
                  <a:srgbClr val="12283D"/>
                </a:solidFill>
                <a:latin typeface="Arial"/>
                <a:ea typeface="Arial"/>
                <a:cs typeface="Arial"/>
              </a:defRPr>
            </a:pPr>
            <a:r>
              <a:rPr sz="2175" b="1">
                <a:solidFill>
                  <a:srgbClr val="12283D"/>
                </a:solidFill>
                <a:latin typeface="Arial"/>
                <a:ea typeface="Arial"/>
                <a:cs typeface="Arial"/>
              </a:rPr>
              <a:t>Preparation</a:t>
            </a:r>
          </a:p>
        </p:txBody>
      </p:sp>
      <p:sp>
        <p:nvSpPr>
          <p:cNvPr id="11" name="">
            <a:extLst xmlns:a="http://schemas.openxmlformats.org/drawingml/2006/main">
              <a:ext uri="{FF2B5EF4-FFF2-40B4-BE49-F238E27FC236}">
                <a16:creationId xmlns:a16="http://schemas.microsoft.com/office/drawing/2014/main" id="{55E318FB-82DD-4EA3-BEE7-60792BBC1DA5}"/>
              </a:ext>
            </a:extLst>
          </p:cNvPr>
          <p:cNvSpPr>
            <a:spLocks xmlns:a="http://schemas.openxmlformats.org/drawingml/2006/main" noGrp="1"/>
          </p:cNvSpPr>
          <p:nvPr/>
        </p:nvSpPr>
        <p:spPr>
          <a:xfrm xmlns:a="http://schemas.openxmlformats.org/drawingml/2006/main">
            <a:off x="609600" y="3876675"/>
            <a:ext cx="614362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12283D"/>
                </a:solidFill>
                <a:latin typeface="Arial"/>
                <a:ea typeface="Arial"/>
                <a:cs typeface="Arial"/>
              </a:defRPr>
            </a:defPPr>
          </a:lstStyle>
          <a:p xmlns:a="http://schemas.openxmlformats.org/drawingml/2006/main">
            <a:pPr>
              <a:buNone/>
              <a:defRPr sz="1950" b="0">
                <a:solidFill>
                  <a:srgbClr val="12283D"/>
                </a:solidFill>
                <a:latin typeface="Arial"/>
                <a:ea typeface="Arial"/>
                <a:cs typeface="Arial"/>
              </a:defRPr>
            </a:pPr>
            <a:r>
              <a:rPr sz="1950" b="0">
                <a:solidFill>
                  <a:srgbClr val="12283D"/>
                </a:solidFill>
                <a:latin typeface="Arial"/>
                <a:ea typeface="Arial"/>
                <a:cs typeface="Arial"/>
              </a:rPr>
              <a:t>Repair CSV rows and clean objectives</a:t>
            </a:r>
          </a:p>
          <a:p xmlns:a="http://schemas.openxmlformats.org/drawingml/2006/main">
            <a:pPr>
              <a:buNone/>
              <a:defRPr sz="1950" b="0">
                <a:solidFill>
                  <a:srgbClr val="12283D"/>
                </a:solidFill>
                <a:latin typeface="Arial"/>
                <a:ea typeface="Arial"/>
                <a:cs typeface="Arial"/>
              </a:defRPr>
            </a:pPr>
            <a:r>
              <a:rPr sz="1950" b="0">
                <a:solidFill>
                  <a:srgbClr val="12283D"/>
                </a:solidFill>
                <a:latin typeface="Arial"/>
                <a:ea typeface="Arial"/>
                <a:cs typeface="Arial"/>
              </a:rPr>
              <a:t>Keep labels with ≥50 source projects</a:t>
            </a:r>
          </a:p>
          <a:p xmlns:a="http://schemas.openxmlformats.org/drawingml/2006/main">
            <a:pPr>
              <a:buNone/>
              <a:defRPr sz="1950" b="0">
                <a:solidFill>
                  <a:srgbClr val="12283D"/>
                </a:solidFill>
                <a:latin typeface="Arial"/>
                <a:ea typeface="Arial"/>
                <a:cs typeface="Arial"/>
              </a:defRPr>
            </a:pPr>
            <a:r>
              <a:rPr sz="1950" b="0">
                <a:solidFill>
                  <a:srgbClr val="12283D"/>
                </a:solidFill>
                <a:latin typeface="Arial"/>
                <a:ea typeface="Arial"/>
                <a:cs typeface="Arial"/>
              </a:rPr>
              <a:t>Group exact duplicates before splitting</a:t>
            </a:r>
          </a:p>
        </p:txBody>
      </p:sp>
      <p:sp>
        <p:nvSpPr>
          <p:cNvPr id="12" name="">
            <a:extLst xmlns:a="http://schemas.openxmlformats.org/drawingml/2006/main">
              <a:ext uri="{FF2B5EF4-FFF2-40B4-BE49-F238E27FC236}">
                <a16:creationId xmlns:a16="http://schemas.microsoft.com/office/drawing/2014/main" id="{C0DCA05A-DA6C-446E-AFA2-EAC2F7A1074B}"/>
              </a:ext>
            </a:extLst>
          </p:cNvPr>
          <p:cNvSpPr>
            <a:spLocks xmlns:a="http://schemas.openxmlformats.org/drawingml/2006/main" noGrp="1"/>
          </p:cNvSpPr>
          <p:nvPr/>
        </p:nvSpPr>
        <p:spPr>
          <a:xfrm xmlns:a="http://schemas.openxmlformats.org/drawingml/2006/main">
            <a:off x="7381875" y="3381375"/>
            <a:ext cx="4191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2283D"/>
                </a:solidFill>
                <a:latin typeface="Arial"/>
                <a:ea typeface="Arial"/>
                <a:cs typeface="Arial"/>
              </a:defRPr>
            </a:defPPr>
          </a:lstStyle>
          <a:p xmlns:a="http://schemas.openxmlformats.org/drawingml/2006/main">
            <a:pPr>
              <a:buNone/>
              <a:defRPr sz="2175" b="1">
                <a:solidFill>
                  <a:srgbClr val="12283D"/>
                </a:solidFill>
                <a:latin typeface="Arial"/>
                <a:ea typeface="Arial"/>
                <a:cs typeface="Arial"/>
              </a:defRPr>
            </a:pPr>
            <a:r>
              <a:rPr sz="2175" b="1">
                <a:solidFill>
                  <a:srgbClr val="12283D"/>
                </a:solidFill>
                <a:latin typeface="Arial"/>
                <a:ea typeface="Arial"/>
                <a:cs typeface="Arial"/>
              </a:rPr>
              <a:t>Evaluation variants</a:t>
            </a:r>
          </a:p>
        </p:txBody>
      </p:sp>
      <p:sp>
        <p:nvSpPr>
          <p:cNvPr id="13" name="">
            <a:extLst xmlns:a="http://schemas.openxmlformats.org/drawingml/2006/main">
              <a:ext uri="{FF2B5EF4-FFF2-40B4-BE49-F238E27FC236}">
                <a16:creationId xmlns:a16="http://schemas.microsoft.com/office/drawing/2014/main" id="{F374013F-B4DF-40D0-AD02-55F87A7123B3}"/>
              </a:ext>
            </a:extLst>
          </p:cNvPr>
          <p:cNvSpPr>
            <a:spLocks xmlns:a="http://schemas.openxmlformats.org/drawingml/2006/main" noGrp="1"/>
          </p:cNvSpPr>
          <p:nvPr/>
        </p:nvSpPr>
        <p:spPr>
          <a:xfrm xmlns:a="http://schemas.openxmlformats.org/drawingml/2006/main">
            <a:off x="7381875" y="3876675"/>
            <a:ext cx="419100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2283D"/>
                </a:solidFill>
                <a:latin typeface="Arial"/>
                <a:ea typeface="Arial"/>
                <a:cs typeface="Arial"/>
              </a:defRPr>
            </a:defPPr>
          </a:lstStyle>
          <a:p xmlns:a="http://schemas.openxmlformats.org/drawingml/2006/main">
            <a:pPr>
              <a:buNone/>
              <a:defRPr sz="1875" b="0">
                <a:solidFill>
                  <a:srgbClr val="12283D"/>
                </a:solidFill>
                <a:latin typeface="Arial"/>
                <a:ea typeface="Arial"/>
                <a:cs typeface="Arial"/>
              </a:defRPr>
            </a:pPr>
            <a:r>
              <a:rPr sz="1875" b="0">
                <a:solidFill>
                  <a:srgbClr val="12283D"/>
                </a:solidFill>
                <a:latin typeface="Arial"/>
                <a:ea typeface="Arial"/>
                <a:cs typeface="Arial"/>
              </a:rPr>
              <a:t>English and translated Turkish</a:t>
            </a:r>
          </a:p>
          <a:p xmlns:a="http://schemas.openxmlformats.org/drawingml/2006/main">
            <a:pPr>
              <a:buNone/>
              <a:defRPr sz="1875" b="0">
                <a:solidFill>
                  <a:srgbClr val="12283D"/>
                </a:solidFill>
                <a:latin typeface="Arial"/>
                <a:ea typeface="Arial"/>
                <a:cs typeface="Arial"/>
              </a:defRPr>
            </a:pPr>
            <a:r>
              <a:rPr sz="1875" b="0">
                <a:solidFill>
                  <a:srgbClr val="12283D"/>
                </a:solidFill>
                <a:latin typeface="Arial"/>
                <a:ea typeface="Arial"/>
                <a:cs typeface="Arial"/>
              </a:rPr>
              <a:t>Sentence and chunk code-switch mixes</a:t>
            </a:r>
          </a:p>
          <a:p xmlns:a="http://schemas.openxmlformats.org/drawingml/2006/main">
            <a:pPr>
              <a:buNone/>
              <a:defRPr sz="1875" b="0">
                <a:solidFill>
                  <a:srgbClr val="12283D"/>
                </a:solidFill>
                <a:latin typeface="Arial"/>
                <a:ea typeface="Arial"/>
                <a:cs typeface="Arial"/>
              </a:defRPr>
            </a:pPr>
            <a:r>
              <a:rPr sz="1875" b="0">
                <a:solidFill>
                  <a:srgbClr val="12283D"/>
                </a:solidFill>
                <a:latin typeface="Arial"/>
                <a:ea typeface="Arial"/>
                <a:cs typeface="Arial"/>
              </a:rPr>
              <a:t>Character and punctuation noise</a:t>
            </a:r>
          </a:p>
        </p:txBody>
      </p:sp>
      <p:sp>
        <p:nvSpPr>
          <p:cNvPr id="14" name="">
            <a:extLst xmlns:a="http://schemas.openxmlformats.org/drawingml/2006/main">
              <a:ext uri="{FF2B5EF4-FFF2-40B4-BE49-F238E27FC236}">
                <a16:creationId xmlns:a16="http://schemas.microsoft.com/office/drawing/2014/main" id="{8EB5990F-3B54-4829-A3E4-33B89000C5D6}"/>
              </a:ext>
            </a:extLst>
          </p:cNvPr>
          <p:cNvSpPr>
            <a:spLocks xmlns:a="http://schemas.openxmlformats.org/drawingml/2006/main" noGrp="1"/>
          </p:cNvSpPr>
          <p:nvPr/>
        </p:nvSpPr>
        <p:spPr>
          <a:xfrm xmlns:a="http://schemas.openxmlformats.org/drawingml/2006/main">
            <a:off x="609600" y="5305425"/>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12283D"/>
                </a:solidFill>
                <a:latin typeface="Arial"/>
                <a:ea typeface="Arial"/>
                <a:cs typeface="Arial"/>
              </a:defRPr>
            </a:defPPr>
          </a:lstStyle>
          <a:p xmlns:a="http://schemas.openxmlformats.org/drawingml/2006/main">
            <a:pPr>
              <a:buNone/>
              <a:defRPr sz="2250" b="1">
                <a:solidFill>
                  <a:srgbClr val="12283D"/>
                </a:solidFill>
                <a:latin typeface="Arial"/>
                <a:ea typeface="Arial"/>
                <a:cs typeface="Arial"/>
              </a:defRPr>
            </a:pPr>
            <a:r>
              <a:rPr sz="2250" b="1">
                <a:solidFill>
                  <a:srgbClr val="12283D"/>
                </a:solidFill>
                <a:latin typeface="Arial"/>
                <a:ea typeface="Arial"/>
                <a:cs typeface="Arial"/>
              </a:rPr>
              <a:t>70% train     15% validation     15% test</a:t>
            </a:r>
          </a:p>
        </p:txBody>
      </p:sp>
      <p:sp>
        <p:nvSpPr>
          <p:cNvPr id="15" name="">
            <a:extLst xmlns:a="http://schemas.openxmlformats.org/drawingml/2006/main">
              <a:ext uri="{FF2B5EF4-FFF2-40B4-BE49-F238E27FC236}">
                <a16:creationId xmlns:a16="http://schemas.microsoft.com/office/drawing/2014/main" id="{3D6EC47E-1930-4180-BA94-F84B8CAAA95B}"/>
              </a:ext>
            </a:extLst>
          </p:cNvPr>
          <p:cNvSpPr>
            <a:spLocks xmlns:a="http://schemas.openxmlformats.org/drawingml/2006/main" noGrp="1"/>
          </p:cNvSpPr>
          <p:nvPr/>
        </p:nvSpPr>
        <p:spPr>
          <a:xfrm xmlns:a="http://schemas.openxmlformats.org/drawingml/2006/main">
            <a:off x="609600" y="5819775"/>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16170"/>
                </a:solidFill>
                <a:latin typeface="Arial"/>
                <a:ea typeface="Arial"/>
                <a:cs typeface="Arial"/>
              </a:defRPr>
            </a:defPPr>
          </a:lstStyle>
          <a:p xmlns:a="http://schemas.openxmlformats.org/drawingml/2006/main">
            <a:pPr>
              <a:buNone/>
              <a:defRPr sz="1575" b="0">
                <a:solidFill>
                  <a:srgbClr val="516170"/>
                </a:solidFill>
                <a:latin typeface="Arial"/>
                <a:ea typeface="Arial"/>
                <a:cs typeface="Arial"/>
              </a:defRPr>
            </a:pPr>
            <a:r>
              <a:rPr sz="1575" b="0">
                <a:solidFill>
                  <a:srgbClr val="516170"/>
                </a:solidFill>
                <a:latin typeface="Arial"/>
                <a:ea typeface="Arial"/>
                <a:cs typeface="Arial"/>
              </a:rPr>
              <a:t>21,985 / 4,711 / 4,711 projects per language. Shared pair IDs keep variants in the same split.</a:t>
            </a:r>
          </a:p>
        </p:txBody>
      </p:sp>
    </p:spTree>
    <p:extLst>
      <p:ext uri="{BB962C8B-B14F-4D97-AF65-F5344CB8AC3E}">
        <p14:creationId xmlns:p14="http://schemas.microsoft.com/office/powerpoint/2010/main" val="42750480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EF8DD201-D2AB-4313-A0BA-EA193CCCB33A}"/>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2283D"/>
                </a:solidFill>
                <a:latin typeface="Arial"/>
                <a:ea typeface="Arial"/>
                <a:cs typeface="Arial"/>
              </a:defRPr>
            </a:defPPr>
          </a:lstStyle>
          <a:p xmlns:a="http://schemas.openxmlformats.org/drawingml/2006/main">
            <a:pPr>
              <a:buNone/>
              <a:defRPr sz="3600" b="1">
                <a:solidFill>
                  <a:srgbClr val="12283D"/>
                </a:solidFill>
                <a:latin typeface="Arial"/>
                <a:ea typeface="Arial"/>
                <a:cs typeface="Arial"/>
              </a:defRPr>
            </a:pPr>
            <a:r>
              <a:rPr sz="3600" b="1">
                <a:solidFill>
                  <a:srgbClr val="12283D"/>
                </a:solidFill>
                <a:latin typeface="Arial"/>
                <a:ea typeface="Arial"/>
                <a:cs typeface="Arial"/>
              </a:rPr>
              <a:t>Models and evaluation protocol</a:t>
            </a:r>
          </a:p>
        </p:txBody>
      </p:sp>
      <p:sp>
        <p:nvSpPr>
          <p:cNvPr id="2" name="">
            <a:extLst xmlns:a="http://schemas.openxmlformats.org/drawingml/2006/main">
              <a:ext uri="{FF2B5EF4-FFF2-40B4-BE49-F238E27FC236}">
                <a16:creationId xmlns:a16="http://schemas.microsoft.com/office/drawing/2014/main" id="{2AE29928-B1FD-49DE-8471-A2962621FFF0}"/>
              </a:ext>
            </a:extLst>
          </p:cNvPr>
          <p:cNvSpPr>
            <a:spLocks xmlns:a="http://schemas.openxmlformats.org/drawingml/2006/main" noGrp="1"/>
          </p:cNvSpPr>
          <p:nvPr/>
        </p:nvSpPr>
        <p:spPr>
          <a:xfrm xmlns:a="http://schemas.openxmlformats.org/drawingml/2006/main">
            <a:off x="609600" y="1181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16170"/>
                </a:solidFill>
                <a:latin typeface="Arial"/>
                <a:ea typeface="Arial"/>
                <a:cs typeface="Arial"/>
              </a:defRPr>
            </a:defPPr>
          </a:lstStyle>
          <a:p xmlns:a="http://schemas.openxmlformats.org/drawingml/2006/main">
            <a:pPr>
              <a:buNone/>
              <a:defRPr sz="1875" b="0">
                <a:solidFill>
                  <a:srgbClr val="516170"/>
                </a:solidFill>
                <a:latin typeface="Arial"/>
                <a:ea typeface="Arial"/>
                <a:cs typeface="Arial"/>
              </a:defRPr>
            </a:pPr>
            <a:r>
              <a:rPr sz="1875" b="0">
                <a:solidFill>
                  <a:srgbClr val="516170"/>
                </a:solidFill>
                <a:latin typeface="Arial"/>
                <a:ea typeface="Arial"/>
                <a:cs typeface="Arial"/>
              </a:rPr>
              <a:t>Every model scores the same 473 scientific labels</a:t>
            </a:r>
          </a:p>
        </p:txBody>
      </p:sp>
      <p:sp>
        <p:nvSpPr>
          <p:cNvPr id="3" name="">
            <a:extLst xmlns:a="http://schemas.openxmlformats.org/drawingml/2006/main">
              <a:ext uri="{FF2B5EF4-FFF2-40B4-BE49-F238E27FC236}">
                <a16:creationId xmlns:a16="http://schemas.microsoft.com/office/drawing/2014/main" id="{C68FD2F8-5C11-4248-9E5A-ECCF7743AA1E}"/>
              </a:ext>
            </a:extLst>
          </p:cNvPr>
          <p:cNvSpPr>
            <a:spLocks xmlns:a="http://schemas.openxmlformats.org/drawingml/2006/main" noGrp="1"/>
          </p:cNvSpPr>
          <p:nvPr/>
        </p:nvSpPr>
        <p:spPr>
          <a:xfrm xmlns:a="http://schemas.openxmlformats.org/drawingml/2006/main">
            <a:off x="10191750" y="6419850"/>
            <a:ext cx="1390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170"/>
                </a:solidFill>
                <a:latin typeface="Arial"/>
                <a:ea typeface="Arial"/>
                <a:cs typeface="Arial"/>
              </a:defRPr>
            </a:defPPr>
          </a:lstStyle>
          <a:p xmlns:a="http://schemas.openxmlformats.org/drawingml/2006/main">
            <a:pPr>
              <a:buNone/>
              <a:defRPr sz="1200" b="0">
                <a:solidFill>
                  <a:srgbClr val="516170"/>
                </a:solidFill>
                <a:latin typeface="Arial"/>
                <a:ea typeface="Arial"/>
                <a:cs typeface="Arial"/>
              </a:defRPr>
            </a:pPr>
            <a:r>
              <a:rPr sz="1200" b="0">
                <a:solidFill>
                  <a:srgbClr val="516170"/>
                </a:solidFill>
                <a:latin typeface="Arial"/>
                <a:ea typeface="Arial"/>
                <a:cs typeface="Arial"/>
              </a:rPr>
              <a:t>NALTRA   3/5</a:t>
            </a:r>
          </a:p>
        </p:txBody>
      </p:sp>
      <p:sp>
        <p:nvSpPr>
          <p:cNvPr id="4" name="">
            <a:extLst xmlns:a="http://schemas.openxmlformats.org/drawingml/2006/main">
              <a:ext uri="{FF2B5EF4-FFF2-40B4-BE49-F238E27FC236}">
                <a16:creationId xmlns:a16="http://schemas.microsoft.com/office/drawing/2014/main" id="{82C725D0-E738-4136-9F6A-DC42F52E736F}"/>
              </a:ext>
            </a:extLst>
          </p:cNvPr>
          <p:cNvSpPr>
            <a:spLocks xmlns:a="http://schemas.openxmlformats.org/drawingml/2006/main" noGrp="1"/>
          </p:cNvSpPr>
          <p:nvPr/>
        </p:nvSpPr>
        <p:spPr>
          <a:xfrm xmlns:a="http://schemas.openxmlformats.org/drawingml/2006/main">
            <a:off x="609600" y="2009775"/>
            <a:ext cx="552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2283D"/>
                </a:solidFill>
                <a:latin typeface="Arial"/>
                <a:ea typeface="Arial"/>
                <a:cs typeface="Arial"/>
              </a:defRPr>
            </a:defPPr>
          </a:lstStyle>
          <a:p xmlns:a="http://schemas.openxmlformats.org/drawingml/2006/main">
            <a:pPr>
              <a:buNone/>
              <a:defRPr sz="2325" b="1">
                <a:solidFill>
                  <a:srgbClr val="12283D"/>
                </a:solidFill>
                <a:latin typeface="Arial"/>
                <a:ea typeface="Arial"/>
                <a:cs typeface="Arial"/>
              </a:defRPr>
            </a:pPr>
            <a:r>
              <a:rPr sz="2325" b="1">
                <a:solidFill>
                  <a:srgbClr val="12283D"/>
                </a:solidFill>
                <a:latin typeface="Arial"/>
                <a:ea typeface="Arial"/>
                <a:cs typeface="Arial"/>
              </a:rPr>
              <a:t>Model families</a:t>
            </a:r>
          </a:p>
        </p:txBody>
      </p:sp>
      <p:sp>
        <p:nvSpPr>
          <p:cNvPr id="5" name="">
            <a:extLst xmlns:a="http://schemas.openxmlformats.org/drawingml/2006/main">
              <a:ext uri="{FF2B5EF4-FFF2-40B4-BE49-F238E27FC236}">
                <a16:creationId xmlns:a16="http://schemas.microsoft.com/office/drawing/2014/main" id="{A8E7183C-DECC-4A6A-998D-6591FFDB6773}"/>
              </a:ext>
            </a:extLst>
          </p:cNvPr>
          <p:cNvSpPr>
            <a:spLocks xmlns:a="http://schemas.openxmlformats.org/drawingml/2006/main" noGrp="1"/>
          </p:cNvSpPr>
          <p:nvPr/>
        </p:nvSpPr>
        <p:spPr>
          <a:xfrm xmlns:a="http://schemas.openxmlformats.org/drawingml/2006/main">
            <a:off x="609600" y="2657475"/>
            <a:ext cx="138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2878B5"/>
                </a:solidFill>
                <a:latin typeface="Arial"/>
                <a:ea typeface="Arial"/>
                <a:cs typeface="Arial"/>
              </a:defRPr>
            </a:defPPr>
          </a:lstStyle>
          <a:p xmlns:a="http://schemas.openxmlformats.org/drawingml/2006/main">
            <a:pPr>
              <a:buNone/>
              <a:defRPr sz="1875" b="1">
                <a:solidFill>
                  <a:srgbClr val="2878B5"/>
                </a:solidFill>
                <a:latin typeface="Arial"/>
                <a:ea typeface="Arial"/>
                <a:cs typeface="Arial"/>
              </a:defRPr>
            </a:pPr>
            <a:r>
              <a:rPr sz="1875" b="1">
                <a:solidFill>
                  <a:srgbClr val="2878B5"/>
                </a:solidFill>
                <a:latin typeface="Arial"/>
                <a:ea typeface="Arial"/>
                <a:cs typeface="Arial"/>
              </a:rPr>
              <a:t>Classical</a:t>
            </a:r>
          </a:p>
        </p:txBody>
      </p:sp>
      <p:sp>
        <p:nvSpPr>
          <p:cNvPr id="6" name="">
            <a:extLst xmlns:a="http://schemas.openxmlformats.org/drawingml/2006/main">
              <a:ext uri="{FF2B5EF4-FFF2-40B4-BE49-F238E27FC236}">
                <a16:creationId xmlns:a16="http://schemas.microsoft.com/office/drawing/2014/main" id="{35E3B91B-4B89-4892-80EA-BFAF806553E0}"/>
              </a:ext>
            </a:extLst>
          </p:cNvPr>
          <p:cNvSpPr>
            <a:spLocks xmlns:a="http://schemas.openxmlformats.org/drawingml/2006/main" noGrp="1"/>
          </p:cNvSpPr>
          <p:nvPr/>
        </p:nvSpPr>
        <p:spPr>
          <a:xfrm xmlns:a="http://schemas.openxmlformats.org/drawingml/2006/main">
            <a:off x="2095500" y="2657475"/>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2283D"/>
                </a:solidFill>
                <a:latin typeface="Arial"/>
                <a:ea typeface="Arial"/>
                <a:cs typeface="Arial"/>
              </a:defRPr>
            </a:defPPr>
          </a:lstStyle>
          <a:p xmlns:a="http://schemas.openxmlformats.org/drawingml/2006/main">
            <a:pPr>
              <a:buNone/>
              <a:defRPr sz="1875" b="0">
                <a:solidFill>
                  <a:srgbClr val="12283D"/>
                </a:solidFill>
                <a:latin typeface="Arial"/>
                <a:ea typeface="Arial"/>
                <a:cs typeface="Arial"/>
              </a:defRPr>
            </a:pPr>
            <a:r>
              <a:rPr sz="1875" b="0">
                <a:solidFill>
                  <a:srgbClr val="12283D"/>
                </a:solidFill>
                <a:latin typeface="Arial"/>
                <a:ea typeface="Arial"/>
                <a:cs typeface="Arial"/>
              </a:rPr>
              <a:t>TF-IDF Naive Bayes and calibrated SVM</a:t>
            </a:r>
          </a:p>
        </p:txBody>
      </p:sp>
      <p:sp>
        <p:nvSpPr>
          <p:cNvPr id="7" name="">
            <a:extLst xmlns:a="http://schemas.openxmlformats.org/drawingml/2006/main">
              <a:ext uri="{FF2B5EF4-FFF2-40B4-BE49-F238E27FC236}">
                <a16:creationId xmlns:a16="http://schemas.microsoft.com/office/drawing/2014/main" id="{B85B0227-90B9-44B3-ADF0-EBA7536D57EC}"/>
              </a:ext>
            </a:extLst>
          </p:cNvPr>
          <p:cNvSpPr>
            <a:spLocks xmlns:a="http://schemas.openxmlformats.org/drawingml/2006/main" noGrp="1"/>
          </p:cNvSpPr>
          <p:nvPr/>
        </p:nvSpPr>
        <p:spPr>
          <a:xfrm xmlns:a="http://schemas.openxmlformats.org/drawingml/2006/main">
            <a:off x="609600" y="3381375"/>
            <a:ext cx="138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2878B5"/>
                </a:solidFill>
                <a:latin typeface="Arial"/>
                <a:ea typeface="Arial"/>
                <a:cs typeface="Arial"/>
              </a:defRPr>
            </a:defPPr>
          </a:lstStyle>
          <a:p xmlns:a="http://schemas.openxmlformats.org/drawingml/2006/main">
            <a:pPr>
              <a:buNone/>
              <a:defRPr sz="1875" b="1">
                <a:solidFill>
                  <a:srgbClr val="2878B5"/>
                </a:solidFill>
                <a:latin typeface="Arial"/>
                <a:ea typeface="Arial"/>
                <a:cs typeface="Arial"/>
              </a:defRPr>
            </a:pPr>
            <a:r>
              <a:rPr sz="1875" b="1">
                <a:solidFill>
                  <a:srgbClr val="2878B5"/>
                </a:solidFill>
                <a:latin typeface="Arial"/>
                <a:ea typeface="Arial"/>
                <a:cs typeface="Arial"/>
              </a:rPr>
              <a:t>Retrieval</a:t>
            </a:r>
          </a:p>
        </p:txBody>
      </p:sp>
      <p:sp>
        <p:nvSpPr>
          <p:cNvPr id="8" name="">
            <a:extLst xmlns:a="http://schemas.openxmlformats.org/drawingml/2006/main">
              <a:ext uri="{FF2B5EF4-FFF2-40B4-BE49-F238E27FC236}">
                <a16:creationId xmlns:a16="http://schemas.microsoft.com/office/drawing/2014/main" id="{42F8358D-B22E-45A8-9C1A-C2B4231C97D4}"/>
              </a:ext>
            </a:extLst>
          </p:cNvPr>
          <p:cNvSpPr>
            <a:spLocks xmlns:a="http://schemas.openxmlformats.org/drawingml/2006/main" noGrp="1"/>
          </p:cNvSpPr>
          <p:nvPr/>
        </p:nvSpPr>
        <p:spPr>
          <a:xfrm xmlns:a="http://schemas.openxmlformats.org/drawingml/2006/main">
            <a:off x="2095500" y="3381375"/>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2283D"/>
                </a:solidFill>
                <a:latin typeface="Arial"/>
                <a:ea typeface="Arial"/>
                <a:cs typeface="Arial"/>
              </a:defRPr>
            </a:defPPr>
          </a:lstStyle>
          <a:p xmlns:a="http://schemas.openxmlformats.org/drawingml/2006/main">
            <a:pPr>
              <a:buNone/>
              <a:defRPr sz="1875" b="0">
                <a:solidFill>
                  <a:srgbClr val="12283D"/>
                </a:solidFill>
                <a:latin typeface="Arial"/>
                <a:ea typeface="Arial"/>
                <a:cs typeface="Arial"/>
              </a:defRPr>
            </a:pPr>
            <a:r>
              <a:rPr sz="1875" b="0">
                <a:solidFill>
                  <a:srgbClr val="12283D"/>
                </a:solidFill>
                <a:latin typeface="Arial"/>
                <a:ea typeface="Arial"/>
                <a:cs typeface="Arial"/>
              </a:rPr>
              <a:t>TF-IDF + multilingual-e5 hybrid kNN</a:t>
            </a:r>
          </a:p>
        </p:txBody>
      </p:sp>
      <p:sp>
        <p:nvSpPr>
          <p:cNvPr id="9" name="">
            <a:extLst xmlns:a="http://schemas.openxmlformats.org/drawingml/2006/main">
              <a:ext uri="{FF2B5EF4-FFF2-40B4-BE49-F238E27FC236}">
                <a16:creationId xmlns:a16="http://schemas.microsoft.com/office/drawing/2014/main" id="{47E24766-4349-4985-9C4D-2AD00CEE11AD}"/>
              </a:ext>
            </a:extLst>
          </p:cNvPr>
          <p:cNvSpPr>
            <a:spLocks xmlns:a="http://schemas.openxmlformats.org/drawingml/2006/main" noGrp="1"/>
          </p:cNvSpPr>
          <p:nvPr/>
        </p:nvSpPr>
        <p:spPr>
          <a:xfrm xmlns:a="http://schemas.openxmlformats.org/drawingml/2006/main">
            <a:off x="609600" y="4105275"/>
            <a:ext cx="138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2878B5"/>
                </a:solidFill>
                <a:latin typeface="Arial"/>
                <a:ea typeface="Arial"/>
                <a:cs typeface="Arial"/>
              </a:defRPr>
            </a:defPPr>
          </a:lstStyle>
          <a:p xmlns:a="http://schemas.openxmlformats.org/drawingml/2006/main">
            <a:pPr>
              <a:buNone/>
              <a:defRPr sz="1875" b="1">
                <a:solidFill>
                  <a:srgbClr val="2878B5"/>
                </a:solidFill>
                <a:latin typeface="Arial"/>
                <a:ea typeface="Arial"/>
                <a:cs typeface="Arial"/>
              </a:defRPr>
            </a:pPr>
            <a:r>
              <a:rPr sz="1875" b="1">
                <a:solidFill>
                  <a:srgbClr val="2878B5"/>
                </a:solidFill>
                <a:latin typeface="Arial"/>
                <a:ea typeface="Arial"/>
                <a:cs typeface="Arial"/>
              </a:rPr>
              <a:t>Neural</a:t>
            </a:r>
          </a:p>
        </p:txBody>
      </p:sp>
      <p:sp>
        <p:nvSpPr>
          <p:cNvPr id="10" name="">
            <a:extLst xmlns:a="http://schemas.openxmlformats.org/drawingml/2006/main">
              <a:ext uri="{FF2B5EF4-FFF2-40B4-BE49-F238E27FC236}">
                <a16:creationId xmlns:a16="http://schemas.microsoft.com/office/drawing/2014/main" id="{7666A608-CEFE-4B1B-9023-77C0563E3E39}"/>
              </a:ext>
            </a:extLst>
          </p:cNvPr>
          <p:cNvSpPr>
            <a:spLocks xmlns:a="http://schemas.openxmlformats.org/drawingml/2006/main" noGrp="1"/>
          </p:cNvSpPr>
          <p:nvPr/>
        </p:nvSpPr>
        <p:spPr>
          <a:xfrm xmlns:a="http://schemas.openxmlformats.org/drawingml/2006/main">
            <a:off x="2095500" y="4105275"/>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2283D"/>
                </a:solidFill>
                <a:latin typeface="Arial"/>
                <a:ea typeface="Arial"/>
                <a:cs typeface="Arial"/>
              </a:defRPr>
            </a:defPPr>
          </a:lstStyle>
          <a:p xmlns:a="http://schemas.openxmlformats.org/drawingml/2006/main">
            <a:pPr>
              <a:buNone/>
              <a:defRPr sz="1875" b="0">
                <a:solidFill>
                  <a:srgbClr val="12283D"/>
                </a:solidFill>
                <a:latin typeface="Arial"/>
                <a:ea typeface="Arial"/>
                <a:cs typeface="Arial"/>
              </a:defRPr>
            </a:pPr>
            <a:r>
              <a:rPr sz="1875" b="0">
                <a:solidFill>
                  <a:srgbClr val="12283D"/>
                </a:solidFill>
                <a:latin typeface="Arial"/>
                <a:ea typeface="Arial"/>
                <a:cs typeface="Arial"/>
              </a:rPr>
              <a:t>BiLSTM and fine-tuned XLM-R</a:t>
            </a:r>
          </a:p>
        </p:txBody>
      </p:sp>
      <p:sp>
        <p:nvSpPr>
          <p:cNvPr id="11" name="">
            <a:extLst xmlns:a="http://schemas.openxmlformats.org/drawingml/2006/main">
              <a:ext uri="{FF2B5EF4-FFF2-40B4-BE49-F238E27FC236}">
                <a16:creationId xmlns:a16="http://schemas.microsoft.com/office/drawing/2014/main" id="{1270214F-CCB6-48A6-9E65-ECAB0A68075B}"/>
              </a:ext>
            </a:extLst>
          </p:cNvPr>
          <p:cNvSpPr>
            <a:spLocks xmlns:a="http://schemas.openxmlformats.org/drawingml/2006/main" noGrp="1"/>
          </p:cNvSpPr>
          <p:nvPr/>
        </p:nvSpPr>
        <p:spPr>
          <a:xfrm xmlns:a="http://schemas.openxmlformats.org/drawingml/2006/main">
            <a:off x="609600" y="4829175"/>
            <a:ext cx="13811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2878B5"/>
                </a:solidFill>
                <a:latin typeface="Arial"/>
                <a:ea typeface="Arial"/>
                <a:cs typeface="Arial"/>
              </a:defRPr>
            </a:defPPr>
          </a:lstStyle>
          <a:p xmlns:a="http://schemas.openxmlformats.org/drawingml/2006/main">
            <a:pPr>
              <a:buNone/>
              <a:defRPr sz="1875" b="1">
                <a:solidFill>
                  <a:srgbClr val="2878B5"/>
                </a:solidFill>
                <a:latin typeface="Arial"/>
                <a:ea typeface="Arial"/>
                <a:cs typeface="Arial"/>
              </a:defRPr>
            </a:pPr>
            <a:r>
              <a:rPr sz="1875" b="1">
                <a:solidFill>
                  <a:srgbClr val="2878B5"/>
                </a:solidFill>
                <a:latin typeface="Arial"/>
                <a:ea typeface="Arial"/>
                <a:cs typeface="Arial"/>
              </a:rPr>
              <a:t>Ensembles</a:t>
            </a:r>
          </a:p>
        </p:txBody>
      </p:sp>
      <p:sp>
        <p:nvSpPr>
          <p:cNvPr id="12" name="">
            <a:extLst xmlns:a="http://schemas.openxmlformats.org/drawingml/2006/main">
              <a:ext uri="{FF2B5EF4-FFF2-40B4-BE49-F238E27FC236}">
                <a16:creationId xmlns:a16="http://schemas.microsoft.com/office/drawing/2014/main" id="{AAAFB74D-A4E4-4AB6-8436-A44021CC95E8}"/>
              </a:ext>
            </a:extLst>
          </p:cNvPr>
          <p:cNvSpPr>
            <a:spLocks xmlns:a="http://schemas.openxmlformats.org/drawingml/2006/main" noGrp="1"/>
          </p:cNvSpPr>
          <p:nvPr/>
        </p:nvSpPr>
        <p:spPr>
          <a:xfrm xmlns:a="http://schemas.openxmlformats.org/drawingml/2006/main">
            <a:off x="2095500" y="4829175"/>
            <a:ext cx="451485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2283D"/>
                </a:solidFill>
                <a:latin typeface="Arial"/>
                <a:ea typeface="Arial"/>
                <a:cs typeface="Arial"/>
              </a:defRPr>
            </a:defPPr>
          </a:lstStyle>
          <a:p xmlns:a="http://schemas.openxmlformats.org/drawingml/2006/main">
            <a:pPr>
              <a:buNone/>
              <a:defRPr sz="1875" b="0">
                <a:solidFill>
                  <a:srgbClr val="12283D"/>
                </a:solidFill>
                <a:latin typeface="Arial"/>
                <a:ea typeface="Arial"/>
                <a:cs typeface="Arial"/>
              </a:defRPr>
            </a:pPr>
            <a:r>
              <a:rPr sz="1875" b="0">
                <a:solidFill>
                  <a:srgbClr val="12283D"/>
                </a:solidFill>
                <a:latin typeface="Arial"/>
                <a:ea typeface="Arial"/>
                <a:cs typeface="Arial"/>
              </a:rPr>
              <a:t>Hard votes and weighted soft scores</a:t>
            </a:r>
          </a:p>
        </p:txBody>
      </p:sp>
      <p:sp>
        <p:nvSpPr>
          <p:cNvPr id="13" name="">
            <a:extLst xmlns:a="http://schemas.openxmlformats.org/drawingml/2006/main">
              <a:ext uri="{FF2B5EF4-FFF2-40B4-BE49-F238E27FC236}">
                <a16:creationId xmlns:a16="http://schemas.microsoft.com/office/drawing/2014/main" id="{FCBEF19C-D42D-4E30-BC74-218B2E79EB92}"/>
              </a:ext>
            </a:extLst>
          </p:cNvPr>
          <p:cNvSpPr>
            <a:spLocks xmlns:a="http://schemas.openxmlformats.org/drawingml/2006/main" noGrp="1"/>
          </p:cNvSpPr>
          <p:nvPr/>
        </p:nvSpPr>
        <p:spPr>
          <a:xfrm xmlns:a="http://schemas.openxmlformats.org/drawingml/2006/main">
            <a:off x="7334250" y="2009775"/>
            <a:ext cx="4286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325" b="1">
                <a:solidFill>
                  <a:srgbClr val="12283D"/>
                </a:solidFill>
                <a:latin typeface="Arial"/>
                <a:ea typeface="Arial"/>
                <a:cs typeface="Arial"/>
              </a:defRPr>
            </a:defPPr>
          </a:lstStyle>
          <a:p xmlns:a="http://schemas.openxmlformats.org/drawingml/2006/main">
            <a:pPr>
              <a:buNone/>
              <a:defRPr sz="2325" b="1">
                <a:solidFill>
                  <a:srgbClr val="12283D"/>
                </a:solidFill>
                <a:latin typeface="Arial"/>
                <a:ea typeface="Arial"/>
                <a:cs typeface="Arial"/>
              </a:defRPr>
            </a:pPr>
            <a:r>
              <a:rPr sz="2325" b="1">
                <a:solidFill>
                  <a:srgbClr val="12283D"/>
                </a:solidFill>
                <a:latin typeface="Arial"/>
                <a:ea typeface="Arial"/>
                <a:cs typeface="Arial"/>
              </a:rPr>
              <a:t>Frozen test protocol</a:t>
            </a:r>
          </a:p>
        </p:txBody>
      </p:sp>
      <p:sp>
        <p:nvSpPr>
          <p:cNvPr id="14" name="">
            <a:extLst xmlns:a="http://schemas.openxmlformats.org/drawingml/2006/main">
              <a:ext uri="{FF2B5EF4-FFF2-40B4-BE49-F238E27FC236}">
                <a16:creationId xmlns:a16="http://schemas.microsoft.com/office/drawing/2014/main" id="{ADE395E8-7A08-461A-AE28-9442157F294B}"/>
              </a:ext>
            </a:extLst>
          </p:cNvPr>
          <p:cNvSpPr>
            <a:spLocks xmlns:a="http://schemas.openxmlformats.org/drawingml/2006/main" noGrp="1"/>
          </p:cNvSpPr>
          <p:nvPr/>
        </p:nvSpPr>
        <p:spPr>
          <a:xfrm xmlns:a="http://schemas.openxmlformats.org/drawingml/2006/main">
            <a:off x="7334250" y="2657475"/>
            <a:ext cx="4238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2283D"/>
                </a:solidFill>
                <a:latin typeface="Arial"/>
                <a:ea typeface="Arial"/>
                <a:cs typeface="Arial"/>
              </a:defRPr>
            </a:defPPr>
          </a:lstStyle>
          <a:p xmlns:a="http://schemas.openxmlformats.org/drawingml/2006/main">
            <a:pPr>
              <a:buNone/>
              <a:defRPr sz="2025" b="0">
                <a:solidFill>
                  <a:srgbClr val="12283D"/>
                </a:solidFill>
                <a:latin typeface="Arial"/>
                <a:ea typeface="Arial"/>
                <a:cs typeface="Arial"/>
              </a:defRPr>
            </a:pPr>
            <a:r>
              <a:rPr sz="2025" b="0">
                <a:solidFill>
                  <a:srgbClr val="12283D"/>
                </a:solidFill>
                <a:latin typeface="Arial"/>
                <a:ea typeface="Arial"/>
                <a:cs typeface="Arial"/>
              </a:rPr>
              <a:t>Train on English + Turkish</a:t>
            </a:r>
          </a:p>
        </p:txBody>
      </p:sp>
      <p:sp>
        <p:nvSpPr>
          <p:cNvPr id="15" name="">
            <a:extLst xmlns:a="http://schemas.openxmlformats.org/drawingml/2006/main">
              <a:ext uri="{FF2B5EF4-FFF2-40B4-BE49-F238E27FC236}">
                <a16:creationId xmlns:a16="http://schemas.microsoft.com/office/drawing/2014/main" id="{9661A3BC-EE8E-4C88-802B-857C1161D3FD}"/>
              </a:ext>
            </a:extLst>
          </p:cNvPr>
          <p:cNvSpPr>
            <a:spLocks xmlns:a="http://schemas.openxmlformats.org/drawingml/2006/main" noGrp="1"/>
          </p:cNvSpPr>
          <p:nvPr/>
        </p:nvSpPr>
        <p:spPr>
          <a:xfrm xmlns:a="http://schemas.openxmlformats.org/drawingml/2006/main">
            <a:off x="7334250" y="3333750"/>
            <a:ext cx="4238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2283D"/>
                </a:solidFill>
                <a:latin typeface="Arial"/>
                <a:ea typeface="Arial"/>
                <a:cs typeface="Arial"/>
              </a:defRPr>
            </a:defPPr>
          </a:lstStyle>
          <a:p xmlns:a="http://schemas.openxmlformats.org/drawingml/2006/main">
            <a:pPr>
              <a:buNone/>
              <a:defRPr sz="2025" b="0">
                <a:solidFill>
                  <a:srgbClr val="12283D"/>
                </a:solidFill>
                <a:latin typeface="Arial"/>
                <a:ea typeface="Arial"/>
                <a:cs typeface="Arial"/>
              </a:defRPr>
            </a:pPr>
            <a:r>
              <a:rPr sz="2025" b="0">
                <a:solidFill>
                  <a:srgbClr val="12283D"/>
                </a:solidFill>
                <a:latin typeface="Arial"/>
                <a:ea typeface="Arial"/>
                <a:cs typeface="Arial"/>
              </a:rPr>
              <a:t>Val-A: tune member thresholds</a:t>
            </a:r>
          </a:p>
        </p:txBody>
      </p:sp>
      <p:sp>
        <p:nvSpPr>
          <p:cNvPr id="16" name="">
            <a:extLst xmlns:a="http://schemas.openxmlformats.org/drawingml/2006/main">
              <a:ext uri="{FF2B5EF4-FFF2-40B4-BE49-F238E27FC236}">
                <a16:creationId xmlns:a16="http://schemas.microsoft.com/office/drawing/2014/main" id="{EC18C2EE-F446-4353-B566-D42B04331CFB}"/>
              </a:ext>
            </a:extLst>
          </p:cNvPr>
          <p:cNvSpPr>
            <a:spLocks xmlns:a="http://schemas.openxmlformats.org/drawingml/2006/main" noGrp="1"/>
          </p:cNvSpPr>
          <p:nvPr/>
        </p:nvSpPr>
        <p:spPr>
          <a:xfrm xmlns:a="http://schemas.openxmlformats.org/drawingml/2006/main">
            <a:off x="7334250" y="4048125"/>
            <a:ext cx="4238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2283D"/>
                </a:solidFill>
                <a:latin typeface="Arial"/>
                <a:ea typeface="Arial"/>
                <a:cs typeface="Arial"/>
              </a:defRPr>
            </a:defPPr>
          </a:lstStyle>
          <a:p xmlns:a="http://schemas.openxmlformats.org/drawingml/2006/main">
            <a:pPr>
              <a:buNone/>
              <a:defRPr sz="2025" b="0">
                <a:solidFill>
                  <a:srgbClr val="12283D"/>
                </a:solidFill>
                <a:latin typeface="Arial"/>
                <a:ea typeface="Arial"/>
                <a:cs typeface="Arial"/>
              </a:defRPr>
            </a:pPr>
            <a:r>
              <a:rPr sz="2025" b="0">
                <a:solidFill>
                  <a:srgbClr val="12283D"/>
                </a:solidFill>
                <a:latin typeface="Arial"/>
                <a:ea typeface="Arial"/>
                <a:cs typeface="Arial"/>
              </a:rPr>
              <a:t>Val-B: tune ensemble settings</a:t>
            </a:r>
          </a:p>
        </p:txBody>
      </p:sp>
      <p:sp>
        <p:nvSpPr>
          <p:cNvPr id="17" name="">
            <a:extLst xmlns:a="http://schemas.openxmlformats.org/drawingml/2006/main">
              <a:ext uri="{FF2B5EF4-FFF2-40B4-BE49-F238E27FC236}">
                <a16:creationId xmlns:a16="http://schemas.microsoft.com/office/drawing/2014/main" id="{B4A3DA1D-EFFA-439A-A338-24D9D1F0F62B}"/>
              </a:ext>
            </a:extLst>
          </p:cNvPr>
          <p:cNvSpPr>
            <a:spLocks xmlns:a="http://schemas.openxmlformats.org/drawingml/2006/main" noGrp="1"/>
          </p:cNvSpPr>
          <p:nvPr/>
        </p:nvSpPr>
        <p:spPr>
          <a:xfrm xmlns:a="http://schemas.openxmlformats.org/drawingml/2006/main">
            <a:off x="7334250" y="4762500"/>
            <a:ext cx="4238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2283D"/>
                </a:solidFill>
                <a:latin typeface="Arial"/>
                <a:ea typeface="Arial"/>
                <a:cs typeface="Arial"/>
              </a:defRPr>
            </a:defPPr>
          </a:lstStyle>
          <a:p xmlns:a="http://schemas.openxmlformats.org/drawingml/2006/main">
            <a:pPr>
              <a:buNone/>
              <a:defRPr sz="2025" b="0">
                <a:solidFill>
                  <a:srgbClr val="12283D"/>
                </a:solidFill>
                <a:latin typeface="Arial"/>
                <a:ea typeface="Arial"/>
                <a:cs typeface="Arial"/>
              </a:defRPr>
            </a:pPr>
            <a:r>
              <a:rPr sz="2025" b="0">
                <a:solidFill>
                  <a:srgbClr val="12283D"/>
                </a:solidFill>
                <a:latin typeface="Arial"/>
                <a:ea typeface="Arial"/>
                <a:cs typeface="Arial"/>
              </a:rPr>
              <a:t>Test: direct + hierarchical F1</a:t>
            </a:r>
          </a:p>
        </p:txBody>
      </p:sp>
      <p:sp>
        <p:nvSpPr>
          <p:cNvPr id="18" name="">
            <a:extLst xmlns:a="http://schemas.openxmlformats.org/drawingml/2006/main">
              <a:ext uri="{FF2B5EF4-FFF2-40B4-BE49-F238E27FC236}">
                <a16:creationId xmlns:a16="http://schemas.microsoft.com/office/drawing/2014/main" id="{99DB466D-511A-4AE9-A4A9-6EFAC49D7701}"/>
              </a:ext>
            </a:extLst>
          </p:cNvPr>
          <p:cNvSpPr>
            <a:spLocks xmlns:a="http://schemas.openxmlformats.org/drawingml/2006/main" noGrp="1"/>
          </p:cNvSpPr>
          <p:nvPr/>
        </p:nvSpPr>
        <p:spPr>
          <a:xfrm xmlns:a="http://schemas.openxmlformats.org/drawingml/2006/main">
            <a:off x="609600" y="5857875"/>
            <a:ext cx="10953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16170"/>
                </a:solidFill>
                <a:latin typeface="Arial"/>
                <a:ea typeface="Arial"/>
                <a:cs typeface="Arial"/>
              </a:defRPr>
            </a:defPPr>
          </a:lstStyle>
          <a:p xmlns:a="http://schemas.openxmlformats.org/drawingml/2006/main">
            <a:pPr>
              <a:buNone/>
              <a:defRPr sz="1725" b="0">
                <a:solidFill>
                  <a:srgbClr val="516170"/>
                </a:solidFill>
                <a:latin typeface="Arial"/>
                <a:ea typeface="Arial"/>
                <a:cs typeface="Arial"/>
              </a:defRPr>
            </a:pPr>
            <a:r>
              <a:rPr sz="1725" b="0">
                <a:solidFill>
                  <a:srgbClr val="516170"/>
                </a:solidFill>
                <a:latin typeface="Arial"/>
                <a:ea typeface="Arial"/>
                <a:cs typeface="Arial"/>
              </a:rPr>
              <a:t>10,000 paired project bootstrap resamples, 95% intervals and Holm correction</a:t>
            </a:r>
          </a:p>
        </p:txBody>
      </p:sp>
    </p:spTree>
    <p:extLst>
      <p:ext uri="{BB962C8B-B14F-4D97-AF65-F5344CB8AC3E}">
        <p14:creationId xmlns:p14="http://schemas.microsoft.com/office/powerpoint/2010/main" val="123955955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2EE4938-63D0-4CAF-9A40-5705100D56A5}"/>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2283D"/>
                </a:solidFill>
                <a:latin typeface="Arial"/>
                <a:ea typeface="Arial"/>
                <a:cs typeface="Arial"/>
              </a:defRPr>
            </a:defPPr>
          </a:lstStyle>
          <a:p xmlns:a="http://schemas.openxmlformats.org/drawingml/2006/main">
            <a:pPr>
              <a:buNone/>
              <a:defRPr sz="3600" b="1">
                <a:solidFill>
                  <a:srgbClr val="12283D"/>
                </a:solidFill>
                <a:latin typeface="Arial"/>
                <a:ea typeface="Arial"/>
                <a:cs typeface="Arial"/>
              </a:defRPr>
            </a:pPr>
            <a:r>
              <a:rPr sz="3600" b="1">
                <a:solidFill>
                  <a:srgbClr val="12283D"/>
                </a:solidFill>
                <a:latin typeface="Arial"/>
                <a:ea typeface="Arial"/>
                <a:cs typeface="Arial"/>
              </a:rPr>
              <a:t>SVM leads the full benchmark</a:t>
            </a:r>
          </a:p>
        </p:txBody>
      </p:sp>
      <p:sp>
        <p:nvSpPr>
          <p:cNvPr id="2" name="">
            <a:extLst xmlns:a="http://schemas.openxmlformats.org/drawingml/2006/main">
              <a:ext uri="{FF2B5EF4-FFF2-40B4-BE49-F238E27FC236}">
                <a16:creationId xmlns:a16="http://schemas.microsoft.com/office/drawing/2014/main" id="{60A70566-0C99-40B8-9877-1DCC281BD940}"/>
              </a:ext>
            </a:extLst>
          </p:cNvPr>
          <p:cNvSpPr>
            <a:spLocks xmlns:a="http://schemas.openxmlformats.org/drawingml/2006/main" noGrp="1"/>
          </p:cNvSpPr>
          <p:nvPr/>
        </p:nvSpPr>
        <p:spPr>
          <a:xfrm xmlns:a="http://schemas.openxmlformats.org/drawingml/2006/main">
            <a:off x="609600" y="1181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16170"/>
                </a:solidFill>
                <a:latin typeface="Arial"/>
                <a:ea typeface="Arial"/>
                <a:cs typeface="Arial"/>
              </a:defRPr>
            </a:defPPr>
          </a:lstStyle>
          <a:p xmlns:a="http://schemas.openxmlformats.org/drawingml/2006/main">
            <a:pPr>
              <a:buNone/>
              <a:defRPr sz="1875" b="0">
                <a:solidFill>
                  <a:srgbClr val="516170"/>
                </a:solidFill>
                <a:latin typeface="Arial"/>
                <a:ea typeface="Arial"/>
                <a:cs typeface="Arial"/>
              </a:defRPr>
            </a:pPr>
            <a:r>
              <a:rPr sz="1875" b="0">
                <a:solidFill>
                  <a:srgbClr val="516170"/>
                </a:solidFill>
                <a:latin typeface="Arial"/>
                <a:ea typeface="Arial"/>
                <a:cs typeface="Arial"/>
              </a:rPr>
              <a:t>Direct-label micro-F1 on 4,711 test projects per language</a:t>
            </a:r>
          </a:p>
        </p:txBody>
      </p:sp>
      <p:sp>
        <p:nvSpPr>
          <p:cNvPr id="3" name="">
            <a:extLst xmlns:a="http://schemas.openxmlformats.org/drawingml/2006/main">
              <a:ext uri="{FF2B5EF4-FFF2-40B4-BE49-F238E27FC236}">
                <a16:creationId xmlns:a16="http://schemas.microsoft.com/office/drawing/2014/main" id="{C50BC687-111E-42D7-BC08-64E92B9354F2}"/>
              </a:ext>
            </a:extLst>
          </p:cNvPr>
          <p:cNvSpPr>
            <a:spLocks xmlns:a="http://schemas.openxmlformats.org/drawingml/2006/main" noGrp="1"/>
          </p:cNvSpPr>
          <p:nvPr/>
        </p:nvSpPr>
        <p:spPr>
          <a:xfrm xmlns:a="http://schemas.openxmlformats.org/drawingml/2006/main">
            <a:off x="10191750" y="6419850"/>
            <a:ext cx="1390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170"/>
                </a:solidFill>
                <a:latin typeface="Arial"/>
                <a:ea typeface="Arial"/>
                <a:cs typeface="Arial"/>
              </a:defRPr>
            </a:defPPr>
          </a:lstStyle>
          <a:p xmlns:a="http://schemas.openxmlformats.org/drawingml/2006/main">
            <a:pPr>
              <a:buNone/>
              <a:defRPr sz="1200" b="0">
                <a:solidFill>
                  <a:srgbClr val="516170"/>
                </a:solidFill>
                <a:latin typeface="Arial"/>
                <a:ea typeface="Arial"/>
                <a:cs typeface="Arial"/>
              </a:defRPr>
            </a:pPr>
            <a:r>
              <a:rPr sz="1200" b="0">
                <a:solidFill>
                  <a:srgbClr val="516170"/>
                </a:solidFill>
                <a:latin typeface="Arial"/>
                <a:ea typeface="Arial"/>
                <a:cs typeface="Arial"/>
              </a:rPr>
              <a:t>NALTRA   4/5</a:t>
            </a:r>
          </a:p>
        </p:txBody>
      </p:sp>
      <p:graphicFrame>
        <p:nvGraphicFramePr>
          <p:cNvPr id="4" name="Chart">
            <a:extLst xmlns:a="http://schemas.openxmlformats.org/drawingml/2006/main">
              <a:ext uri="{FF2B5EF4-FFF2-40B4-BE49-F238E27FC236}">
                <a16:creationId xmlns:a16="http://schemas.microsoft.com/office/drawing/2014/main" id="{62355B65-D71D-43F9-84D0-370BA7A1CD51}"/>
              </a:ext>
            </a:extLst>
          </p:cNvPr>
          <p:cNvGraphicFramePr/>
          <p:nvPr/>
        </p:nvGraphicFramePr>
        <p:xfrm>
          <a:off xmlns:a="http://schemas.openxmlformats.org/drawingml/2006/main" x="552450" y="1819275"/>
          <a:ext xmlns:a="http://schemas.openxmlformats.org/drawingml/2006/main" cx="7810500" cy="4210050"/>
        </p:xfrm>
        <a:graphic xmlns:a="http://schemas.openxmlformats.org/drawingml/2006/main">
          <a:graphicData uri="http://schemas.openxmlformats.org/drawingml/2006/chart">
            <c:chart xmlns:r="http://schemas.openxmlformats.org/officeDocument/2006/relationships" xmlns:c="http://schemas.openxmlformats.org/drawingml/2006/chart" r:id="R6564bc74c1f04e61"/>
          </a:graphicData>
        </a:graphic>
      </p:graphicFrame>
      <p:sp>
        <p:nvSpPr>
          <p:cNvPr id="5" name="">
            <a:extLst xmlns:a="http://schemas.openxmlformats.org/drawingml/2006/main">
              <a:ext uri="{FF2B5EF4-FFF2-40B4-BE49-F238E27FC236}">
                <a16:creationId xmlns:a16="http://schemas.microsoft.com/office/drawing/2014/main" id="{4D0395B2-6E40-4691-8A77-1FF5FFF56064}"/>
              </a:ext>
            </a:extLst>
          </p:cNvPr>
          <p:cNvSpPr>
            <a:spLocks xmlns:a="http://schemas.openxmlformats.org/drawingml/2006/main" noGrp="1"/>
          </p:cNvSpPr>
          <p:nvPr/>
        </p:nvSpPr>
        <p:spPr>
          <a:xfrm xmlns:a="http://schemas.openxmlformats.org/drawingml/2006/main">
            <a:off x="8943975" y="2124075"/>
            <a:ext cx="2571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12283D"/>
                </a:solidFill>
                <a:latin typeface="Arial"/>
                <a:ea typeface="Arial"/>
                <a:cs typeface="Arial"/>
              </a:defRPr>
            </a:defPPr>
          </a:lstStyle>
          <a:p xmlns:a="http://schemas.openxmlformats.org/drawingml/2006/main">
            <a:pPr>
              <a:buNone/>
              <a:defRPr sz="2100" b="1">
                <a:solidFill>
                  <a:srgbClr val="12283D"/>
                </a:solidFill>
                <a:latin typeface="Arial"/>
                <a:ea typeface="Arial"/>
                <a:cs typeface="Arial"/>
              </a:defRPr>
            </a:pPr>
            <a:r>
              <a:rPr sz="2100" b="1">
                <a:solidFill>
                  <a:srgbClr val="12283D"/>
                </a:solidFill>
                <a:latin typeface="Arial"/>
                <a:ea typeface="Arial"/>
                <a:cs typeface="Arial"/>
              </a:rPr>
              <a:t>SVM on CPU</a:t>
            </a:r>
          </a:p>
        </p:txBody>
      </p:sp>
      <p:sp>
        <p:nvSpPr>
          <p:cNvPr id="6" name="">
            <a:extLst xmlns:a="http://schemas.openxmlformats.org/drawingml/2006/main">
              <a:ext uri="{FF2B5EF4-FFF2-40B4-BE49-F238E27FC236}">
                <a16:creationId xmlns:a16="http://schemas.microsoft.com/office/drawing/2014/main" id="{55550715-CD25-4C77-87AE-5C60228626F1}"/>
              </a:ext>
            </a:extLst>
          </p:cNvPr>
          <p:cNvSpPr>
            <a:spLocks xmlns:a="http://schemas.openxmlformats.org/drawingml/2006/main" noGrp="1"/>
          </p:cNvSpPr>
          <p:nvPr/>
        </p:nvSpPr>
        <p:spPr>
          <a:xfrm xmlns:a="http://schemas.openxmlformats.org/drawingml/2006/main">
            <a:off x="8943975" y="2667000"/>
            <a:ext cx="2571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125" b="1">
                <a:solidFill>
                  <a:srgbClr val="2878B5"/>
                </a:solidFill>
                <a:latin typeface="Arial"/>
                <a:ea typeface="Arial"/>
                <a:cs typeface="Arial"/>
              </a:defRPr>
            </a:defPPr>
          </a:lstStyle>
          <a:p xmlns:a="http://schemas.openxmlformats.org/drawingml/2006/main">
            <a:pPr>
              <a:buNone/>
              <a:defRPr sz="4125" b="1">
                <a:solidFill>
                  <a:srgbClr val="2878B5"/>
                </a:solidFill>
                <a:latin typeface="Arial"/>
                <a:ea typeface="Arial"/>
                <a:cs typeface="Arial"/>
              </a:defRPr>
            </a:pPr>
            <a:r>
              <a:rPr sz="4125" b="1">
                <a:solidFill>
                  <a:srgbClr val="2878B5"/>
                </a:solidFill>
                <a:latin typeface="Arial"/>
                <a:ea typeface="Arial"/>
                <a:cs typeface="Arial"/>
              </a:rPr>
              <a:t>2.0 ms</a:t>
            </a:r>
          </a:p>
        </p:txBody>
      </p:sp>
      <p:sp>
        <p:nvSpPr>
          <p:cNvPr id="7" name="">
            <a:extLst xmlns:a="http://schemas.openxmlformats.org/drawingml/2006/main">
              <a:ext uri="{FF2B5EF4-FFF2-40B4-BE49-F238E27FC236}">
                <a16:creationId xmlns:a16="http://schemas.microsoft.com/office/drawing/2014/main" id="{85EEB3B7-C3D8-4065-A7C7-ED65AA6C374E}"/>
              </a:ext>
            </a:extLst>
          </p:cNvPr>
          <p:cNvSpPr>
            <a:spLocks xmlns:a="http://schemas.openxmlformats.org/drawingml/2006/main" noGrp="1"/>
          </p:cNvSpPr>
          <p:nvPr/>
        </p:nvSpPr>
        <p:spPr>
          <a:xfrm xmlns:a="http://schemas.openxmlformats.org/drawingml/2006/main">
            <a:off x="8943975" y="3343275"/>
            <a:ext cx="2571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16170"/>
                </a:solidFill>
                <a:latin typeface="Arial"/>
                <a:ea typeface="Arial"/>
                <a:cs typeface="Arial"/>
              </a:defRPr>
            </a:defPPr>
          </a:lstStyle>
          <a:p xmlns:a="http://schemas.openxmlformats.org/drawingml/2006/main">
            <a:pPr>
              <a:buNone/>
              <a:defRPr sz="1800" b="0">
                <a:solidFill>
                  <a:srgbClr val="516170"/>
                </a:solidFill>
                <a:latin typeface="Arial"/>
                <a:ea typeface="Arial"/>
                <a:cs typeface="Arial"/>
              </a:defRPr>
            </a:pPr>
            <a:r>
              <a:rPr sz="1800" b="0">
                <a:solidFill>
                  <a:srgbClr val="516170"/>
                </a:solidFill>
                <a:latin typeface="Arial"/>
                <a:ea typeface="Arial"/>
                <a:cs typeface="Arial"/>
              </a:rPr>
              <a:t>median single-text latency</a:t>
            </a:r>
          </a:p>
        </p:txBody>
      </p:sp>
      <p:sp>
        <p:nvSpPr>
          <p:cNvPr id="8" name="">
            <a:extLst xmlns:a="http://schemas.openxmlformats.org/drawingml/2006/main">
              <a:ext uri="{FF2B5EF4-FFF2-40B4-BE49-F238E27FC236}">
                <a16:creationId xmlns:a16="http://schemas.microsoft.com/office/drawing/2014/main" id="{18345A09-5DCE-4C13-9B74-C70420D682EF}"/>
              </a:ext>
            </a:extLst>
          </p:cNvPr>
          <p:cNvSpPr>
            <a:spLocks xmlns:a="http://schemas.openxmlformats.org/drawingml/2006/main" noGrp="1"/>
          </p:cNvSpPr>
          <p:nvPr/>
        </p:nvSpPr>
        <p:spPr>
          <a:xfrm xmlns:a="http://schemas.openxmlformats.org/drawingml/2006/main">
            <a:off x="8943975" y="4124325"/>
            <a:ext cx="2571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75" b="1">
                <a:solidFill>
                  <a:srgbClr val="2878B5"/>
                </a:solidFill>
                <a:latin typeface="Arial"/>
                <a:ea typeface="Arial"/>
                <a:cs typeface="Arial"/>
              </a:defRPr>
            </a:defPPr>
          </a:lstStyle>
          <a:p xmlns:a="http://schemas.openxmlformats.org/drawingml/2006/main">
            <a:pPr>
              <a:buNone/>
              <a:defRPr sz="3975" b="1">
                <a:solidFill>
                  <a:srgbClr val="2878B5"/>
                </a:solidFill>
                <a:latin typeface="Arial"/>
                <a:ea typeface="Arial"/>
                <a:cs typeface="Arial"/>
              </a:defRPr>
            </a:pPr>
            <a:r>
              <a:rPr sz="3975" b="1">
                <a:solidFill>
                  <a:srgbClr val="2878B5"/>
                </a:solidFill>
                <a:latin typeface="Arial"/>
                <a:ea typeface="Arial"/>
                <a:cs typeface="Arial"/>
              </a:rPr>
              <a:t>739.6</a:t>
            </a:r>
          </a:p>
        </p:txBody>
      </p:sp>
      <p:sp>
        <p:nvSpPr>
          <p:cNvPr id="9" name="">
            <a:extLst xmlns:a="http://schemas.openxmlformats.org/drawingml/2006/main">
              <a:ext uri="{FF2B5EF4-FFF2-40B4-BE49-F238E27FC236}">
                <a16:creationId xmlns:a16="http://schemas.microsoft.com/office/drawing/2014/main" id="{ACB93425-3852-46CF-ACA7-1ABD7AE36D17}"/>
              </a:ext>
            </a:extLst>
          </p:cNvPr>
          <p:cNvSpPr>
            <a:spLocks xmlns:a="http://schemas.openxmlformats.org/drawingml/2006/main" noGrp="1"/>
          </p:cNvSpPr>
          <p:nvPr/>
        </p:nvSpPr>
        <p:spPr>
          <a:xfrm xmlns:a="http://schemas.openxmlformats.org/drawingml/2006/main">
            <a:off x="8943975" y="4819650"/>
            <a:ext cx="2571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16170"/>
                </a:solidFill>
                <a:latin typeface="Arial"/>
                <a:ea typeface="Arial"/>
                <a:cs typeface="Arial"/>
              </a:defRPr>
            </a:defPPr>
          </a:lstStyle>
          <a:p xmlns:a="http://schemas.openxmlformats.org/drawingml/2006/main">
            <a:pPr>
              <a:buNone/>
              <a:defRPr sz="1800" b="0">
                <a:solidFill>
                  <a:srgbClr val="516170"/>
                </a:solidFill>
                <a:latin typeface="Arial"/>
                <a:ea typeface="Arial"/>
                <a:cs typeface="Arial"/>
              </a:defRPr>
            </a:pPr>
            <a:r>
              <a:rPr sz="1800" b="0">
                <a:solidFill>
                  <a:srgbClr val="516170"/>
                </a:solidFill>
                <a:latin typeface="Arial"/>
                <a:ea typeface="Arial"/>
                <a:cs typeface="Arial"/>
              </a:rPr>
              <a:t>texts/s with batches of 64</a:t>
            </a:r>
          </a:p>
        </p:txBody>
      </p:sp>
      <p:sp>
        <p:nvSpPr>
          <p:cNvPr id="10" name="">
            <a:extLst xmlns:a="http://schemas.openxmlformats.org/drawingml/2006/main">
              <a:ext uri="{FF2B5EF4-FFF2-40B4-BE49-F238E27FC236}">
                <a16:creationId xmlns:a16="http://schemas.microsoft.com/office/drawing/2014/main" id="{0A4F3710-3D8E-4E91-816E-8771443D54CF}"/>
              </a:ext>
            </a:extLst>
          </p:cNvPr>
          <p:cNvSpPr>
            <a:spLocks xmlns:a="http://schemas.openxmlformats.org/drawingml/2006/main" noGrp="1"/>
          </p:cNvSpPr>
          <p:nvPr/>
        </p:nvSpPr>
        <p:spPr>
          <a:xfrm xmlns:a="http://schemas.openxmlformats.org/drawingml/2006/main">
            <a:off x="609600" y="6153150"/>
            <a:ext cx="109537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75" b="0">
                <a:solidFill>
                  <a:srgbClr val="516170"/>
                </a:solidFill>
                <a:latin typeface="Arial"/>
                <a:ea typeface="Arial"/>
                <a:cs typeface="Arial"/>
              </a:defRPr>
            </a:defPPr>
          </a:lstStyle>
          <a:p xmlns:a="http://schemas.openxmlformats.org/drawingml/2006/main">
            <a:pPr>
              <a:buNone/>
              <a:defRPr sz="1575" b="0">
                <a:solidFill>
                  <a:srgbClr val="516170"/>
                </a:solidFill>
                <a:latin typeface="Arial"/>
                <a:ea typeface="Arial"/>
                <a:cs typeface="Arial"/>
              </a:defRPr>
            </a:pPr>
            <a:r>
              <a:rPr sz="1575" b="0">
                <a:solidFill>
                  <a:srgbClr val="516170"/>
                </a:solidFill>
                <a:latin typeface="Arial"/>
                <a:ea typeface="Arial"/>
                <a:cs typeface="Arial"/>
              </a:rPr>
              <a:t>CPU run: 200 texts, 10 warm-ups, 4 torch threads. No tested ensemble beats SVM.</a:t>
            </a:r>
          </a:p>
        </p:txBody>
      </p:sp>
    </p:spTree>
    <p:extLst>
      <p:ext uri="{BB962C8B-B14F-4D97-AF65-F5344CB8AC3E}">
        <p14:creationId xmlns:p14="http://schemas.microsoft.com/office/powerpoint/2010/main" val="117635690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3B920F5-52D0-4910-9550-5BBF9296580C}"/>
              </a:ext>
            </a:extLst>
          </p:cNvPr>
          <p:cNvSpPr>
            <a:spLocks xmlns:a="http://schemas.openxmlformats.org/drawingml/2006/main" noGrp="1"/>
          </p:cNvSpPr>
          <p:nvPr/>
        </p:nvSpPr>
        <p:spPr>
          <a:xfrm xmlns:a="http://schemas.openxmlformats.org/drawingml/2006/main">
            <a:off x="609600" y="45720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2283D"/>
                </a:solidFill>
                <a:latin typeface="Arial"/>
                <a:ea typeface="Arial"/>
                <a:cs typeface="Arial"/>
              </a:defRPr>
            </a:defPPr>
          </a:lstStyle>
          <a:p xmlns:a="http://schemas.openxmlformats.org/drawingml/2006/main">
            <a:pPr>
              <a:buNone/>
              <a:defRPr sz="3600" b="1">
                <a:solidFill>
                  <a:srgbClr val="12283D"/>
                </a:solidFill>
                <a:latin typeface="Arial"/>
                <a:ea typeface="Arial"/>
                <a:cs typeface="Arial"/>
              </a:defRPr>
            </a:pPr>
            <a:r>
              <a:rPr sz="3600" b="1">
                <a:solidFill>
                  <a:srgbClr val="12283D"/>
                </a:solidFill>
                <a:latin typeface="Arial"/>
                <a:ea typeface="Arial"/>
                <a:cs typeface="Arial"/>
              </a:rPr>
              <a:t>Robustness and interpretation</a:t>
            </a:r>
          </a:p>
        </p:txBody>
      </p:sp>
      <p:sp>
        <p:nvSpPr>
          <p:cNvPr id="2" name="">
            <a:extLst xmlns:a="http://schemas.openxmlformats.org/drawingml/2006/main">
              <a:ext uri="{FF2B5EF4-FFF2-40B4-BE49-F238E27FC236}">
                <a16:creationId xmlns:a16="http://schemas.microsoft.com/office/drawing/2014/main" id="{BB59A85F-E34D-4587-AEAD-58BB60B9AB92}"/>
              </a:ext>
            </a:extLst>
          </p:cNvPr>
          <p:cNvSpPr>
            <a:spLocks xmlns:a="http://schemas.openxmlformats.org/drawingml/2006/main" noGrp="1"/>
          </p:cNvSpPr>
          <p:nvPr/>
        </p:nvSpPr>
        <p:spPr>
          <a:xfrm xmlns:a="http://schemas.openxmlformats.org/drawingml/2006/main">
            <a:off x="609600" y="11811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516170"/>
                </a:solidFill>
                <a:latin typeface="Arial"/>
                <a:ea typeface="Arial"/>
                <a:cs typeface="Arial"/>
              </a:defRPr>
            </a:defPPr>
          </a:lstStyle>
          <a:p xmlns:a="http://schemas.openxmlformats.org/drawingml/2006/main">
            <a:pPr>
              <a:buNone/>
              <a:defRPr sz="1875" b="0">
                <a:solidFill>
                  <a:srgbClr val="516170"/>
                </a:solidFill>
                <a:latin typeface="Arial"/>
                <a:ea typeface="Arial"/>
                <a:cs typeface="Arial"/>
              </a:defRPr>
            </a:pPr>
            <a:r>
              <a:rPr sz="1875" b="0">
                <a:solidFill>
                  <a:srgbClr val="516170"/>
                </a:solidFill>
                <a:latin typeface="Arial"/>
                <a:ea typeface="Arial"/>
                <a:cs typeface="Arial"/>
              </a:rPr>
              <a:t>English micro-F1 loss under language and noise shifts</a:t>
            </a:r>
          </a:p>
        </p:txBody>
      </p:sp>
      <p:sp>
        <p:nvSpPr>
          <p:cNvPr id="3" name="">
            <a:extLst xmlns:a="http://schemas.openxmlformats.org/drawingml/2006/main">
              <a:ext uri="{FF2B5EF4-FFF2-40B4-BE49-F238E27FC236}">
                <a16:creationId xmlns:a16="http://schemas.microsoft.com/office/drawing/2014/main" id="{548EEBB9-8D8F-438E-887E-51E3F7BBD089}"/>
              </a:ext>
            </a:extLst>
          </p:cNvPr>
          <p:cNvSpPr>
            <a:spLocks xmlns:a="http://schemas.openxmlformats.org/drawingml/2006/main" noGrp="1"/>
          </p:cNvSpPr>
          <p:nvPr/>
        </p:nvSpPr>
        <p:spPr>
          <a:xfrm xmlns:a="http://schemas.openxmlformats.org/drawingml/2006/main">
            <a:off x="10191750" y="6419850"/>
            <a:ext cx="1390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16170"/>
                </a:solidFill>
                <a:latin typeface="Arial"/>
                <a:ea typeface="Arial"/>
                <a:cs typeface="Arial"/>
              </a:defRPr>
            </a:defPPr>
          </a:lstStyle>
          <a:p xmlns:a="http://schemas.openxmlformats.org/drawingml/2006/main">
            <a:pPr>
              <a:buNone/>
              <a:defRPr sz="1200" b="0">
                <a:solidFill>
                  <a:srgbClr val="516170"/>
                </a:solidFill>
                <a:latin typeface="Arial"/>
                <a:ea typeface="Arial"/>
                <a:cs typeface="Arial"/>
              </a:defRPr>
            </a:pPr>
            <a:r>
              <a:rPr sz="1200" b="0">
                <a:solidFill>
                  <a:srgbClr val="516170"/>
                </a:solidFill>
                <a:latin typeface="Arial"/>
                <a:ea typeface="Arial"/>
                <a:cs typeface="Arial"/>
              </a:rPr>
              <a:t>NALTRA   5/5</a:t>
            </a:r>
          </a:p>
        </p:txBody>
      </p:sp>
      <p:graphicFrame>
        <p:nvGraphicFramePr>
          <p:cNvPr id="4" name="Chart">
            <a:extLst xmlns:a="http://schemas.openxmlformats.org/drawingml/2006/main">
              <a:ext uri="{FF2B5EF4-FFF2-40B4-BE49-F238E27FC236}">
                <a16:creationId xmlns:a16="http://schemas.microsoft.com/office/drawing/2014/main" id="{16198DA8-4184-4830-8222-81AAB76F7C3B}"/>
              </a:ext>
            </a:extLst>
          </p:cNvPr>
          <p:cNvGraphicFramePr/>
          <p:nvPr/>
        </p:nvGraphicFramePr>
        <p:xfrm>
          <a:off xmlns:a="http://schemas.openxmlformats.org/drawingml/2006/main" x="590550" y="2019300"/>
          <a:ext xmlns:a="http://schemas.openxmlformats.org/drawingml/2006/main" cx="6191250" cy="3505200"/>
        </p:xfrm>
        <a:graphic xmlns:a="http://schemas.openxmlformats.org/drawingml/2006/main">
          <a:graphicData uri="http://schemas.openxmlformats.org/drawingml/2006/chart">
            <c:chart xmlns:r="http://schemas.openxmlformats.org/officeDocument/2006/relationships" xmlns:c="http://schemas.openxmlformats.org/drawingml/2006/chart" r:id="Ra10ce9355f184d97"/>
          </a:graphicData>
        </a:graphic>
      </p:graphicFrame>
      <p:sp>
        <p:nvSpPr>
          <p:cNvPr id="5" name="">
            <a:extLst xmlns:a="http://schemas.openxmlformats.org/drawingml/2006/main">
              <a:ext uri="{FF2B5EF4-FFF2-40B4-BE49-F238E27FC236}">
                <a16:creationId xmlns:a16="http://schemas.microsoft.com/office/drawing/2014/main" id="{13662390-63A6-49DD-B857-F92785CD00E2}"/>
              </a:ext>
            </a:extLst>
          </p:cNvPr>
          <p:cNvSpPr>
            <a:spLocks xmlns:a="http://schemas.openxmlformats.org/drawingml/2006/main" noGrp="1"/>
          </p:cNvSpPr>
          <p:nvPr/>
        </p:nvSpPr>
        <p:spPr>
          <a:xfrm xmlns:a="http://schemas.openxmlformats.org/drawingml/2006/main">
            <a:off x="7477125" y="2085975"/>
            <a:ext cx="41052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2283D"/>
                </a:solidFill>
                <a:latin typeface="Arial"/>
                <a:ea typeface="Arial"/>
                <a:cs typeface="Arial"/>
              </a:defRPr>
            </a:defPPr>
          </a:lstStyle>
          <a:p xmlns:a="http://schemas.openxmlformats.org/drawingml/2006/main">
            <a:pPr>
              <a:buNone/>
              <a:defRPr sz="2175" b="1">
                <a:solidFill>
                  <a:srgbClr val="12283D"/>
                </a:solidFill>
                <a:latin typeface="Arial"/>
                <a:ea typeface="Arial"/>
                <a:cs typeface="Arial"/>
              </a:defRPr>
            </a:pPr>
            <a:r>
              <a:rPr sz="2175" b="1">
                <a:solidFill>
                  <a:srgbClr val="12283D"/>
                </a:solidFill>
                <a:latin typeface="Arial"/>
                <a:ea typeface="Arial"/>
                <a:cs typeface="Arial"/>
              </a:rPr>
              <a:t>Humanities OOD detection</a:t>
            </a:r>
          </a:p>
        </p:txBody>
      </p:sp>
      <p:sp>
        <p:nvSpPr>
          <p:cNvPr id="6" name="">
            <a:extLst xmlns:a="http://schemas.openxmlformats.org/drawingml/2006/main">
              <a:ext uri="{FF2B5EF4-FFF2-40B4-BE49-F238E27FC236}">
                <a16:creationId xmlns:a16="http://schemas.microsoft.com/office/drawing/2014/main" id="{C7E0E552-6890-4322-842B-50ED3C168984}"/>
              </a:ext>
            </a:extLst>
          </p:cNvPr>
          <p:cNvSpPr>
            <a:spLocks xmlns:a="http://schemas.openxmlformats.org/drawingml/2006/main" noGrp="1"/>
          </p:cNvSpPr>
          <p:nvPr/>
        </p:nvSpPr>
        <p:spPr>
          <a:xfrm xmlns:a="http://schemas.openxmlformats.org/drawingml/2006/main">
            <a:off x="7477125" y="2657475"/>
            <a:ext cx="4105275"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12283D"/>
                </a:solidFill>
                <a:latin typeface="Arial"/>
                <a:ea typeface="Arial"/>
                <a:cs typeface="Arial"/>
              </a:defRPr>
            </a:defPPr>
          </a:lstStyle>
          <a:p xmlns:a="http://schemas.openxmlformats.org/drawingml/2006/main">
            <a:pPr>
              <a:buNone/>
              <a:defRPr sz="1875" b="0">
                <a:solidFill>
                  <a:srgbClr val="12283D"/>
                </a:solidFill>
                <a:latin typeface="Arial"/>
                <a:ea typeface="Arial"/>
                <a:cs typeface="Arial"/>
              </a:defRPr>
            </a:pPr>
            <a:r>
              <a:rPr sz="1875" b="0">
                <a:solidFill>
                  <a:srgbClr val="12283D"/>
                </a:solidFill>
                <a:latin typeface="Arial"/>
                <a:ea typeface="Arial"/>
                <a:cs typeface="Arial"/>
              </a:rPr>
              <a:t>SVM AUROC: 0.927 EN / 0.924 TR</a:t>
            </a:r>
          </a:p>
        </p:txBody>
      </p:sp>
      <p:sp>
        <p:nvSpPr>
          <p:cNvPr id="7" name="">
            <a:extLst xmlns:a="http://schemas.openxmlformats.org/drawingml/2006/main">
              <a:ext uri="{FF2B5EF4-FFF2-40B4-BE49-F238E27FC236}">
                <a16:creationId xmlns:a16="http://schemas.microsoft.com/office/drawing/2014/main" id="{AD7778A8-5C60-4E19-9071-467B256D39A0}"/>
              </a:ext>
            </a:extLst>
          </p:cNvPr>
          <p:cNvSpPr>
            <a:spLocks xmlns:a="http://schemas.openxmlformats.org/drawingml/2006/main" noGrp="1"/>
          </p:cNvSpPr>
          <p:nvPr/>
        </p:nvSpPr>
        <p:spPr>
          <a:xfrm xmlns:a="http://schemas.openxmlformats.org/drawingml/2006/main">
            <a:off x="7477125" y="3324225"/>
            <a:ext cx="41052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725" b="0">
                <a:solidFill>
                  <a:srgbClr val="516170"/>
                </a:solidFill>
                <a:latin typeface="Arial"/>
                <a:ea typeface="Arial"/>
                <a:cs typeface="Arial"/>
              </a:defRPr>
            </a:defPPr>
          </a:lstStyle>
          <a:p xmlns:a="http://schemas.openxmlformats.org/drawingml/2006/main">
            <a:pPr>
              <a:buNone/>
              <a:defRPr sz="1725" b="0">
                <a:solidFill>
                  <a:srgbClr val="516170"/>
                </a:solidFill>
                <a:latin typeface="Arial"/>
                <a:ea typeface="Arial"/>
                <a:cs typeface="Arial"/>
              </a:defRPr>
            </a:pPr>
            <a:r>
              <a:rPr sz="1725" b="0">
                <a:solidFill>
                  <a:srgbClr val="516170"/>
                </a:solidFill>
                <a:latin typeface="Arial"/>
                <a:ea typeface="Arial"/>
                <a:cs typeface="Arial"/>
              </a:rPr>
              <a:t>94 OOD projects per language</a:t>
            </a:r>
          </a:p>
        </p:txBody>
      </p:sp>
      <p:sp>
        <p:nvSpPr>
          <p:cNvPr id="8" name="">
            <a:extLst xmlns:a="http://schemas.openxmlformats.org/drawingml/2006/main">
              <a:ext uri="{FF2B5EF4-FFF2-40B4-BE49-F238E27FC236}">
                <a16:creationId xmlns:a16="http://schemas.microsoft.com/office/drawing/2014/main" id="{C952D994-A31C-4398-9B2F-2D0B3EF89375}"/>
              </a:ext>
            </a:extLst>
          </p:cNvPr>
          <p:cNvSpPr>
            <a:spLocks xmlns:a="http://schemas.openxmlformats.org/drawingml/2006/main" noGrp="1"/>
          </p:cNvSpPr>
          <p:nvPr/>
        </p:nvSpPr>
        <p:spPr>
          <a:xfrm xmlns:a="http://schemas.openxmlformats.org/drawingml/2006/main">
            <a:off x="7477125" y="3962400"/>
            <a:ext cx="41052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12283D"/>
                </a:solidFill>
                <a:latin typeface="Arial"/>
                <a:ea typeface="Arial"/>
                <a:cs typeface="Arial"/>
              </a:defRPr>
            </a:defPPr>
          </a:lstStyle>
          <a:p xmlns:a="http://schemas.openxmlformats.org/drawingml/2006/main">
            <a:pPr>
              <a:buNone/>
              <a:defRPr sz="2175" b="1">
                <a:solidFill>
                  <a:srgbClr val="12283D"/>
                </a:solidFill>
                <a:latin typeface="Arial"/>
                <a:ea typeface="Arial"/>
                <a:cs typeface="Arial"/>
              </a:defRPr>
            </a:pPr>
            <a:r>
              <a:rPr sz="2175" b="1">
                <a:solidFill>
                  <a:srgbClr val="12283D"/>
                </a:solidFill>
                <a:latin typeface="Arial"/>
                <a:ea typeface="Arial"/>
                <a:cs typeface="Arial"/>
              </a:rPr>
              <a:t>Limits</a:t>
            </a:r>
          </a:p>
        </p:txBody>
      </p:sp>
      <p:sp>
        <p:nvSpPr>
          <p:cNvPr id="9" name="">
            <a:extLst xmlns:a="http://schemas.openxmlformats.org/drawingml/2006/main">
              <a:ext uri="{FF2B5EF4-FFF2-40B4-BE49-F238E27FC236}">
                <a16:creationId xmlns:a16="http://schemas.microsoft.com/office/drawing/2014/main" id="{7A8DF544-30D6-4A37-A0D3-8E71A24FB1FA}"/>
              </a:ext>
            </a:extLst>
          </p:cNvPr>
          <p:cNvSpPr>
            <a:spLocks xmlns:a="http://schemas.openxmlformats.org/drawingml/2006/main" noGrp="1"/>
          </p:cNvSpPr>
          <p:nvPr/>
        </p:nvSpPr>
        <p:spPr>
          <a:xfrm xmlns:a="http://schemas.openxmlformats.org/drawingml/2006/main">
            <a:off x="7477125" y="4505325"/>
            <a:ext cx="410527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12283D"/>
                </a:solidFill>
                <a:latin typeface="Arial"/>
                <a:ea typeface="Arial"/>
                <a:cs typeface="Arial"/>
              </a:defRPr>
            </a:defPPr>
          </a:lstStyle>
          <a:p xmlns:a="http://schemas.openxmlformats.org/drawingml/2006/main">
            <a:pPr>
              <a:buNone/>
              <a:defRPr sz="1800" b="0">
                <a:solidFill>
                  <a:srgbClr val="12283D"/>
                </a:solidFill>
                <a:latin typeface="Arial"/>
                <a:ea typeface="Arial"/>
                <a:cs typeface="Arial"/>
              </a:defRPr>
            </a:pPr>
            <a:r>
              <a:rPr sz="1800" b="0">
                <a:solidFill>
                  <a:srgbClr val="12283D"/>
                </a:solidFill>
                <a:latin typeface="Arial"/>
                <a:ea typeface="Arial"/>
                <a:cs typeface="Arial"/>
              </a:rPr>
              <a:t>Silver labels and synthetic variants</a:t>
            </a:r>
          </a:p>
          <a:p xmlns:a="http://schemas.openxmlformats.org/drawingml/2006/main">
            <a:pPr>
              <a:buNone/>
              <a:defRPr sz="1800" b="0">
                <a:solidFill>
                  <a:srgbClr val="12283D"/>
                </a:solidFill>
                <a:latin typeface="Arial"/>
                <a:ea typeface="Arial"/>
                <a:cs typeface="Arial"/>
              </a:defRPr>
            </a:pPr>
            <a:r>
              <a:rPr sz="1800" b="0">
                <a:solidFill>
                  <a:srgbClr val="12283D"/>
                </a:solidFill>
                <a:latin typeface="Arial"/>
                <a:ea typeface="Arial"/>
                <a:cs typeface="Arial"/>
              </a:rPr>
              <a:t>One training seed</a:t>
            </a:r>
          </a:p>
          <a:p xmlns:a="http://schemas.openxmlformats.org/drawingml/2006/main">
            <a:pPr>
              <a:buNone/>
              <a:defRPr sz="1800" b="0">
                <a:solidFill>
                  <a:srgbClr val="12283D"/>
                </a:solidFill>
                <a:latin typeface="Arial"/>
                <a:ea typeface="Arial"/>
                <a:cs typeface="Arial"/>
              </a:defRPr>
            </a:pPr>
            <a:r>
              <a:rPr sz="1800" b="0">
                <a:solidFill>
                  <a:srgbClr val="12283D"/>
                </a:solidFill>
                <a:latin typeface="Arial"/>
                <a:ea typeface="Arial"/>
                <a:cs typeface="Arial"/>
              </a:rPr>
              <a:t>Original artifact verification pending</a:t>
            </a:r>
          </a:p>
        </p:txBody>
      </p:sp>
      <p:sp>
        <p:nvSpPr>
          <p:cNvPr id="10" name="">
            <a:extLst xmlns:a="http://schemas.openxmlformats.org/drawingml/2006/main">
              <a:ext uri="{FF2B5EF4-FFF2-40B4-BE49-F238E27FC236}">
                <a16:creationId xmlns:a16="http://schemas.microsoft.com/office/drawing/2014/main" id="{DF25DFA5-F9A3-49D4-8601-E39D5FC11462}"/>
              </a:ext>
            </a:extLst>
          </p:cNvPr>
          <p:cNvSpPr>
            <a:spLocks xmlns:a="http://schemas.openxmlformats.org/drawingml/2006/main" noGrp="1"/>
          </p:cNvSpPr>
          <p:nvPr/>
        </p:nvSpPr>
        <p:spPr>
          <a:xfrm xmlns:a="http://schemas.openxmlformats.org/drawingml/2006/main">
            <a:off x="609600" y="5734050"/>
            <a:ext cx="10953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1">
                <a:solidFill>
                  <a:srgbClr val="12283D"/>
                </a:solidFill>
                <a:latin typeface="Arial"/>
                <a:ea typeface="Arial"/>
                <a:cs typeface="Arial"/>
              </a:defRPr>
            </a:defPPr>
          </a:lstStyle>
          <a:p xmlns:a="http://schemas.openxmlformats.org/drawingml/2006/main">
            <a:pPr>
              <a:buNone/>
              <a:defRPr sz="1950" b="1">
                <a:solidFill>
                  <a:srgbClr val="12283D"/>
                </a:solidFill>
                <a:latin typeface="Arial"/>
                <a:ea typeface="Arial"/>
                <a:cs typeface="Arial"/>
              </a:defRPr>
            </a:pPr>
            <a:r>
              <a:rPr sz="1950" b="1">
                <a:solidFill>
                  <a:srgbClr val="12283D"/>
                </a:solidFill>
                <a:latin typeface="Arial"/>
                <a:ea typeface="Arial"/>
                <a:cs typeface="Arial"/>
              </a:rPr>
              <a:t>Hybrid kNN loses less F1 under shifts. SVM keeps the highest accuracy.</a:t>
            </a:r>
          </a:p>
        </p:txBody>
      </p:sp>
      <p:sp>
        <p:nvSpPr>
          <p:cNvPr id="11" name="">
            <a:extLst xmlns:a="http://schemas.openxmlformats.org/drawingml/2006/main">
              <a:ext uri="{FF2B5EF4-FFF2-40B4-BE49-F238E27FC236}">
                <a16:creationId xmlns:a16="http://schemas.microsoft.com/office/drawing/2014/main" id="{B49BCA56-BFBE-47AA-A664-4041995E7FAB}"/>
              </a:ext>
            </a:extLst>
          </p:cNvPr>
          <p:cNvSpPr>
            <a:spLocks xmlns:a="http://schemas.openxmlformats.org/drawingml/2006/main" noGrp="1"/>
          </p:cNvSpPr>
          <p:nvPr/>
        </p:nvSpPr>
        <p:spPr>
          <a:xfrm xmlns:a="http://schemas.openxmlformats.org/drawingml/2006/main">
            <a:off x="609600" y="6200775"/>
            <a:ext cx="10763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500" b="0">
                <a:solidFill>
                  <a:srgbClr val="516170"/>
                </a:solidFill>
                <a:latin typeface="Arial"/>
                <a:ea typeface="Arial"/>
                <a:cs typeface="Arial"/>
              </a:defRPr>
            </a:defPPr>
          </a:lstStyle>
          <a:p xmlns:a="http://schemas.openxmlformats.org/drawingml/2006/main">
            <a:pPr>
              <a:buNone/>
              <a:defRPr sz="1500" b="0">
                <a:solidFill>
                  <a:srgbClr val="516170"/>
                </a:solidFill>
                <a:latin typeface="Arial"/>
                <a:ea typeface="Arial"/>
                <a:cs typeface="Arial"/>
              </a:defRPr>
            </a:pPr>
            <a:r>
              <a:rPr sz="1500" b="0">
                <a:solidFill>
                  <a:srgbClr val="516170"/>
                </a:solidFill>
                <a:latin typeface="Arial"/>
                <a:ea typeface="Arial"/>
                <a:cs typeface="Arial"/>
              </a:rPr>
              <a:t>Next: repeat training seeds and separate model selection from ensemble tuning</a:t>
            </a:r>
          </a:p>
        </p:txBody>
      </p:sp>
    </p:spTree>
    <p:extLst>
      <p:ext uri="{BB962C8B-B14F-4D97-AF65-F5344CB8AC3E}">
        <p14:creationId xmlns:p14="http://schemas.microsoft.com/office/powerpoint/2010/main" val="12741351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2026-10-10T21:30:13.4290000Z</dcterms:created>
  <dcterms:modified xsi:type="dcterms:W3CDTF">2026-10-10T21:30:13.4290000Z</dcterms:modified>
</coreProperties>
</file>