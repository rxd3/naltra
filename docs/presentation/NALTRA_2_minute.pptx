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e9c815e551446bc" /><Relationship Type="http://schemas.openxmlformats.org/officeDocument/2006/relationships/extended-properties" Target="/docProps/app.xml" Id="R0db89c0ab06b423b" /><Relationship Type="http://schemas.openxmlformats.org/officeDocument/2006/relationships/officeDocument" Target="/ppt/presentation.xml" Id="Rbb5542a794824263" /></Relationships>
</file>

<file path=ppt/presentation.xml><?xml version="1.0" encoding="utf-8"?>
<p:presentation xmlns:p="http://schemas.openxmlformats.org/presentationml/2006/main">
  <p:sldMasterIdLst>
    <p:sldMasterId xmlns:r="http://schemas.openxmlformats.org/officeDocument/2006/relationships" id="2147483648" r:id="Re32940ece0ae48a0"/>
  </p:sldMasterIdLst>
  <p:notesMasterIdLst>
    <p:notesMasterId xmlns:r="http://schemas.openxmlformats.org/officeDocument/2006/relationships" r:id="Rd37ae4d928994c93"/>
  </p:notesMasterIdLst>
  <p:sldIdLst>
    <p:sldId xmlns:r="http://schemas.openxmlformats.org/officeDocument/2006/relationships" id="256" r:id="R5809a111893f46af"/>
    <p:sldId xmlns:r="http://schemas.openxmlformats.org/officeDocument/2006/relationships" id="257" r:id="Rdf5574119d1e41f9"/>
    <p:sldId xmlns:r="http://schemas.openxmlformats.org/officeDocument/2006/relationships" id="258" r:id="R251deb4357e54434"/>
    <p:sldId xmlns:r="http://schemas.openxmlformats.org/officeDocument/2006/relationships" id="259" r:id="R779c495ec81a4c1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eab6a11f56a4414" /><Relationship Type="http://schemas.openxmlformats.org/officeDocument/2006/relationships/slideMaster" Target="/ppt/slideMasters/slideMaster1.xml" Id="Re32940ece0ae48a0" /><Relationship Type="http://schemas.openxmlformats.org/officeDocument/2006/relationships/notesMaster" Target="/ppt/notesMasters/notesMaster1.xml" Id="Rd37ae4d928994c93" /><Relationship Type="http://schemas.openxmlformats.org/officeDocument/2006/relationships/presProps" Target="/ppt/presProps.xml" Id="Racc8f986f18743ca" /><Relationship Type="http://schemas.openxmlformats.org/officeDocument/2006/relationships/tableStyles" Target="/ppt/tableStyles.xml" Id="R1ea3bafac40549c7" /><Relationship Type="http://schemas.openxmlformats.org/officeDocument/2006/relationships/slide" Target="/ppt/slides/slide1.xml" Id="R5809a111893f46af" /><Relationship Type="http://schemas.openxmlformats.org/officeDocument/2006/relationships/slide" Target="/ppt/slides/slide2.xml" Id="Rdf5574119d1e41f9" /><Relationship Type="http://schemas.openxmlformats.org/officeDocument/2006/relationships/slide" Target="/ppt/slides/slide3.xml" Id="R251deb4357e54434" /><Relationship Type="http://schemas.openxmlformats.org/officeDocument/2006/relationships/slide" Target="/ppt/slides/slide4.xml" Id="R779c495ec81a4c1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1af61650d0b45d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a8b2f6c3aeb459c" /><Relationship Type="http://schemas.openxmlformats.org/officeDocument/2006/relationships/notesMaster" Target="/ppt/notesMasters/notesMaster1.xml" Id="Rf4221bf6ba3947d9" /></Relationships>
</file>

<file path=ppt/notesSlides/_rels/notesSlide2.xml.rels>&#65279;<?xml version="1.0" encoding="utf-8"?><Relationships xmlns="http://schemas.openxmlformats.org/package/2006/relationships"><Relationship Type="http://schemas.openxmlformats.org/officeDocument/2006/relationships/slide" Target="/ppt/slides/slide2.xml" Id="Rfa879836fde2466f" /><Relationship Type="http://schemas.openxmlformats.org/officeDocument/2006/relationships/notesMaster" Target="/ppt/notesMasters/notesMaster1.xml" Id="R09026ebaac014394" /></Relationships>
</file>

<file path=ppt/notesSlides/_rels/notesSlide3.xml.rels>&#65279;<?xml version="1.0" encoding="utf-8"?><Relationships xmlns="http://schemas.openxmlformats.org/package/2006/relationships"><Relationship Type="http://schemas.openxmlformats.org/officeDocument/2006/relationships/slide" Target="/ppt/slides/slide3.xml" Id="R13bfbe27503e4d58" /><Relationship Type="http://schemas.openxmlformats.org/officeDocument/2006/relationships/notesMaster" Target="/ppt/notesMasters/notesMaster1.xml" Id="Rf6307f54b52844b3" /></Relationships>
</file>

<file path=ppt/notesSlides/_rels/notesSlide4.xml.rels>&#65279;<?xml version="1.0" encoding="utf-8"?><Relationships xmlns="http://schemas.openxmlformats.org/package/2006/relationships"><Relationship Type="http://schemas.openxmlformats.org/officeDocument/2006/relationships/slide" Target="/ppt/slides/slide4.xml" Id="R694b9bbed7ae467b" /><Relationship Type="http://schemas.openxmlformats.org/officeDocument/2006/relationships/notesMaster" Target="/ppt/notesMasters/notesMaster1.xml" Id="R1bb1beab5fe74b9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0:00–0:30</a:t>
            </a:r>
          </a:p>
          <a:p xmlns:a="http://schemas.openxmlformats.org/drawingml/2006/main">
            <a:r>
              <a:t/>
            </a:r>
          </a:p>
          <a:p xmlns:a="http://schemas.openxmlformats.org/drawingml/2006/main">
            <a:r>
              <a:t>NALTRA classifies research objectives into multiple scientific fields. We started with CORDIS Horizon 2020 projects and EuroSciVoc assignments. After repairing CSV rows, cleaning objectives and filtering labels with at least fifty source projects, we retained thirty-one thousand projects and 473 direct labels. We grouped exact duplicate objectives before splitting. Turkish translations, code-switch mixes and noisy variants preserve each project’s split and labels.</a:t>
            </a:r>
          </a:p>
          <a:p xmlns:a="http://schemas.openxmlformats.org/drawingml/2006/main">
            <a:r>
              <a:t/>
            </a:r>
          </a:p>
          <a:p xmlns:a="http://schemas.openxmlformats.org/drawingml/2006/main">
            <a:r>
              <a:t>Sources for preparation, not spoken:</a:t>
            </a:r>
          </a:p>
          <a:p xmlns:a="http://schemas.openxmlformats.org/drawingml/2006/main">
            <a:r>
              <a:t>docs/dataset.md: source, preparation, label support and grouped splits</a:t>
            </a:r>
          </a:p>
          <a:p xmlns:a="http://schemas.openxmlformats.org/drawingml/2006/main">
            <a:r>
              <a:t>taxonomy/README.md: 473 direct labels and 586 hierarchy nodes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0:30–1:00</a:t>
            </a:r>
          </a:p>
          <a:p xmlns:a="http://schemas.openxmlformats.org/drawingml/2006/main">
            <a:r>
              <a:t/>
            </a:r>
          </a:p>
          <a:p xmlns:a="http://schemas.openxmlformats.org/drawingml/2006/main">
            <a:r>
              <a:t>Each model scores the same 473 labels. We compared TF-IDF baselines, hybrid retrieval, BiLSTM and XLM-R, then combined four members using hard and soft voting. Trained models use English and Turkish. Val-A tunes member thresholds, and val-B tunes ensemble settings. We freeze these decisions before testing. Micro-F1 handles sparse labels, while paired project bootstrap intervals and Holm correction quantify comparisons.</a:t>
            </a:r>
          </a:p>
          <a:p xmlns:a="http://schemas.openxmlformats.org/drawingml/2006/main">
            <a:r>
              <a:t/>
            </a:r>
          </a:p>
          <a:p xmlns:a="http://schemas.openxmlformats.org/drawingml/2006/main">
            <a:r>
              <a:t>Sources for preparation, not spoken:</a:t>
            </a:r>
          </a:p>
          <a:p xmlns:a="http://schemas.openxmlformats.org/drawingml/2006/main">
            <a:r>
              <a:t>docs/evaluation.md: protocol, metrics, bootstrap and validation-reuse limitation</a:t>
            </a:r>
          </a:p>
          <a:p xmlns:a="http://schemas.openxmlformats.org/drawingml/2006/main">
            <a:r>
              <a:t>configs/benchmark.yaml: model configurations</a:t>
            </a:r>
          </a:p>
          <a:p xmlns:a="http://schemas.openxmlformats.org/drawingml/2006/main">
            <a:r>
              <a:t>Kev/Jev run on fixed samples only. Laya results remain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1:00–1:25</a:t>
            </a:r>
          </a:p>
          <a:p xmlns:a="http://schemas.openxmlformats.org/drawingml/2006/main">
            <a:r>
              <a:t/>
            </a:r>
          </a:p>
          <a:p xmlns:a="http://schemas.openxmlformats.org/drawingml/2006/main">
            <a:r>
              <a:t>The calibrated SVM reaches 0.558 English and 0.489 Turkish micro-F1. The weighted soft ensemble reaches 0.523 and 0.472, so voting does not improve on the best member. Neural models score lower under the recorded training budget. SVM also takes about two milliseconds per text on CPU, with roughly 740 texts per second in batches.</a:t>
            </a:r>
          </a:p>
          <a:p xmlns:a="http://schemas.openxmlformats.org/drawingml/2006/main">
            <a:r>
              <a:t/>
            </a:r>
          </a:p>
          <a:p xmlns:a="http://schemas.openxmlformats.org/drawingml/2006/main">
            <a:r>
              <a:t>Sources for preparation, not spoken:</a:t>
            </a:r>
          </a:p>
          <a:p xmlns:a="http://schemas.openxmlformats.org/drawingml/2006/main">
            <a:r>
              <a:t>results/metrics/cordis_v1.1.0_ensemble/summary.json: metrics.en_test and metrics.tr_test</a:t>
            </a:r>
          </a:p>
          <a:p xmlns:a="http://schemas.openxmlformats.org/drawingml/2006/main">
            <a:r>
              <a:t>results/benchmarks/cordis_v1.1.0/benchmark_summary.json: models.svm, CPU, samples, warmup, threads</a:t>
            </a:r>
          </a:p>
          <a:p xmlns:a="http://schemas.openxmlformats.org/drawingml/2006/main">
            <a:r>
              <a:t>Latency artifact fingerprints match the full accuracy summary.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1:25–1:50</a:t>
            </a:r>
          </a:p>
          <a:p xmlns:a="http://schemas.openxmlformats.org/drawingml/2006/main">
            <a:r>
              <a:t/>
            </a:r>
          </a:p>
          <a:p xmlns:a="http://schemas.openxmlformats.org/drawingml/2006/main">
            <a:r>
              <a:t>Hybrid kNN loses less F1 under Turkish and noisy input, but starts from lower accuracy. For humanities held out as near-OOD, a separately retrained SVM reaches about 0.927 English AUROC on just 94 OOD projects. Our conclusions remain limited by silver labels, synthetic variants, one training seed and validation reuse. Next steps are original artifact verification, multiple seeds and independent selection data.</a:t>
            </a:r>
          </a:p>
          <a:p xmlns:a="http://schemas.openxmlformats.org/drawingml/2006/main">
            <a:r>
              <a:t/>
            </a:r>
          </a:p>
          <a:p xmlns:a="http://schemas.openxmlformats.org/drawingml/2006/main">
            <a:r>
              <a:t>Sources for preparation, not spoken:</a:t>
            </a:r>
          </a:p>
          <a:p xmlns:a="http://schemas.openxmlformats.org/drawingml/2006/main">
            <a:r>
              <a:t>results/metrics/cordis_v1.1.0_ensemble/summary.json: cross-condition metrics and paired bootstrap intervals</a:t>
            </a:r>
          </a:p>
          <a:p xmlns:a="http://schemas.openxmlformats.org/drawingml/2006/main">
            <a:r>
              <a:t>results/ood/cordis_v1.1.0/summary.json: separately retrained svm, en/tr AUROC and counts</a:t>
            </a:r>
          </a:p>
          <a:p xmlns:a="http://schemas.openxmlformats.org/drawingml/2006/main">
            <a:r>
              <a:t>docs/results.md: limitations. Label support uses the full archive, including later test projects.</a:t>
            </a:r>
          </a:p>
          <a:p xmlns:a="http://schemas.openxmlformats.org/drawingml/2006/main">
            <a:r>
              <a:t>docs/reproducibility.md: original artifact handoff and replay remain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b2f3297dfe745e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3f4de45f08140a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2463b83680b411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d2d2fcdcaf84c6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d11c4e690664e4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31a6448d37e4dc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47421E-8744-4746-920B-1BEDDE74002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1F898DF-8FA9-4E32-A708-923E51D7F42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3195880-24DA-4ED7-8E73-1B71EB09443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1FDB467-71C7-45BD-B8D4-CF7CB51479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AEEC481-658D-4DFD-9834-08D155289D5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9B9C459-3033-47C8-ADAB-7C257FCB128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E79E728-60E9-489E-B427-19DBC6D5283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F59EA74-8D53-4880-B699-1C069F859B5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F822803-505B-46DB-B566-B789FECFF57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5502142-BFBF-4967-B319-F2C2548642B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b7b15f66b604e2b" /><Relationship Type="http://schemas.openxmlformats.org/officeDocument/2006/relationships/slideLayout" Target="/ppt/slideLayouts/slideLayout1.xml" Id="R9c7b02aaebb54650" /><Relationship Type="http://schemas.openxmlformats.org/officeDocument/2006/relationships/slideLayout" Target="/ppt/slideLayouts/slideLayout2.xml" Id="R38d90481f1d64344" /><Relationship Type="http://schemas.openxmlformats.org/officeDocument/2006/relationships/slideLayout" Target="/ppt/slideLayouts/slideLayout3.xml" Id="R4466b2e950b04b86" /><Relationship Type="http://schemas.openxmlformats.org/officeDocument/2006/relationships/slideLayout" Target="/ppt/slideLayouts/slideLayout4.xml" Id="R7f278b73ae884052" /><Relationship Type="http://schemas.openxmlformats.org/officeDocument/2006/relationships/slideLayout" Target="/ppt/slideLayouts/slideLayout5.xml" Id="Re49d41a92be74d8a" /><Relationship Type="http://schemas.openxmlformats.org/officeDocument/2006/relationships/slideLayout" Target="/ppt/slideLayouts/slideLayout6.xml" Id="R9bb8ad48508d4f1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c7b02aaebb54650"/>
    <p:sldLayoutId xmlns:r="http://schemas.openxmlformats.org/officeDocument/2006/relationships" id="2147483650" r:id="R38d90481f1d64344"/>
    <p:sldLayoutId xmlns:r="http://schemas.openxmlformats.org/officeDocument/2006/relationships" id="2147483651" r:id="R4466b2e950b04b86"/>
    <p:sldLayoutId xmlns:r="http://schemas.openxmlformats.org/officeDocument/2006/relationships" id="2147483652" r:id="R7f278b73ae884052"/>
    <p:sldLayoutId xmlns:r="http://schemas.openxmlformats.org/officeDocument/2006/relationships" id="2147483653" r:id="Re49d41a92be74d8a"/>
    <p:sldLayoutId xmlns:r="http://schemas.openxmlformats.org/officeDocument/2006/relationships" id="2147483654" r:id="R9bb8ad48508d4f1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f9355ad8cdd4a91" /><Relationship Type="http://schemas.openxmlformats.org/officeDocument/2006/relationships/notesSlide" Target="/ppt/notesSlides/notesSlide1.xml" Id="Rae6e706f2ffe4da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f0f793723514523" /><Relationship Type="http://schemas.openxmlformats.org/officeDocument/2006/relationships/notesSlide" Target="/ppt/notesSlides/notesSlide2.xml" Id="R1b39222269ba4f2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bc7be8a93534ffe" /><Relationship Type="http://schemas.openxmlformats.org/officeDocument/2006/relationships/chart" Target="/ppt/slides/charts/chart1.xml" Id="Rf2ef02f9c59b49f5" /><Relationship Type="http://schemas.openxmlformats.org/officeDocument/2006/relationships/notesSlide" Target="/ppt/notesSlides/notesSlide3.xml" Id="Rd72ab16c4e4547c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07f2e2dbf984365" /><Relationship Type="http://schemas.openxmlformats.org/officeDocument/2006/relationships/chart" Target="/ppt/slides/charts/chart2.xml" Id="R93677417f702403b" /><Relationship Type="http://schemas.openxmlformats.org/officeDocument/2006/relationships/notesSlide" Target="/ppt/notesSlides/notesSlide4.xml" Id="R83f3df89eb7e47a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English</c:v>
          </c:tx>
          <c:spPr>
            <a:solidFill xmlns:a="http://schemas.openxmlformats.org/drawingml/2006/main">
              <a:srgbClr val="2878B5"/>
            </a:solidFill>
          </c:spPr>
          <c:cat>
            <c:strRef>
              <c:f>'Chart Data'!$A$2:$A$7</c:f>
              <c:strCache>
                <c:ptCount val="6"/>
                <c:pt idx="0">
                  <c:v>XLM-R</c:v>
                </c:pt>
                <c:pt idx="1">
                  <c:v>Naive Bayes</c:v>
                </c:pt>
                <c:pt idx="2">
                  <c:v>BiLSTM</c:v>
                </c:pt>
                <c:pt idx="3">
                  <c:v>Hybrid kNN</c:v>
                </c:pt>
                <c:pt idx="4">
                  <c:v>Weighted soft</c:v>
                </c:pt>
                <c:pt idx="5">
                  <c:v>SVM</c:v>
                </c:pt>
              </c:strCache>
            </c:strRef>
          </c:cat>
          <c:val>
            <c:numRef>
              <c:f>'Chart Data'!$B$2:$B$7</c:f>
              <c:numCache>
                <c:formatCode>0.000</c:formatCode>
                <c:ptCount val="6"/>
                <c:pt idx="0">
                  <c:v>0.247645</c:v>
                </c:pt>
                <c:pt idx="1">
                  <c:v>0.277664</c:v>
                </c:pt>
                <c:pt idx="2">
                  <c:v>0.289056</c:v>
                </c:pt>
                <c:pt idx="3">
                  <c:v>0.392936</c:v>
                </c:pt>
                <c:pt idx="4">
                  <c:v>0.522841</c:v>
                </c:pt>
                <c:pt idx="5">
                  <c:v>0.558367</c:v>
                </c:pt>
              </c:numCache>
            </c:numRef>
          </c:val>
        </c:ser>
        <c:ser>
          <c:idx val="1"/>
          <c:order val="1"/>
          <c:tx>
            <c:v>Turkish</c:v>
          </c:tx>
          <c:spPr>
            <a:solidFill xmlns:a="http://schemas.openxmlformats.org/drawingml/2006/main">
              <a:srgbClr val="D47722"/>
            </a:solidFill>
          </c:spPr>
          <c:cat>
            <c:strRef>
              <c:f>'Chart Data'!$C$2:$C$7</c:f>
              <c:strCache>
                <c:ptCount val="6"/>
                <c:pt idx="0">
                  <c:v>XLM-R</c:v>
                </c:pt>
                <c:pt idx="1">
                  <c:v>Naive Bayes</c:v>
                </c:pt>
                <c:pt idx="2">
                  <c:v>BiLSTM</c:v>
                </c:pt>
                <c:pt idx="3">
                  <c:v>Hybrid kNN</c:v>
                </c:pt>
                <c:pt idx="4">
                  <c:v>Weighted soft</c:v>
                </c:pt>
                <c:pt idx="5">
                  <c:v>SVM</c:v>
                </c:pt>
              </c:strCache>
            </c:strRef>
          </c:cat>
          <c:val>
            <c:numRef>
              <c:f>'Chart Data'!$D$2:$D$7</c:f>
              <c:numCache>
                <c:formatCode>0.000</c:formatCode>
                <c:ptCount val="6"/>
                <c:pt idx="0">
                  <c:v>0.239759</c:v>
                </c:pt>
                <c:pt idx="1">
                  <c:v>0.275253</c:v>
                </c:pt>
                <c:pt idx="2">
                  <c:v>0.270771</c:v>
                </c:pt>
                <c:pt idx="3">
                  <c:v>0.381721</c:v>
                </c:pt>
                <c:pt idx="4">
                  <c:v>0.472292</c:v>
                </c:pt>
                <c:pt idx="5">
                  <c:v>0.488603</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500">
                  <a:solidFill>
                    <a:srgbClr val="12283D"/>
                  </a:solidFill>
                  <a:latin typeface="Arial"/>
                  <a:ea typeface="Arial"/>
                  <a:cs typeface="Arial"/>
                </a:defRPr>
              </a:pPr>
            </a:p>
          </c:txPr>
          <c:dLblPos val="outEnd"/>
          <c:showLegendKey val="0"/>
          <c:showVal val="1"/>
          <c:showCatName val="0"/>
          <c:showSerName val="0"/>
          <c:showPercent val="0"/>
          <c:showBubbleSize val="0"/>
          <c:showLeaderLines val="0"/>
        </c:dLbls>
        <c:gapWidth val="65"/>
        <c:overlap val="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12283D"/>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DE5EB"/>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16170"/>
                </a:solidFill>
                <a:latin typeface="Arial"/>
                <a:ea typeface="Arial"/>
                <a:cs typeface="Arial"/>
              </a:defRPr>
            </a:pPr>
          </a:p>
        </c:txPr>
        <c:crossAx val="48650112"/>
        <c:crossBetween val="between"/>
        <c:majorUnit val="0.2"/>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12283D"/>
              </a:solidFill>
              <a:latin typeface="Arial"/>
              <a:ea typeface="Arial"/>
              <a:cs typeface="Arial"/>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SVM</c:v>
          </c:tx>
          <c:spPr>
            <a:solidFill xmlns:a="http://schemas.openxmlformats.org/drawingml/2006/main">
              <a:srgbClr val="2878B5"/>
            </a:solidFill>
          </c:spPr>
          <c:cat>
            <c:strRef>
              <c:f>'Chart Data'!$A$2:$A$3</c:f>
              <c:strCache>
                <c:ptCount val="2"/>
                <c:pt idx="0">
                  <c:v>Turkish</c:v>
                </c:pt>
                <c:pt idx="1">
                  <c:v>Noisy English</c:v>
                </c:pt>
              </c:strCache>
            </c:strRef>
          </c:cat>
          <c:val>
            <c:numRef>
              <c:f>'Chart Data'!$B$2:$B$3</c:f>
              <c:numCache>
                <c:formatCode>0.000</c:formatCode>
                <c:ptCount val="2"/>
                <c:pt idx="0">
                  <c:v>0.069764</c:v>
                </c:pt>
                <c:pt idx="1">
                  <c:v>0.078269</c:v>
                </c:pt>
              </c:numCache>
            </c:numRef>
          </c:val>
        </c:ser>
        <c:ser>
          <c:idx val="1"/>
          <c:order val="1"/>
          <c:tx>
            <c:v>Hybrid kNN</c:v>
          </c:tx>
          <c:spPr>
            <a:solidFill xmlns:a="http://schemas.openxmlformats.org/drawingml/2006/main">
              <a:srgbClr val="D47722"/>
            </a:solidFill>
          </c:spPr>
          <c:cat>
            <c:strRef>
              <c:f>'Chart Data'!$C$2:$C$3</c:f>
              <c:strCache>
                <c:ptCount val="2"/>
                <c:pt idx="0">
                  <c:v>Turkish</c:v>
                </c:pt>
                <c:pt idx="1">
                  <c:v>Noisy English</c:v>
                </c:pt>
              </c:strCache>
            </c:strRef>
          </c:cat>
          <c:val>
            <c:numRef>
              <c:f>'Chart Data'!$D$2:$D$3</c:f>
              <c:numCache>
                <c:formatCode>0.000</c:formatCode>
                <c:ptCount val="2"/>
                <c:pt idx="0">
                  <c:v>0.011215</c:v>
                </c:pt>
                <c:pt idx="1">
                  <c:v>0.018914</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800">
                  <a:solidFill>
                    <a:srgbClr val="12283D"/>
                  </a:solidFill>
                  <a:latin typeface="Arial"/>
                  <a:ea typeface="Arial"/>
                  <a:cs typeface="Arial"/>
                </a:defRPr>
              </a:pPr>
            </a:p>
          </c:txPr>
          <c:dLblPos val="outEnd"/>
          <c:showLegendKey val="0"/>
          <c:showVal val="1"/>
          <c:showCatName val="0"/>
          <c:showSerName val="0"/>
          <c:showPercent val="0"/>
          <c:showBubbleSize val="0"/>
          <c:showLeaderLines val="0"/>
        </c:dLbls>
        <c:gapWidth val="11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E5EB"/>
            </a:solidFill>
          </a:ln>
        </c:spPr>
        <c:txPr>
          <a:bodyPr xmlns:a="http://schemas.openxmlformats.org/drawingml/2006/main" anchorCtr="1"/>
          <a:lstStyle xmlns:a="http://schemas.openxmlformats.org/drawingml/2006/main"/>
          <a:p xmlns:a="http://schemas.openxmlformats.org/drawingml/2006/main">
            <a:pPr>
              <a:defRPr sz="1800">
                <a:solidFill>
                  <a:srgbClr val="12283D"/>
                </a:solidFill>
                <a:latin typeface="Arial"/>
                <a:ea typeface="Arial"/>
                <a:cs typeface="Arial"/>
              </a:defRPr>
            </a:pPr>
          </a:p>
        </c:txPr>
        <c:crossAx val="48672768"/>
      </c:catAx>
      <c:valAx>
        <c:axId val="48672768"/>
        <c:scaling>
          <c:orientation val="minMax"/>
          <c:max val="0.1"/>
          <c:min val="0"/>
        </c:scaling>
        <c:delete val="0"/>
        <c:axPos val="l"/>
        <c:majorGridlines>
          <c:spPr>
            <a:ln xmlns:a="http://schemas.openxmlformats.org/drawingml/2006/main" w="9525">
              <a:solidFill>
                <a:srgbClr val="DDE5EB"/>
              </a:solidFill>
              <a:prstDash val="solid"/>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16170"/>
                </a:solidFill>
                <a:latin typeface="Arial"/>
                <a:ea typeface="Arial"/>
                <a:cs typeface="Arial"/>
              </a:defRPr>
            </a:pPr>
          </a:p>
        </c:txPr>
        <c:crossAx val="48650112"/>
        <c:crossBetween val="between"/>
        <c:majorUnit val="0.025"/>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12283D"/>
              </a:solidFill>
              <a:latin typeface="Arial"/>
              <a:ea typeface="Arial"/>
              <a:cs typeface="Arial"/>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0C6778F-1D46-4376-B1B1-EECB0BBE1610}"/>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2283D"/>
                </a:solidFill>
                <a:latin typeface="Arial"/>
                <a:ea typeface="Arial"/>
                <a:cs typeface="Arial"/>
              </a:defRPr>
            </a:defPPr>
          </a:lstStyle>
          <a:p xmlns:a="http://schemas.openxmlformats.org/drawingml/2006/main">
            <a:pPr>
              <a:defRPr sz="3600" b="1">
                <a:solidFill>
                  <a:srgbClr val="12283D"/>
                </a:solidFill>
                <a:latin typeface="Arial"/>
                <a:ea typeface="Arial"/>
                <a:cs typeface="Arial"/>
              </a:defRPr>
            </a:pPr>
            <a:r>
              <a:rPr sz="3600" b="1">
                <a:solidFill>
                  <a:srgbClr val="12283D"/>
                </a:solidFill>
                <a:latin typeface="Arial"/>
                <a:ea typeface="Arial"/>
                <a:cs typeface="Arial"/>
              </a:rPr>
              <a:t>NALTRA: dataset and preparation</a:t>
            </a:r>
          </a:p>
        </p:txBody>
      </p:sp>
      <p:sp>
        <p:nvSpPr>
          <p:cNvPr id="2" name="">
            <a:extLst xmlns:a="http://schemas.openxmlformats.org/drawingml/2006/main">
              <a:ext uri="{FF2B5EF4-FFF2-40B4-BE49-F238E27FC236}">
                <a16:creationId xmlns:a16="http://schemas.microsoft.com/office/drawing/2014/main" id="{0410A2CC-00AA-448E-B894-0B71DEF35820}"/>
              </a:ext>
            </a:extLst>
          </p:cNvPr>
          <p:cNvSpPr>
            <a:spLocks xmlns:a="http://schemas.openxmlformats.org/drawingml/2006/main" noGrp="1"/>
          </p:cNvSpPr>
          <p:nvPr/>
        </p:nvSpPr>
        <p:spPr>
          <a:xfrm xmlns:a="http://schemas.openxmlformats.org/drawingml/2006/main">
            <a:off x="609600" y="1181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16170"/>
                </a:solidFill>
                <a:latin typeface="Arial"/>
                <a:ea typeface="Arial"/>
                <a:cs typeface="Arial"/>
              </a:defRPr>
            </a:defPPr>
          </a:lstStyle>
          <a:p xmlns:a="http://schemas.openxmlformats.org/drawingml/2006/main">
            <a:pPr>
              <a:defRPr sz="1875" b="0">
                <a:solidFill>
                  <a:srgbClr val="516170"/>
                </a:solidFill>
                <a:latin typeface="Arial"/>
                <a:ea typeface="Arial"/>
                <a:cs typeface="Arial"/>
              </a:defRPr>
            </a:pPr>
            <a:r>
              <a:rPr sz="1875" b="0">
                <a:solidFill>
                  <a:srgbClr val="516170"/>
                </a:solidFill>
                <a:latin typeface="Arial"/>
                <a:ea typeface="Arial"/>
                <a:cs typeface="Arial"/>
              </a:rPr>
              <a:t>Multi-label classification of EU Horizon 2020 research objectives</a:t>
            </a:r>
          </a:p>
        </p:txBody>
      </p:sp>
      <p:sp>
        <p:nvSpPr>
          <p:cNvPr id="3" name="">
            <a:extLst xmlns:a="http://schemas.openxmlformats.org/drawingml/2006/main">
              <a:ext uri="{FF2B5EF4-FFF2-40B4-BE49-F238E27FC236}">
                <a16:creationId xmlns:a16="http://schemas.microsoft.com/office/drawing/2014/main" id="{E5621F63-606D-4A01-9A1E-66FA6084D867}"/>
              </a:ext>
            </a:extLst>
          </p:cNvPr>
          <p:cNvSpPr>
            <a:spLocks xmlns:a="http://schemas.openxmlformats.org/drawingml/2006/main" noGrp="1"/>
          </p:cNvSpPr>
          <p:nvPr/>
        </p:nvSpPr>
        <p:spPr>
          <a:xfrm xmlns:a="http://schemas.openxmlformats.org/drawingml/2006/main">
            <a:off x="10191750" y="6419850"/>
            <a:ext cx="1390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16170"/>
                </a:solidFill>
                <a:latin typeface="Arial"/>
                <a:ea typeface="Arial"/>
                <a:cs typeface="Arial"/>
              </a:defRPr>
            </a:defPPr>
          </a:lstStyle>
          <a:p xmlns:a="http://schemas.openxmlformats.org/drawingml/2006/main">
            <a:pPr>
              <a:defRPr sz="1200" b="0">
                <a:solidFill>
                  <a:srgbClr val="516170"/>
                </a:solidFill>
                <a:latin typeface="Arial"/>
                <a:ea typeface="Arial"/>
                <a:cs typeface="Arial"/>
              </a:defRPr>
            </a:pPr>
            <a:r>
              <a:rPr sz="1200" b="0">
                <a:solidFill>
                  <a:srgbClr val="516170"/>
                </a:solidFill>
                <a:latin typeface="Arial"/>
                <a:ea typeface="Arial"/>
                <a:cs typeface="Arial"/>
              </a:rPr>
              <a:t>NALTRA   1/4</a:t>
            </a:r>
          </a:p>
        </p:txBody>
      </p:sp>
      <p:sp>
        <p:nvSpPr>
          <p:cNvPr id="4" name="">
            <a:extLst xmlns:a="http://schemas.openxmlformats.org/drawingml/2006/main">
              <a:ext uri="{FF2B5EF4-FFF2-40B4-BE49-F238E27FC236}">
                <a16:creationId xmlns:a16="http://schemas.microsoft.com/office/drawing/2014/main" id="{1850E956-C73F-4C5F-AA26-DF3B019ADDAB}"/>
              </a:ext>
            </a:extLst>
          </p:cNvPr>
          <p:cNvSpPr>
            <a:spLocks xmlns:a="http://schemas.openxmlformats.org/drawingml/2006/main" noGrp="1"/>
          </p:cNvSpPr>
          <p:nvPr/>
        </p:nvSpPr>
        <p:spPr>
          <a:xfrm xmlns:a="http://schemas.openxmlformats.org/drawingml/2006/main">
            <a:off x="609600" y="1933575"/>
            <a:ext cx="3429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2878B5"/>
                </a:solidFill>
                <a:latin typeface="Arial"/>
                <a:ea typeface="Arial"/>
                <a:cs typeface="Arial"/>
              </a:defRPr>
            </a:defPPr>
          </a:lstStyle>
          <a:p xmlns:a="http://schemas.openxmlformats.org/drawingml/2006/main">
            <a:pPr>
              <a:defRPr sz="4800" b="1">
                <a:solidFill>
                  <a:srgbClr val="2878B5"/>
                </a:solidFill>
                <a:latin typeface="Arial"/>
                <a:ea typeface="Arial"/>
                <a:cs typeface="Arial"/>
              </a:defRPr>
            </a:pPr>
            <a:r>
              <a:rPr sz="4800" b="1">
                <a:solidFill>
                  <a:srgbClr val="2878B5"/>
                </a:solidFill>
                <a:latin typeface="Arial"/>
                <a:ea typeface="Arial"/>
                <a:cs typeface="Arial"/>
              </a:rPr>
              <a:t>31,407</a:t>
            </a:r>
          </a:p>
        </p:txBody>
      </p:sp>
      <p:sp>
        <p:nvSpPr>
          <p:cNvPr id="5" name="">
            <a:extLst xmlns:a="http://schemas.openxmlformats.org/drawingml/2006/main">
              <a:ext uri="{FF2B5EF4-FFF2-40B4-BE49-F238E27FC236}">
                <a16:creationId xmlns:a16="http://schemas.microsoft.com/office/drawing/2014/main" id="{0A9410D3-32B7-45C2-92A0-2805AA0758C8}"/>
              </a:ext>
            </a:extLst>
          </p:cNvPr>
          <p:cNvSpPr>
            <a:spLocks xmlns:a="http://schemas.openxmlformats.org/drawingml/2006/main" noGrp="1"/>
          </p:cNvSpPr>
          <p:nvPr/>
        </p:nvSpPr>
        <p:spPr>
          <a:xfrm xmlns:a="http://schemas.openxmlformats.org/drawingml/2006/main">
            <a:off x="609600" y="2695575"/>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16170"/>
                </a:solidFill>
                <a:latin typeface="Arial"/>
                <a:ea typeface="Arial"/>
                <a:cs typeface="Arial"/>
              </a:defRPr>
            </a:defPPr>
          </a:lstStyle>
          <a:p xmlns:a="http://schemas.openxmlformats.org/drawingml/2006/main">
            <a:pPr>
              <a:defRPr sz="1950" b="0">
                <a:solidFill>
                  <a:srgbClr val="516170"/>
                </a:solidFill>
                <a:latin typeface="Arial"/>
                <a:ea typeface="Arial"/>
                <a:cs typeface="Arial"/>
              </a:defRPr>
            </a:pPr>
            <a:r>
              <a:rPr sz="1950" b="0">
                <a:solidFill>
                  <a:srgbClr val="516170"/>
                </a:solidFill>
                <a:latin typeface="Arial"/>
                <a:ea typeface="Arial"/>
                <a:cs typeface="Arial"/>
              </a:rPr>
              <a:t>retained projects</a:t>
            </a:r>
          </a:p>
        </p:txBody>
      </p:sp>
      <p:sp>
        <p:nvSpPr>
          <p:cNvPr id="6" name="">
            <a:extLst xmlns:a="http://schemas.openxmlformats.org/drawingml/2006/main">
              <a:ext uri="{FF2B5EF4-FFF2-40B4-BE49-F238E27FC236}">
                <a16:creationId xmlns:a16="http://schemas.microsoft.com/office/drawing/2014/main" id="{D08839EA-4401-40E6-A1AC-E11CD3E022B7}"/>
              </a:ext>
            </a:extLst>
          </p:cNvPr>
          <p:cNvSpPr>
            <a:spLocks xmlns:a="http://schemas.openxmlformats.org/drawingml/2006/main" noGrp="1"/>
          </p:cNvSpPr>
          <p:nvPr/>
        </p:nvSpPr>
        <p:spPr>
          <a:xfrm xmlns:a="http://schemas.openxmlformats.org/drawingml/2006/main">
            <a:off x="4381500" y="1933575"/>
            <a:ext cx="3429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2878B5"/>
                </a:solidFill>
                <a:latin typeface="Arial"/>
                <a:ea typeface="Arial"/>
                <a:cs typeface="Arial"/>
              </a:defRPr>
            </a:defPPr>
          </a:lstStyle>
          <a:p xmlns:a="http://schemas.openxmlformats.org/drawingml/2006/main">
            <a:pPr>
              <a:defRPr sz="4800" b="1">
                <a:solidFill>
                  <a:srgbClr val="2878B5"/>
                </a:solidFill>
                <a:latin typeface="Arial"/>
                <a:ea typeface="Arial"/>
                <a:cs typeface="Arial"/>
              </a:defRPr>
            </a:pPr>
            <a:r>
              <a:rPr sz="4800" b="1">
                <a:solidFill>
                  <a:srgbClr val="2878B5"/>
                </a:solidFill>
                <a:latin typeface="Arial"/>
                <a:ea typeface="Arial"/>
                <a:cs typeface="Arial"/>
              </a:rPr>
              <a:t>473</a:t>
            </a:r>
          </a:p>
        </p:txBody>
      </p:sp>
      <p:sp>
        <p:nvSpPr>
          <p:cNvPr id="7" name="">
            <a:extLst xmlns:a="http://schemas.openxmlformats.org/drawingml/2006/main">
              <a:ext uri="{FF2B5EF4-FFF2-40B4-BE49-F238E27FC236}">
                <a16:creationId xmlns:a16="http://schemas.microsoft.com/office/drawing/2014/main" id="{5AE7F652-8876-40E6-B5AD-06D62A29293C}"/>
              </a:ext>
            </a:extLst>
          </p:cNvPr>
          <p:cNvSpPr>
            <a:spLocks xmlns:a="http://schemas.openxmlformats.org/drawingml/2006/main" noGrp="1"/>
          </p:cNvSpPr>
          <p:nvPr/>
        </p:nvSpPr>
        <p:spPr>
          <a:xfrm xmlns:a="http://schemas.openxmlformats.org/drawingml/2006/main">
            <a:off x="4381500" y="2695575"/>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16170"/>
                </a:solidFill>
                <a:latin typeface="Arial"/>
                <a:ea typeface="Arial"/>
                <a:cs typeface="Arial"/>
              </a:defRPr>
            </a:defPPr>
          </a:lstStyle>
          <a:p xmlns:a="http://schemas.openxmlformats.org/drawingml/2006/main">
            <a:pPr>
              <a:defRPr sz="1950" b="0">
                <a:solidFill>
                  <a:srgbClr val="516170"/>
                </a:solidFill>
                <a:latin typeface="Arial"/>
                <a:ea typeface="Arial"/>
                <a:cs typeface="Arial"/>
              </a:defRPr>
            </a:pPr>
            <a:r>
              <a:rPr sz="1950" b="0">
                <a:solidFill>
                  <a:srgbClr val="516170"/>
                </a:solidFill>
                <a:latin typeface="Arial"/>
                <a:ea typeface="Arial"/>
                <a:cs typeface="Arial"/>
              </a:rPr>
              <a:t>direct labels</a:t>
            </a:r>
          </a:p>
        </p:txBody>
      </p:sp>
      <p:sp>
        <p:nvSpPr>
          <p:cNvPr id="8" name="">
            <a:extLst xmlns:a="http://schemas.openxmlformats.org/drawingml/2006/main">
              <a:ext uri="{FF2B5EF4-FFF2-40B4-BE49-F238E27FC236}">
                <a16:creationId xmlns:a16="http://schemas.microsoft.com/office/drawing/2014/main" id="{9D64B134-D7D7-43DD-BC89-665266FC6AE6}"/>
              </a:ext>
            </a:extLst>
          </p:cNvPr>
          <p:cNvSpPr>
            <a:spLocks xmlns:a="http://schemas.openxmlformats.org/drawingml/2006/main" noGrp="1"/>
          </p:cNvSpPr>
          <p:nvPr/>
        </p:nvSpPr>
        <p:spPr>
          <a:xfrm xmlns:a="http://schemas.openxmlformats.org/drawingml/2006/main">
            <a:off x="8153400" y="1933575"/>
            <a:ext cx="3429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2878B5"/>
                </a:solidFill>
                <a:latin typeface="Arial"/>
                <a:ea typeface="Arial"/>
                <a:cs typeface="Arial"/>
              </a:defRPr>
            </a:defPPr>
          </a:lstStyle>
          <a:p xmlns:a="http://schemas.openxmlformats.org/drawingml/2006/main">
            <a:pPr>
              <a:defRPr sz="4800" b="1">
                <a:solidFill>
                  <a:srgbClr val="2878B5"/>
                </a:solidFill>
                <a:latin typeface="Arial"/>
                <a:ea typeface="Arial"/>
                <a:cs typeface="Arial"/>
              </a:defRPr>
            </a:pPr>
            <a:r>
              <a:rPr sz="4800" b="1">
                <a:solidFill>
                  <a:srgbClr val="2878B5"/>
                </a:solidFill>
                <a:latin typeface="Arial"/>
                <a:ea typeface="Arial"/>
                <a:cs typeface="Arial"/>
              </a:rPr>
              <a:t>586</a:t>
            </a:r>
          </a:p>
        </p:txBody>
      </p:sp>
      <p:sp>
        <p:nvSpPr>
          <p:cNvPr id="9" name="">
            <a:extLst xmlns:a="http://schemas.openxmlformats.org/drawingml/2006/main">
              <a:ext uri="{FF2B5EF4-FFF2-40B4-BE49-F238E27FC236}">
                <a16:creationId xmlns:a16="http://schemas.microsoft.com/office/drawing/2014/main" id="{29EC393A-CCE2-413E-B2FF-9B15B1D58955}"/>
              </a:ext>
            </a:extLst>
          </p:cNvPr>
          <p:cNvSpPr>
            <a:spLocks xmlns:a="http://schemas.openxmlformats.org/drawingml/2006/main" noGrp="1"/>
          </p:cNvSpPr>
          <p:nvPr/>
        </p:nvSpPr>
        <p:spPr>
          <a:xfrm xmlns:a="http://schemas.openxmlformats.org/drawingml/2006/main">
            <a:off x="8153400" y="2695575"/>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16170"/>
                </a:solidFill>
                <a:latin typeface="Arial"/>
                <a:ea typeface="Arial"/>
                <a:cs typeface="Arial"/>
              </a:defRPr>
            </a:defPPr>
          </a:lstStyle>
          <a:p xmlns:a="http://schemas.openxmlformats.org/drawingml/2006/main">
            <a:pPr>
              <a:defRPr sz="1950" b="0">
                <a:solidFill>
                  <a:srgbClr val="516170"/>
                </a:solidFill>
                <a:latin typeface="Arial"/>
                <a:ea typeface="Arial"/>
                <a:cs typeface="Arial"/>
              </a:defRPr>
            </a:pPr>
            <a:r>
              <a:rPr sz="1950" b="0">
                <a:solidFill>
                  <a:srgbClr val="516170"/>
                </a:solidFill>
                <a:latin typeface="Arial"/>
                <a:ea typeface="Arial"/>
                <a:cs typeface="Arial"/>
              </a:rPr>
              <a:t>hierarchy nodes</a:t>
            </a:r>
          </a:p>
        </p:txBody>
      </p:sp>
      <p:sp>
        <p:nvSpPr>
          <p:cNvPr id="10" name="">
            <a:extLst xmlns:a="http://schemas.openxmlformats.org/drawingml/2006/main">
              <a:ext uri="{FF2B5EF4-FFF2-40B4-BE49-F238E27FC236}">
                <a16:creationId xmlns:a16="http://schemas.microsoft.com/office/drawing/2014/main" id="{F5A29476-14A7-466B-B14E-A170D0BCE339}"/>
              </a:ext>
            </a:extLst>
          </p:cNvPr>
          <p:cNvSpPr>
            <a:spLocks xmlns:a="http://schemas.openxmlformats.org/drawingml/2006/main" noGrp="1"/>
          </p:cNvSpPr>
          <p:nvPr/>
        </p:nvSpPr>
        <p:spPr>
          <a:xfrm xmlns:a="http://schemas.openxmlformats.org/drawingml/2006/main">
            <a:off x="609600" y="3381375"/>
            <a:ext cx="590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2283D"/>
                </a:solidFill>
                <a:latin typeface="Arial"/>
                <a:ea typeface="Arial"/>
                <a:cs typeface="Arial"/>
              </a:defRPr>
            </a:defPPr>
          </a:lstStyle>
          <a:p xmlns:a="http://schemas.openxmlformats.org/drawingml/2006/main">
            <a:pPr>
              <a:defRPr sz="2175" b="1">
                <a:solidFill>
                  <a:srgbClr val="12283D"/>
                </a:solidFill>
                <a:latin typeface="Arial"/>
                <a:ea typeface="Arial"/>
                <a:cs typeface="Arial"/>
              </a:defRPr>
            </a:pPr>
            <a:r>
              <a:rPr sz="2175" b="1">
                <a:solidFill>
                  <a:srgbClr val="12283D"/>
                </a:solidFill>
                <a:latin typeface="Arial"/>
                <a:ea typeface="Arial"/>
                <a:cs typeface="Arial"/>
              </a:rPr>
              <a:t>Preparation</a:t>
            </a:r>
          </a:p>
        </p:txBody>
      </p:sp>
      <p:sp>
        <p:nvSpPr>
          <p:cNvPr id="11" name="">
            <a:extLst xmlns:a="http://schemas.openxmlformats.org/drawingml/2006/main">
              <a:ext uri="{FF2B5EF4-FFF2-40B4-BE49-F238E27FC236}">
                <a16:creationId xmlns:a16="http://schemas.microsoft.com/office/drawing/2014/main" id="{55E318FB-82DD-4EA3-BEE7-60792BBC1DA5}"/>
              </a:ext>
            </a:extLst>
          </p:cNvPr>
          <p:cNvSpPr>
            <a:spLocks xmlns:a="http://schemas.openxmlformats.org/drawingml/2006/main" noGrp="1"/>
          </p:cNvSpPr>
          <p:nvPr/>
        </p:nvSpPr>
        <p:spPr>
          <a:xfrm xmlns:a="http://schemas.openxmlformats.org/drawingml/2006/main">
            <a:off x="609600" y="3876675"/>
            <a:ext cx="614362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2283D"/>
                </a:solidFill>
                <a:latin typeface="Arial"/>
                <a:ea typeface="Arial"/>
                <a:cs typeface="Arial"/>
              </a:defRPr>
            </a:defPPr>
          </a:lstStyle>
          <a:p xmlns:a="http://schemas.openxmlformats.org/drawingml/2006/main">
            <a:pPr>
              <a:defRPr sz="1950" b="0">
                <a:solidFill>
                  <a:srgbClr val="12283D"/>
                </a:solidFill>
                <a:latin typeface="Arial"/>
                <a:ea typeface="Arial"/>
                <a:cs typeface="Arial"/>
              </a:defRPr>
            </a:pPr>
            <a:r>
              <a:rPr sz="1950" b="0">
                <a:solidFill>
                  <a:srgbClr val="12283D"/>
                </a:solidFill>
                <a:latin typeface="Arial"/>
                <a:ea typeface="Arial"/>
                <a:cs typeface="Arial"/>
              </a:rPr>
              <a:t>Repair CSV rows and clean objectives</a:t>
            </a:r>
          </a:p>
          <a:p xmlns:a="http://schemas.openxmlformats.org/drawingml/2006/main">
            <a:pPr>
              <a:defRPr sz="1950" b="0">
                <a:solidFill>
                  <a:srgbClr val="12283D"/>
                </a:solidFill>
                <a:latin typeface="Arial"/>
                <a:ea typeface="Arial"/>
                <a:cs typeface="Arial"/>
              </a:defRPr>
            </a:pPr>
            <a:r>
              <a:rPr sz="1950" b="0">
                <a:solidFill>
                  <a:srgbClr val="12283D"/>
                </a:solidFill>
                <a:latin typeface="Arial"/>
                <a:ea typeface="Arial"/>
                <a:cs typeface="Arial"/>
              </a:rPr>
              <a:t>Keep labels with ≥50 source projects</a:t>
            </a:r>
          </a:p>
          <a:p xmlns:a="http://schemas.openxmlformats.org/drawingml/2006/main">
            <a:pPr>
              <a:defRPr sz="1950" b="0">
                <a:solidFill>
                  <a:srgbClr val="12283D"/>
                </a:solidFill>
                <a:latin typeface="Arial"/>
                <a:ea typeface="Arial"/>
                <a:cs typeface="Arial"/>
              </a:defRPr>
            </a:pPr>
            <a:r>
              <a:rPr sz="1950" b="0">
                <a:solidFill>
                  <a:srgbClr val="12283D"/>
                </a:solidFill>
                <a:latin typeface="Arial"/>
                <a:ea typeface="Arial"/>
                <a:cs typeface="Arial"/>
              </a:rPr>
              <a:t>Group exact duplicates before splitting</a:t>
            </a:r>
          </a:p>
        </p:txBody>
      </p:sp>
      <p:sp>
        <p:nvSpPr>
          <p:cNvPr id="12" name="">
            <a:extLst xmlns:a="http://schemas.openxmlformats.org/drawingml/2006/main">
              <a:ext uri="{FF2B5EF4-FFF2-40B4-BE49-F238E27FC236}">
                <a16:creationId xmlns:a16="http://schemas.microsoft.com/office/drawing/2014/main" id="{C0DCA05A-DA6C-446E-AFA2-EAC2F7A1074B}"/>
              </a:ext>
            </a:extLst>
          </p:cNvPr>
          <p:cNvSpPr>
            <a:spLocks xmlns:a="http://schemas.openxmlformats.org/drawingml/2006/main" noGrp="1"/>
          </p:cNvSpPr>
          <p:nvPr/>
        </p:nvSpPr>
        <p:spPr>
          <a:xfrm xmlns:a="http://schemas.openxmlformats.org/drawingml/2006/main">
            <a:off x="7381875" y="3381375"/>
            <a:ext cx="419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2283D"/>
                </a:solidFill>
                <a:latin typeface="Arial"/>
                <a:ea typeface="Arial"/>
                <a:cs typeface="Arial"/>
              </a:defRPr>
            </a:defPPr>
          </a:lstStyle>
          <a:p xmlns:a="http://schemas.openxmlformats.org/drawingml/2006/main">
            <a:pPr>
              <a:defRPr sz="2175" b="1">
                <a:solidFill>
                  <a:srgbClr val="12283D"/>
                </a:solidFill>
                <a:latin typeface="Arial"/>
                <a:ea typeface="Arial"/>
                <a:cs typeface="Arial"/>
              </a:defRPr>
            </a:pPr>
            <a:r>
              <a:rPr sz="2175" b="1">
                <a:solidFill>
                  <a:srgbClr val="12283D"/>
                </a:solidFill>
                <a:latin typeface="Arial"/>
                <a:ea typeface="Arial"/>
                <a:cs typeface="Arial"/>
              </a:rPr>
              <a:t>Evaluation variants</a:t>
            </a:r>
          </a:p>
        </p:txBody>
      </p:sp>
      <p:sp>
        <p:nvSpPr>
          <p:cNvPr id="13" name="">
            <a:extLst xmlns:a="http://schemas.openxmlformats.org/drawingml/2006/main">
              <a:ext uri="{FF2B5EF4-FFF2-40B4-BE49-F238E27FC236}">
                <a16:creationId xmlns:a16="http://schemas.microsoft.com/office/drawing/2014/main" id="{F374013F-B4DF-40D0-AD02-55F87A7123B3}"/>
              </a:ext>
            </a:extLst>
          </p:cNvPr>
          <p:cNvSpPr>
            <a:spLocks xmlns:a="http://schemas.openxmlformats.org/drawingml/2006/main" noGrp="1"/>
          </p:cNvSpPr>
          <p:nvPr/>
        </p:nvSpPr>
        <p:spPr>
          <a:xfrm xmlns:a="http://schemas.openxmlformats.org/drawingml/2006/main">
            <a:off x="7381875" y="3876675"/>
            <a:ext cx="41910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2283D"/>
                </a:solidFill>
                <a:latin typeface="Arial"/>
                <a:ea typeface="Arial"/>
                <a:cs typeface="Arial"/>
              </a:defRPr>
            </a:defPPr>
          </a:lstStyle>
          <a:p xmlns:a="http://schemas.openxmlformats.org/drawingml/2006/main">
            <a:pPr>
              <a:defRPr sz="1875" b="0">
                <a:solidFill>
                  <a:srgbClr val="12283D"/>
                </a:solidFill>
                <a:latin typeface="Arial"/>
                <a:ea typeface="Arial"/>
                <a:cs typeface="Arial"/>
              </a:defRPr>
            </a:pPr>
            <a:r>
              <a:rPr sz="1875" b="0">
                <a:solidFill>
                  <a:srgbClr val="12283D"/>
                </a:solidFill>
                <a:latin typeface="Arial"/>
                <a:ea typeface="Arial"/>
                <a:cs typeface="Arial"/>
              </a:rPr>
              <a:t>English and translated Turkish</a:t>
            </a:r>
          </a:p>
          <a:p xmlns:a="http://schemas.openxmlformats.org/drawingml/2006/main">
            <a:pPr>
              <a:defRPr sz="1875" b="0">
                <a:solidFill>
                  <a:srgbClr val="12283D"/>
                </a:solidFill>
                <a:latin typeface="Arial"/>
                <a:ea typeface="Arial"/>
                <a:cs typeface="Arial"/>
              </a:defRPr>
            </a:pPr>
            <a:r>
              <a:rPr sz="1875" b="0">
                <a:solidFill>
                  <a:srgbClr val="12283D"/>
                </a:solidFill>
                <a:latin typeface="Arial"/>
                <a:ea typeface="Arial"/>
                <a:cs typeface="Arial"/>
              </a:rPr>
              <a:t>Sentence and chunk code-switch mixes</a:t>
            </a:r>
          </a:p>
          <a:p xmlns:a="http://schemas.openxmlformats.org/drawingml/2006/main">
            <a:pPr>
              <a:defRPr sz="1875" b="0">
                <a:solidFill>
                  <a:srgbClr val="12283D"/>
                </a:solidFill>
                <a:latin typeface="Arial"/>
                <a:ea typeface="Arial"/>
                <a:cs typeface="Arial"/>
              </a:defRPr>
            </a:pPr>
            <a:r>
              <a:rPr sz="1875" b="0">
                <a:solidFill>
                  <a:srgbClr val="12283D"/>
                </a:solidFill>
                <a:latin typeface="Arial"/>
                <a:ea typeface="Arial"/>
                <a:cs typeface="Arial"/>
              </a:rPr>
              <a:t>Character, casing and punctuation noise</a:t>
            </a:r>
          </a:p>
        </p:txBody>
      </p:sp>
      <p:sp>
        <p:nvSpPr>
          <p:cNvPr id="14" name="">
            <a:extLst xmlns:a="http://schemas.openxmlformats.org/drawingml/2006/main">
              <a:ext uri="{FF2B5EF4-FFF2-40B4-BE49-F238E27FC236}">
                <a16:creationId xmlns:a16="http://schemas.microsoft.com/office/drawing/2014/main" id="{8EB5990F-3B54-4829-A3E4-33B89000C5D6}"/>
              </a:ext>
            </a:extLst>
          </p:cNvPr>
          <p:cNvSpPr>
            <a:spLocks xmlns:a="http://schemas.openxmlformats.org/drawingml/2006/main" noGrp="1"/>
          </p:cNvSpPr>
          <p:nvPr/>
        </p:nvSpPr>
        <p:spPr>
          <a:xfrm xmlns:a="http://schemas.openxmlformats.org/drawingml/2006/main">
            <a:off x="609600" y="5305425"/>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2283D"/>
                </a:solidFill>
                <a:latin typeface="Arial"/>
                <a:ea typeface="Arial"/>
                <a:cs typeface="Arial"/>
              </a:defRPr>
            </a:defPPr>
          </a:lstStyle>
          <a:p xmlns:a="http://schemas.openxmlformats.org/drawingml/2006/main">
            <a:pPr>
              <a:defRPr sz="2250" b="1">
                <a:solidFill>
                  <a:srgbClr val="12283D"/>
                </a:solidFill>
                <a:latin typeface="Arial"/>
                <a:ea typeface="Arial"/>
                <a:cs typeface="Arial"/>
              </a:defRPr>
            </a:pPr>
            <a:r>
              <a:rPr sz="2250" b="1">
                <a:solidFill>
                  <a:srgbClr val="12283D"/>
                </a:solidFill>
                <a:latin typeface="Arial"/>
                <a:ea typeface="Arial"/>
                <a:cs typeface="Arial"/>
              </a:rPr>
              <a:t>70% train     15% validation     15% test</a:t>
            </a:r>
          </a:p>
        </p:txBody>
      </p:sp>
      <p:sp>
        <p:nvSpPr>
          <p:cNvPr id="15" name="">
            <a:extLst xmlns:a="http://schemas.openxmlformats.org/drawingml/2006/main">
              <a:ext uri="{FF2B5EF4-FFF2-40B4-BE49-F238E27FC236}">
                <a16:creationId xmlns:a16="http://schemas.microsoft.com/office/drawing/2014/main" id="{3D6EC47E-1930-4180-BA94-F84B8CAAA95B}"/>
              </a:ext>
            </a:extLst>
          </p:cNvPr>
          <p:cNvSpPr>
            <a:spLocks xmlns:a="http://schemas.openxmlformats.org/drawingml/2006/main" noGrp="1"/>
          </p:cNvSpPr>
          <p:nvPr/>
        </p:nvSpPr>
        <p:spPr>
          <a:xfrm xmlns:a="http://schemas.openxmlformats.org/drawingml/2006/main">
            <a:off x="609600" y="581977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16170"/>
                </a:solidFill>
                <a:latin typeface="Arial"/>
                <a:ea typeface="Arial"/>
                <a:cs typeface="Arial"/>
              </a:defRPr>
            </a:defPPr>
          </a:lstStyle>
          <a:p xmlns:a="http://schemas.openxmlformats.org/drawingml/2006/main">
            <a:pPr>
              <a:defRPr sz="1575" b="0">
                <a:solidFill>
                  <a:srgbClr val="516170"/>
                </a:solidFill>
                <a:latin typeface="Arial"/>
                <a:ea typeface="Arial"/>
                <a:cs typeface="Arial"/>
              </a:defRPr>
            </a:pPr>
            <a:r>
              <a:rPr sz="1575" b="0">
                <a:solidFill>
                  <a:srgbClr val="516170"/>
                </a:solidFill>
                <a:latin typeface="Arial"/>
                <a:ea typeface="Arial"/>
                <a:cs typeface="Arial"/>
              </a:rPr>
              <a:t>21,985 / 4,711 / 4,711 projects per language. Shared pair IDs keep variants in the same split.</a:t>
            </a:r>
          </a:p>
        </p:txBody>
      </p:sp>
    </p:spTree>
    <p:extLst>
      <p:ext uri="{BB962C8B-B14F-4D97-AF65-F5344CB8AC3E}">
        <p14:creationId xmlns:p14="http://schemas.microsoft.com/office/powerpoint/2010/main" val="42750480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F8DD201-D2AB-4313-A0BA-EA193CCCB33A}"/>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2283D"/>
                </a:solidFill>
                <a:latin typeface="Arial"/>
                <a:ea typeface="Arial"/>
                <a:cs typeface="Arial"/>
              </a:defRPr>
            </a:defPPr>
          </a:lstStyle>
          <a:p xmlns:a="http://schemas.openxmlformats.org/drawingml/2006/main">
            <a:pPr>
              <a:defRPr sz="3600" b="1">
                <a:solidFill>
                  <a:srgbClr val="12283D"/>
                </a:solidFill>
                <a:latin typeface="Arial"/>
                <a:ea typeface="Arial"/>
                <a:cs typeface="Arial"/>
              </a:defRPr>
            </a:pPr>
            <a:r>
              <a:rPr sz="3600" b="1">
                <a:solidFill>
                  <a:srgbClr val="12283D"/>
                </a:solidFill>
                <a:latin typeface="Arial"/>
                <a:ea typeface="Arial"/>
                <a:cs typeface="Arial"/>
              </a:rPr>
              <a:t>Models and evaluation protocol</a:t>
            </a:r>
          </a:p>
        </p:txBody>
      </p:sp>
      <p:sp>
        <p:nvSpPr>
          <p:cNvPr id="2" name="">
            <a:extLst xmlns:a="http://schemas.openxmlformats.org/drawingml/2006/main">
              <a:ext uri="{FF2B5EF4-FFF2-40B4-BE49-F238E27FC236}">
                <a16:creationId xmlns:a16="http://schemas.microsoft.com/office/drawing/2014/main" id="{2AE29928-B1FD-49DE-8471-A2962621FFF0}"/>
              </a:ext>
            </a:extLst>
          </p:cNvPr>
          <p:cNvSpPr>
            <a:spLocks xmlns:a="http://schemas.openxmlformats.org/drawingml/2006/main" noGrp="1"/>
          </p:cNvSpPr>
          <p:nvPr/>
        </p:nvSpPr>
        <p:spPr>
          <a:xfrm xmlns:a="http://schemas.openxmlformats.org/drawingml/2006/main">
            <a:off x="609600" y="1181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16170"/>
                </a:solidFill>
                <a:latin typeface="Arial"/>
                <a:ea typeface="Arial"/>
                <a:cs typeface="Arial"/>
              </a:defRPr>
            </a:defPPr>
          </a:lstStyle>
          <a:p xmlns:a="http://schemas.openxmlformats.org/drawingml/2006/main">
            <a:pPr>
              <a:defRPr sz="1875" b="0">
                <a:solidFill>
                  <a:srgbClr val="516170"/>
                </a:solidFill>
                <a:latin typeface="Arial"/>
                <a:ea typeface="Arial"/>
                <a:cs typeface="Arial"/>
              </a:defRPr>
            </a:pPr>
            <a:r>
              <a:rPr sz="1875" b="0">
                <a:solidFill>
                  <a:srgbClr val="516170"/>
                </a:solidFill>
                <a:latin typeface="Arial"/>
                <a:ea typeface="Arial"/>
                <a:cs typeface="Arial"/>
              </a:rPr>
              <a:t>Input: project objective text     Output: scientific label set and ancestors</a:t>
            </a:r>
          </a:p>
        </p:txBody>
      </p:sp>
      <p:sp>
        <p:nvSpPr>
          <p:cNvPr id="3" name="">
            <a:extLst xmlns:a="http://schemas.openxmlformats.org/drawingml/2006/main">
              <a:ext uri="{FF2B5EF4-FFF2-40B4-BE49-F238E27FC236}">
                <a16:creationId xmlns:a16="http://schemas.microsoft.com/office/drawing/2014/main" id="{C68FD2F8-5C11-4248-9E5A-ECCF7743AA1E}"/>
              </a:ext>
            </a:extLst>
          </p:cNvPr>
          <p:cNvSpPr>
            <a:spLocks xmlns:a="http://schemas.openxmlformats.org/drawingml/2006/main" noGrp="1"/>
          </p:cNvSpPr>
          <p:nvPr/>
        </p:nvSpPr>
        <p:spPr>
          <a:xfrm xmlns:a="http://schemas.openxmlformats.org/drawingml/2006/main">
            <a:off x="10191750" y="6419850"/>
            <a:ext cx="1390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16170"/>
                </a:solidFill>
                <a:latin typeface="Arial"/>
                <a:ea typeface="Arial"/>
                <a:cs typeface="Arial"/>
              </a:defRPr>
            </a:defPPr>
          </a:lstStyle>
          <a:p xmlns:a="http://schemas.openxmlformats.org/drawingml/2006/main">
            <a:pPr>
              <a:defRPr sz="1200" b="0">
                <a:solidFill>
                  <a:srgbClr val="516170"/>
                </a:solidFill>
                <a:latin typeface="Arial"/>
                <a:ea typeface="Arial"/>
                <a:cs typeface="Arial"/>
              </a:defRPr>
            </a:pPr>
            <a:r>
              <a:rPr sz="1200" b="0">
                <a:solidFill>
                  <a:srgbClr val="516170"/>
                </a:solidFill>
                <a:latin typeface="Arial"/>
                <a:ea typeface="Arial"/>
                <a:cs typeface="Arial"/>
              </a:rPr>
              <a:t>NALTRA   2/4</a:t>
            </a:r>
          </a:p>
        </p:txBody>
      </p:sp>
      <p:sp>
        <p:nvSpPr>
          <p:cNvPr id="4" name="">
            <a:extLst xmlns:a="http://schemas.openxmlformats.org/drawingml/2006/main">
              <a:ext uri="{FF2B5EF4-FFF2-40B4-BE49-F238E27FC236}">
                <a16:creationId xmlns:a16="http://schemas.microsoft.com/office/drawing/2014/main" id="{82C725D0-E738-4136-9F6A-DC42F52E736F}"/>
              </a:ext>
            </a:extLst>
          </p:cNvPr>
          <p:cNvSpPr>
            <a:spLocks xmlns:a="http://schemas.openxmlformats.org/drawingml/2006/main" noGrp="1"/>
          </p:cNvSpPr>
          <p:nvPr/>
        </p:nvSpPr>
        <p:spPr>
          <a:xfrm xmlns:a="http://schemas.openxmlformats.org/drawingml/2006/main">
            <a:off x="609600" y="2009775"/>
            <a:ext cx="552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2283D"/>
                </a:solidFill>
                <a:latin typeface="Arial"/>
                <a:ea typeface="Arial"/>
                <a:cs typeface="Arial"/>
              </a:defRPr>
            </a:defPPr>
          </a:lstStyle>
          <a:p xmlns:a="http://schemas.openxmlformats.org/drawingml/2006/main">
            <a:pPr>
              <a:defRPr sz="2325" b="1">
                <a:solidFill>
                  <a:srgbClr val="12283D"/>
                </a:solidFill>
                <a:latin typeface="Arial"/>
                <a:ea typeface="Arial"/>
                <a:cs typeface="Arial"/>
              </a:defRPr>
            </a:pPr>
            <a:r>
              <a:rPr sz="2325" b="1">
                <a:solidFill>
                  <a:srgbClr val="12283D"/>
                </a:solidFill>
                <a:latin typeface="Arial"/>
                <a:ea typeface="Arial"/>
                <a:cs typeface="Arial"/>
              </a:rPr>
              <a:t>Model families</a:t>
            </a:r>
          </a:p>
        </p:txBody>
      </p:sp>
      <p:sp>
        <p:nvSpPr>
          <p:cNvPr id="5" name="">
            <a:extLst xmlns:a="http://schemas.openxmlformats.org/drawingml/2006/main">
              <a:ext uri="{FF2B5EF4-FFF2-40B4-BE49-F238E27FC236}">
                <a16:creationId xmlns:a16="http://schemas.microsoft.com/office/drawing/2014/main" id="{A8E7183C-DECC-4A6A-998D-6591FFDB6773}"/>
              </a:ext>
            </a:extLst>
          </p:cNvPr>
          <p:cNvSpPr>
            <a:spLocks xmlns:a="http://schemas.openxmlformats.org/drawingml/2006/main" noGrp="1"/>
          </p:cNvSpPr>
          <p:nvPr/>
        </p:nvSpPr>
        <p:spPr>
          <a:xfrm xmlns:a="http://schemas.openxmlformats.org/drawingml/2006/main">
            <a:off x="609600" y="2657475"/>
            <a:ext cx="138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2878B5"/>
                </a:solidFill>
                <a:latin typeface="Arial"/>
                <a:ea typeface="Arial"/>
                <a:cs typeface="Arial"/>
              </a:defRPr>
            </a:defPPr>
          </a:lstStyle>
          <a:p xmlns:a="http://schemas.openxmlformats.org/drawingml/2006/main">
            <a:pPr>
              <a:defRPr sz="1875" b="1">
                <a:solidFill>
                  <a:srgbClr val="2878B5"/>
                </a:solidFill>
                <a:latin typeface="Arial"/>
                <a:ea typeface="Arial"/>
                <a:cs typeface="Arial"/>
              </a:defRPr>
            </a:pPr>
            <a:r>
              <a:rPr sz="1875" b="1">
                <a:solidFill>
                  <a:srgbClr val="2878B5"/>
                </a:solidFill>
                <a:latin typeface="Arial"/>
                <a:ea typeface="Arial"/>
                <a:cs typeface="Arial"/>
              </a:rPr>
              <a:t>Classical</a:t>
            </a:r>
          </a:p>
        </p:txBody>
      </p:sp>
      <p:sp>
        <p:nvSpPr>
          <p:cNvPr id="6" name="">
            <a:extLst xmlns:a="http://schemas.openxmlformats.org/drawingml/2006/main">
              <a:ext uri="{FF2B5EF4-FFF2-40B4-BE49-F238E27FC236}">
                <a16:creationId xmlns:a16="http://schemas.microsoft.com/office/drawing/2014/main" id="{35E3B91B-4B89-4892-80EA-BFAF806553E0}"/>
              </a:ext>
            </a:extLst>
          </p:cNvPr>
          <p:cNvSpPr>
            <a:spLocks xmlns:a="http://schemas.openxmlformats.org/drawingml/2006/main" noGrp="1"/>
          </p:cNvSpPr>
          <p:nvPr/>
        </p:nvSpPr>
        <p:spPr>
          <a:xfrm xmlns:a="http://schemas.openxmlformats.org/drawingml/2006/main">
            <a:off x="2095500" y="2657475"/>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2283D"/>
                </a:solidFill>
                <a:latin typeface="Arial"/>
                <a:ea typeface="Arial"/>
                <a:cs typeface="Arial"/>
              </a:defRPr>
            </a:defPPr>
          </a:lstStyle>
          <a:p xmlns:a="http://schemas.openxmlformats.org/drawingml/2006/main">
            <a:pPr>
              <a:defRPr sz="1875" b="0">
                <a:solidFill>
                  <a:srgbClr val="12283D"/>
                </a:solidFill>
                <a:latin typeface="Arial"/>
                <a:ea typeface="Arial"/>
                <a:cs typeface="Arial"/>
              </a:defRPr>
            </a:pPr>
            <a:r>
              <a:rPr sz="1875" b="0">
                <a:solidFill>
                  <a:srgbClr val="12283D"/>
                </a:solidFill>
                <a:latin typeface="Arial"/>
                <a:ea typeface="Arial"/>
                <a:cs typeface="Arial"/>
              </a:rPr>
              <a:t>TF-IDF Naive Bayes and calibrated SVM</a:t>
            </a:r>
          </a:p>
        </p:txBody>
      </p:sp>
      <p:sp>
        <p:nvSpPr>
          <p:cNvPr id="7" name="">
            <a:extLst xmlns:a="http://schemas.openxmlformats.org/drawingml/2006/main">
              <a:ext uri="{FF2B5EF4-FFF2-40B4-BE49-F238E27FC236}">
                <a16:creationId xmlns:a16="http://schemas.microsoft.com/office/drawing/2014/main" id="{B85B0227-90B9-44B3-ADF0-EBA7536D57EC}"/>
              </a:ext>
            </a:extLst>
          </p:cNvPr>
          <p:cNvSpPr>
            <a:spLocks xmlns:a="http://schemas.openxmlformats.org/drawingml/2006/main" noGrp="1"/>
          </p:cNvSpPr>
          <p:nvPr/>
        </p:nvSpPr>
        <p:spPr>
          <a:xfrm xmlns:a="http://schemas.openxmlformats.org/drawingml/2006/main">
            <a:off x="609600" y="3381375"/>
            <a:ext cx="138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2878B5"/>
                </a:solidFill>
                <a:latin typeface="Arial"/>
                <a:ea typeface="Arial"/>
                <a:cs typeface="Arial"/>
              </a:defRPr>
            </a:defPPr>
          </a:lstStyle>
          <a:p xmlns:a="http://schemas.openxmlformats.org/drawingml/2006/main">
            <a:pPr>
              <a:defRPr sz="1875" b="1">
                <a:solidFill>
                  <a:srgbClr val="2878B5"/>
                </a:solidFill>
                <a:latin typeface="Arial"/>
                <a:ea typeface="Arial"/>
                <a:cs typeface="Arial"/>
              </a:defRPr>
            </a:pPr>
            <a:r>
              <a:rPr sz="1875" b="1">
                <a:solidFill>
                  <a:srgbClr val="2878B5"/>
                </a:solidFill>
                <a:latin typeface="Arial"/>
                <a:ea typeface="Arial"/>
                <a:cs typeface="Arial"/>
              </a:rPr>
              <a:t>Retrieval</a:t>
            </a:r>
          </a:p>
        </p:txBody>
      </p:sp>
      <p:sp>
        <p:nvSpPr>
          <p:cNvPr id="8" name="">
            <a:extLst xmlns:a="http://schemas.openxmlformats.org/drawingml/2006/main">
              <a:ext uri="{FF2B5EF4-FFF2-40B4-BE49-F238E27FC236}">
                <a16:creationId xmlns:a16="http://schemas.microsoft.com/office/drawing/2014/main" id="{42F8358D-B22E-45A8-9C1A-C2B4231C97D4}"/>
              </a:ext>
            </a:extLst>
          </p:cNvPr>
          <p:cNvSpPr>
            <a:spLocks xmlns:a="http://schemas.openxmlformats.org/drawingml/2006/main" noGrp="1"/>
          </p:cNvSpPr>
          <p:nvPr/>
        </p:nvSpPr>
        <p:spPr>
          <a:xfrm xmlns:a="http://schemas.openxmlformats.org/drawingml/2006/main">
            <a:off x="2095500" y="3381375"/>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2283D"/>
                </a:solidFill>
                <a:latin typeface="Arial"/>
                <a:ea typeface="Arial"/>
                <a:cs typeface="Arial"/>
              </a:defRPr>
            </a:defPPr>
          </a:lstStyle>
          <a:p xmlns:a="http://schemas.openxmlformats.org/drawingml/2006/main">
            <a:pPr>
              <a:defRPr sz="1875" b="0">
                <a:solidFill>
                  <a:srgbClr val="12283D"/>
                </a:solidFill>
                <a:latin typeface="Arial"/>
                <a:ea typeface="Arial"/>
                <a:cs typeface="Arial"/>
              </a:defRPr>
            </a:pPr>
            <a:r>
              <a:rPr sz="1875" b="0">
                <a:solidFill>
                  <a:srgbClr val="12283D"/>
                </a:solidFill>
                <a:latin typeface="Arial"/>
                <a:ea typeface="Arial"/>
                <a:cs typeface="Arial"/>
              </a:rPr>
              <a:t>TF-IDF + multilingual-e5 hybrid kNN</a:t>
            </a:r>
          </a:p>
        </p:txBody>
      </p:sp>
      <p:sp>
        <p:nvSpPr>
          <p:cNvPr id="9" name="">
            <a:extLst xmlns:a="http://schemas.openxmlformats.org/drawingml/2006/main">
              <a:ext uri="{FF2B5EF4-FFF2-40B4-BE49-F238E27FC236}">
                <a16:creationId xmlns:a16="http://schemas.microsoft.com/office/drawing/2014/main" id="{47E24766-4349-4985-9C4D-2AD00CEE11AD}"/>
              </a:ext>
            </a:extLst>
          </p:cNvPr>
          <p:cNvSpPr>
            <a:spLocks xmlns:a="http://schemas.openxmlformats.org/drawingml/2006/main" noGrp="1"/>
          </p:cNvSpPr>
          <p:nvPr/>
        </p:nvSpPr>
        <p:spPr>
          <a:xfrm xmlns:a="http://schemas.openxmlformats.org/drawingml/2006/main">
            <a:off x="609600" y="4105275"/>
            <a:ext cx="138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2878B5"/>
                </a:solidFill>
                <a:latin typeface="Arial"/>
                <a:ea typeface="Arial"/>
                <a:cs typeface="Arial"/>
              </a:defRPr>
            </a:defPPr>
          </a:lstStyle>
          <a:p xmlns:a="http://schemas.openxmlformats.org/drawingml/2006/main">
            <a:pPr>
              <a:defRPr sz="1875" b="1">
                <a:solidFill>
                  <a:srgbClr val="2878B5"/>
                </a:solidFill>
                <a:latin typeface="Arial"/>
                <a:ea typeface="Arial"/>
                <a:cs typeface="Arial"/>
              </a:defRPr>
            </a:pPr>
            <a:r>
              <a:rPr sz="1875" b="1">
                <a:solidFill>
                  <a:srgbClr val="2878B5"/>
                </a:solidFill>
                <a:latin typeface="Arial"/>
                <a:ea typeface="Arial"/>
                <a:cs typeface="Arial"/>
              </a:rPr>
              <a:t>Neural</a:t>
            </a:r>
          </a:p>
        </p:txBody>
      </p:sp>
      <p:sp>
        <p:nvSpPr>
          <p:cNvPr id="10" name="">
            <a:extLst xmlns:a="http://schemas.openxmlformats.org/drawingml/2006/main">
              <a:ext uri="{FF2B5EF4-FFF2-40B4-BE49-F238E27FC236}">
                <a16:creationId xmlns:a16="http://schemas.microsoft.com/office/drawing/2014/main" id="{7666A608-CEFE-4B1B-9023-77C0563E3E39}"/>
              </a:ext>
            </a:extLst>
          </p:cNvPr>
          <p:cNvSpPr>
            <a:spLocks xmlns:a="http://schemas.openxmlformats.org/drawingml/2006/main" noGrp="1"/>
          </p:cNvSpPr>
          <p:nvPr/>
        </p:nvSpPr>
        <p:spPr>
          <a:xfrm xmlns:a="http://schemas.openxmlformats.org/drawingml/2006/main">
            <a:off x="2095500" y="4105275"/>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2283D"/>
                </a:solidFill>
                <a:latin typeface="Arial"/>
                <a:ea typeface="Arial"/>
                <a:cs typeface="Arial"/>
              </a:defRPr>
            </a:defPPr>
          </a:lstStyle>
          <a:p xmlns:a="http://schemas.openxmlformats.org/drawingml/2006/main">
            <a:pPr>
              <a:defRPr sz="1875" b="0">
                <a:solidFill>
                  <a:srgbClr val="12283D"/>
                </a:solidFill>
                <a:latin typeface="Arial"/>
                <a:ea typeface="Arial"/>
                <a:cs typeface="Arial"/>
              </a:defRPr>
            </a:pPr>
            <a:r>
              <a:rPr sz="1875" b="0">
                <a:solidFill>
                  <a:srgbClr val="12283D"/>
                </a:solidFill>
                <a:latin typeface="Arial"/>
                <a:ea typeface="Arial"/>
                <a:cs typeface="Arial"/>
              </a:rPr>
              <a:t>BiLSTM and fine-tuned XLM-R</a:t>
            </a:r>
          </a:p>
        </p:txBody>
      </p:sp>
      <p:sp>
        <p:nvSpPr>
          <p:cNvPr id="11" name="">
            <a:extLst xmlns:a="http://schemas.openxmlformats.org/drawingml/2006/main">
              <a:ext uri="{FF2B5EF4-FFF2-40B4-BE49-F238E27FC236}">
                <a16:creationId xmlns:a16="http://schemas.microsoft.com/office/drawing/2014/main" id="{1270214F-CCB6-48A6-9E65-ECAB0A68075B}"/>
              </a:ext>
            </a:extLst>
          </p:cNvPr>
          <p:cNvSpPr>
            <a:spLocks xmlns:a="http://schemas.openxmlformats.org/drawingml/2006/main" noGrp="1"/>
          </p:cNvSpPr>
          <p:nvPr/>
        </p:nvSpPr>
        <p:spPr>
          <a:xfrm xmlns:a="http://schemas.openxmlformats.org/drawingml/2006/main">
            <a:off x="609600" y="4829175"/>
            <a:ext cx="138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2878B5"/>
                </a:solidFill>
                <a:latin typeface="Arial"/>
                <a:ea typeface="Arial"/>
                <a:cs typeface="Arial"/>
              </a:defRPr>
            </a:defPPr>
          </a:lstStyle>
          <a:p xmlns:a="http://schemas.openxmlformats.org/drawingml/2006/main">
            <a:pPr>
              <a:defRPr sz="1875" b="1">
                <a:solidFill>
                  <a:srgbClr val="2878B5"/>
                </a:solidFill>
                <a:latin typeface="Arial"/>
                <a:ea typeface="Arial"/>
                <a:cs typeface="Arial"/>
              </a:defRPr>
            </a:pPr>
            <a:r>
              <a:rPr sz="1875" b="1">
                <a:solidFill>
                  <a:srgbClr val="2878B5"/>
                </a:solidFill>
                <a:latin typeface="Arial"/>
                <a:ea typeface="Arial"/>
                <a:cs typeface="Arial"/>
              </a:rPr>
              <a:t>Ensembles</a:t>
            </a:r>
          </a:p>
        </p:txBody>
      </p:sp>
      <p:sp>
        <p:nvSpPr>
          <p:cNvPr id="12" name="">
            <a:extLst xmlns:a="http://schemas.openxmlformats.org/drawingml/2006/main">
              <a:ext uri="{FF2B5EF4-FFF2-40B4-BE49-F238E27FC236}">
                <a16:creationId xmlns:a16="http://schemas.microsoft.com/office/drawing/2014/main" id="{AAAFB74D-A4E4-4AB6-8436-A44021CC95E8}"/>
              </a:ext>
            </a:extLst>
          </p:cNvPr>
          <p:cNvSpPr>
            <a:spLocks xmlns:a="http://schemas.openxmlformats.org/drawingml/2006/main" noGrp="1"/>
          </p:cNvSpPr>
          <p:nvPr/>
        </p:nvSpPr>
        <p:spPr>
          <a:xfrm xmlns:a="http://schemas.openxmlformats.org/drawingml/2006/main">
            <a:off x="2095500" y="4829175"/>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2283D"/>
                </a:solidFill>
                <a:latin typeface="Arial"/>
                <a:ea typeface="Arial"/>
                <a:cs typeface="Arial"/>
              </a:defRPr>
            </a:defPPr>
          </a:lstStyle>
          <a:p xmlns:a="http://schemas.openxmlformats.org/drawingml/2006/main">
            <a:pPr>
              <a:defRPr sz="1875" b="0">
                <a:solidFill>
                  <a:srgbClr val="12283D"/>
                </a:solidFill>
                <a:latin typeface="Arial"/>
                <a:ea typeface="Arial"/>
                <a:cs typeface="Arial"/>
              </a:defRPr>
            </a:pPr>
            <a:r>
              <a:rPr sz="1875" b="0">
                <a:solidFill>
                  <a:srgbClr val="12283D"/>
                </a:solidFill>
                <a:latin typeface="Arial"/>
                <a:ea typeface="Arial"/>
                <a:cs typeface="Arial"/>
              </a:rPr>
              <a:t>Hard votes and weighted soft scores</a:t>
            </a:r>
          </a:p>
        </p:txBody>
      </p:sp>
      <p:sp>
        <p:nvSpPr>
          <p:cNvPr id="13" name="">
            <a:extLst xmlns:a="http://schemas.openxmlformats.org/drawingml/2006/main">
              <a:ext uri="{FF2B5EF4-FFF2-40B4-BE49-F238E27FC236}">
                <a16:creationId xmlns:a16="http://schemas.microsoft.com/office/drawing/2014/main" id="{FCBEF19C-D42D-4E30-BC74-218B2E79EB92}"/>
              </a:ext>
            </a:extLst>
          </p:cNvPr>
          <p:cNvSpPr>
            <a:spLocks xmlns:a="http://schemas.openxmlformats.org/drawingml/2006/main" noGrp="1"/>
          </p:cNvSpPr>
          <p:nvPr/>
        </p:nvSpPr>
        <p:spPr>
          <a:xfrm xmlns:a="http://schemas.openxmlformats.org/drawingml/2006/main">
            <a:off x="7334250" y="2009775"/>
            <a:ext cx="428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2283D"/>
                </a:solidFill>
                <a:latin typeface="Arial"/>
                <a:ea typeface="Arial"/>
                <a:cs typeface="Arial"/>
              </a:defRPr>
            </a:defPPr>
          </a:lstStyle>
          <a:p xmlns:a="http://schemas.openxmlformats.org/drawingml/2006/main">
            <a:pPr>
              <a:defRPr sz="2325" b="1">
                <a:solidFill>
                  <a:srgbClr val="12283D"/>
                </a:solidFill>
                <a:latin typeface="Arial"/>
                <a:ea typeface="Arial"/>
                <a:cs typeface="Arial"/>
              </a:defRPr>
            </a:pPr>
            <a:r>
              <a:rPr sz="2325" b="1">
                <a:solidFill>
                  <a:srgbClr val="12283D"/>
                </a:solidFill>
                <a:latin typeface="Arial"/>
                <a:ea typeface="Arial"/>
                <a:cs typeface="Arial"/>
              </a:rPr>
              <a:t>Frozen test protocol</a:t>
            </a:r>
          </a:p>
        </p:txBody>
      </p:sp>
      <p:sp>
        <p:nvSpPr>
          <p:cNvPr id="14" name="">
            <a:extLst xmlns:a="http://schemas.openxmlformats.org/drawingml/2006/main">
              <a:ext uri="{FF2B5EF4-FFF2-40B4-BE49-F238E27FC236}">
                <a16:creationId xmlns:a16="http://schemas.microsoft.com/office/drawing/2014/main" id="{ADE395E8-7A08-461A-AE28-9442157F294B}"/>
              </a:ext>
            </a:extLst>
          </p:cNvPr>
          <p:cNvSpPr>
            <a:spLocks xmlns:a="http://schemas.openxmlformats.org/drawingml/2006/main" noGrp="1"/>
          </p:cNvSpPr>
          <p:nvPr/>
        </p:nvSpPr>
        <p:spPr>
          <a:xfrm xmlns:a="http://schemas.openxmlformats.org/drawingml/2006/main">
            <a:off x="7334250" y="2657475"/>
            <a:ext cx="4238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2283D"/>
                </a:solidFill>
                <a:latin typeface="Arial"/>
                <a:ea typeface="Arial"/>
                <a:cs typeface="Arial"/>
              </a:defRPr>
            </a:defPPr>
          </a:lstStyle>
          <a:p xmlns:a="http://schemas.openxmlformats.org/drawingml/2006/main">
            <a:pPr>
              <a:defRPr sz="2025" b="0">
                <a:solidFill>
                  <a:srgbClr val="12283D"/>
                </a:solidFill>
                <a:latin typeface="Arial"/>
                <a:ea typeface="Arial"/>
                <a:cs typeface="Arial"/>
              </a:defRPr>
            </a:pPr>
            <a:r>
              <a:rPr sz="2025" b="0">
                <a:solidFill>
                  <a:srgbClr val="12283D"/>
                </a:solidFill>
                <a:latin typeface="Arial"/>
                <a:ea typeface="Arial"/>
                <a:cs typeface="Arial"/>
              </a:rPr>
              <a:t>Train on English + Turkish</a:t>
            </a:r>
          </a:p>
        </p:txBody>
      </p:sp>
      <p:sp>
        <p:nvSpPr>
          <p:cNvPr id="15" name="">
            <a:extLst xmlns:a="http://schemas.openxmlformats.org/drawingml/2006/main">
              <a:ext uri="{FF2B5EF4-FFF2-40B4-BE49-F238E27FC236}">
                <a16:creationId xmlns:a16="http://schemas.microsoft.com/office/drawing/2014/main" id="{9661A3BC-EE8E-4C88-802B-857C1161D3FD}"/>
              </a:ext>
            </a:extLst>
          </p:cNvPr>
          <p:cNvSpPr>
            <a:spLocks xmlns:a="http://schemas.openxmlformats.org/drawingml/2006/main" noGrp="1"/>
          </p:cNvSpPr>
          <p:nvPr/>
        </p:nvSpPr>
        <p:spPr>
          <a:xfrm xmlns:a="http://schemas.openxmlformats.org/drawingml/2006/main">
            <a:off x="7334250" y="3333750"/>
            <a:ext cx="4238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2283D"/>
                </a:solidFill>
                <a:latin typeface="Arial"/>
                <a:ea typeface="Arial"/>
                <a:cs typeface="Arial"/>
              </a:defRPr>
            </a:defPPr>
          </a:lstStyle>
          <a:p xmlns:a="http://schemas.openxmlformats.org/drawingml/2006/main">
            <a:pPr>
              <a:defRPr sz="2025" b="0">
                <a:solidFill>
                  <a:srgbClr val="12283D"/>
                </a:solidFill>
                <a:latin typeface="Arial"/>
                <a:ea typeface="Arial"/>
                <a:cs typeface="Arial"/>
              </a:defRPr>
            </a:pPr>
            <a:r>
              <a:rPr sz="2025" b="0">
                <a:solidFill>
                  <a:srgbClr val="12283D"/>
                </a:solidFill>
                <a:latin typeface="Arial"/>
                <a:ea typeface="Arial"/>
                <a:cs typeface="Arial"/>
              </a:rPr>
              <a:t>Val-A: tune member thresholds</a:t>
            </a:r>
          </a:p>
        </p:txBody>
      </p:sp>
      <p:sp>
        <p:nvSpPr>
          <p:cNvPr id="16" name="">
            <a:extLst xmlns:a="http://schemas.openxmlformats.org/drawingml/2006/main">
              <a:ext uri="{FF2B5EF4-FFF2-40B4-BE49-F238E27FC236}">
                <a16:creationId xmlns:a16="http://schemas.microsoft.com/office/drawing/2014/main" id="{EC18C2EE-F446-4353-B566-D42B04331CFB}"/>
              </a:ext>
            </a:extLst>
          </p:cNvPr>
          <p:cNvSpPr>
            <a:spLocks xmlns:a="http://schemas.openxmlformats.org/drawingml/2006/main" noGrp="1"/>
          </p:cNvSpPr>
          <p:nvPr/>
        </p:nvSpPr>
        <p:spPr>
          <a:xfrm xmlns:a="http://schemas.openxmlformats.org/drawingml/2006/main">
            <a:off x="7334250" y="4048125"/>
            <a:ext cx="4238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2283D"/>
                </a:solidFill>
                <a:latin typeface="Arial"/>
                <a:ea typeface="Arial"/>
                <a:cs typeface="Arial"/>
              </a:defRPr>
            </a:defPPr>
          </a:lstStyle>
          <a:p xmlns:a="http://schemas.openxmlformats.org/drawingml/2006/main">
            <a:pPr>
              <a:defRPr sz="2025" b="0">
                <a:solidFill>
                  <a:srgbClr val="12283D"/>
                </a:solidFill>
                <a:latin typeface="Arial"/>
                <a:ea typeface="Arial"/>
                <a:cs typeface="Arial"/>
              </a:defRPr>
            </a:pPr>
            <a:r>
              <a:rPr sz="2025" b="0">
                <a:solidFill>
                  <a:srgbClr val="12283D"/>
                </a:solidFill>
                <a:latin typeface="Arial"/>
                <a:ea typeface="Arial"/>
                <a:cs typeface="Arial"/>
              </a:rPr>
              <a:t>Val-B: tune ensemble settings</a:t>
            </a:r>
          </a:p>
        </p:txBody>
      </p:sp>
      <p:sp>
        <p:nvSpPr>
          <p:cNvPr id="17" name="">
            <a:extLst xmlns:a="http://schemas.openxmlformats.org/drawingml/2006/main">
              <a:ext uri="{FF2B5EF4-FFF2-40B4-BE49-F238E27FC236}">
                <a16:creationId xmlns:a16="http://schemas.microsoft.com/office/drawing/2014/main" id="{B4A3DA1D-EFFA-439A-A338-24D9D1F0F62B}"/>
              </a:ext>
            </a:extLst>
          </p:cNvPr>
          <p:cNvSpPr>
            <a:spLocks xmlns:a="http://schemas.openxmlformats.org/drawingml/2006/main" noGrp="1"/>
          </p:cNvSpPr>
          <p:nvPr/>
        </p:nvSpPr>
        <p:spPr>
          <a:xfrm xmlns:a="http://schemas.openxmlformats.org/drawingml/2006/main">
            <a:off x="7334250" y="4762500"/>
            <a:ext cx="4238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2283D"/>
                </a:solidFill>
                <a:latin typeface="Arial"/>
                <a:ea typeface="Arial"/>
                <a:cs typeface="Arial"/>
              </a:defRPr>
            </a:defPPr>
          </a:lstStyle>
          <a:p xmlns:a="http://schemas.openxmlformats.org/drawingml/2006/main">
            <a:pPr>
              <a:defRPr sz="2025" b="0">
                <a:solidFill>
                  <a:srgbClr val="12283D"/>
                </a:solidFill>
                <a:latin typeface="Arial"/>
                <a:ea typeface="Arial"/>
                <a:cs typeface="Arial"/>
              </a:defRPr>
            </a:pPr>
            <a:r>
              <a:rPr sz="2025" b="0">
                <a:solidFill>
                  <a:srgbClr val="12283D"/>
                </a:solidFill>
                <a:latin typeface="Arial"/>
                <a:ea typeface="Arial"/>
                <a:cs typeface="Arial"/>
              </a:rPr>
              <a:t>Test: micro-F1 and hierarchical F1</a:t>
            </a:r>
          </a:p>
        </p:txBody>
      </p:sp>
      <p:sp>
        <p:nvSpPr>
          <p:cNvPr id="18" name="">
            <a:extLst xmlns:a="http://schemas.openxmlformats.org/drawingml/2006/main">
              <a:ext uri="{FF2B5EF4-FFF2-40B4-BE49-F238E27FC236}">
                <a16:creationId xmlns:a16="http://schemas.microsoft.com/office/drawing/2014/main" id="{99DB466D-511A-4AE9-A4A9-6EFAC49D7701}"/>
              </a:ext>
            </a:extLst>
          </p:cNvPr>
          <p:cNvSpPr>
            <a:spLocks xmlns:a="http://schemas.openxmlformats.org/drawingml/2006/main" noGrp="1"/>
          </p:cNvSpPr>
          <p:nvPr/>
        </p:nvSpPr>
        <p:spPr>
          <a:xfrm xmlns:a="http://schemas.openxmlformats.org/drawingml/2006/main">
            <a:off x="609600" y="585787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16170"/>
                </a:solidFill>
                <a:latin typeface="Arial"/>
                <a:ea typeface="Arial"/>
                <a:cs typeface="Arial"/>
              </a:defRPr>
            </a:defPPr>
          </a:lstStyle>
          <a:p xmlns:a="http://schemas.openxmlformats.org/drawingml/2006/main">
            <a:pPr>
              <a:defRPr sz="1725" b="0">
                <a:solidFill>
                  <a:srgbClr val="516170"/>
                </a:solidFill>
                <a:latin typeface="Arial"/>
                <a:ea typeface="Arial"/>
                <a:cs typeface="Arial"/>
              </a:defRPr>
            </a:pPr>
            <a:r>
              <a:rPr sz="1725" b="0">
                <a:solidFill>
                  <a:srgbClr val="516170"/>
                </a:solidFill>
                <a:latin typeface="Arial"/>
                <a:ea typeface="Arial"/>
                <a:cs typeface="Arial"/>
              </a:rPr>
              <a:t>10,000 paired project bootstrap resamples, 95% intervals and Holm correction</a:t>
            </a:r>
          </a:p>
        </p:txBody>
      </p:sp>
    </p:spTree>
    <p:extLst>
      <p:ext uri="{BB962C8B-B14F-4D97-AF65-F5344CB8AC3E}">
        <p14:creationId xmlns:p14="http://schemas.microsoft.com/office/powerpoint/2010/main" val="123955955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2EE4938-63D0-4CAF-9A40-5705100D56A5}"/>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2283D"/>
                </a:solidFill>
                <a:latin typeface="Arial"/>
                <a:ea typeface="Arial"/>
                <a:cs typeface="Arial"/>
              </a:defRPr>
            </a:defPPr>
          </a:lstStyle>
          <a:p xmlns:a="http://schemas.openxmlformats.org/drawingml/2006/main">
            <a:pPr>
              <a:defRPr sz="3600" b="1">
                <a:solidFill>
                  <a:srgbClr val="12283D"/>
                </a:solidFill>
                <a:latin typeface="Arial"/>
                <a:ea typeface="Arial"/>
                <a:cs typeface="Arial"/>
              </a:defRPr>
            </a:pPr>
            <a:r>
              <a:rPr sz="3600" b="1">
                <a:solidFill>
                  <a:srgbClr val="12283D"/>
                </a:solidFill>
                <a:latin typeface="Arial"/>
                <a:ea typeface="Arial"/>
                <a:cs typeface="Arial"/>
              </a:rPr>
              <a:t>SVM leads the full benchmark</a:t>
            </a:r>
          </a:p>
        </p:txBody>
      </p:sp>
      <p:sp>
        <p:nvSpPr>
          <p:cNvPr id="2" name="">
            <a:extLst xmlns:a="http://schemas.openxmlformats.org/drawingml/2006/main">
              <a:ext uri="{FF2B5EF4-FFF2-40B4-BE49-F238E27FC236}">
                <a16:creationId xmlns:a16="http://schemas.microsoft.com/office/drawing/2014/main" id="{60A70566-0C99-40B8-9877-1DCC281BD940}"/>
              </a:ext>
            </a:extLst>
          </p:cNvPr>
          <p:cNvSpPr>
            <a:spLocks xmlns:a="http://schemas.openxmlformats.org/drawingml/2006/main" noGrp="1"/>
          </p:cNvSpPr>
          <p:nvPr/>
        </p:nvSpPr>
        <p:spPr>
          <a:xfrm xmlns:a="http://schemas.openxmlformats.org/drawingml/2006/main">
            <a:off x="609600" y="1181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16170"/>
                </a:solidFill>
                <a:latin typeface="Arial"/>
                <a:ea typeface="Arial"/>
                <a:cs typeface="Arial"/>
              </a:defRPr>
            </a:defPPr>
          </a:lstStyle>
          <a:p xmlns:a="http://schemas.openxmlformats.org/drawingml/2006/main">
            <a:pPr>
              <a:defRPr sz="1875" b="0">
                <a:solidFill>
                  <a:srgbClr val="516170"/>
                </a:solidFill>
                <a:latin typeface="Arial"/>
                <a:ea typeface="Arial"/>
                <a:cs typeface="Arial"/>
              </a:defRPr>
            </a:pPr>
            <a:r>
              <a:rPr sz="1875" b="0">
                <a:solidFill>
                  <a:srgbClr val="516170"/>
                </a:solidFill>
                <a:latin typeface="Arial"/>
                <a:ea typeface="Arial"/>
                <a:cs typeface="Arial"/>
              </a:rPr>
              <a:t>Direct-label micro-F1 on 4,711 test projects per language</a:t>
            </a:r>
          </a:p>
        </p:txBody>
      </p:sp>
      <p:sp>
        <p:nvSpPr>
          <p:cNvPr id="3" name="">
            <a:extLst xmlns:a="http://schemas.openxmlformats.org/drawingml/2006/main">
              <a:ext uri="{FF2B5EF4-FFF2-40B4-BE49-F238E27FC236}">
                <a16:creationId xmlns:a16="http://schemas.microsoft.com/office/drawing/2014/main" id="{C50BC687-111E-42D7-BC08-64E92B9354F2}"/>
              </a:ext>
            </a:extLst>
          </p:cNvPr>
          <p:cNvSpPr>
            <a:spLocks xmlns:a="http://schemas.openxmlformats.org/drawingml/2006/main" noGrp="1"/>
          </p:cNvSpPr>
          <p:nvPr/>
        </p:nvSpPr>
        <p:spPr>
          <a:xfrm xmlns:a="http://schemas.openxmlformats.org/drawingml/2006/main">
            <a:off x="10191750" y="6419850"/>
            <a:ext cx="1390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16170"/>
                </a:solidFill>
                <a:latin typeface="Arial"/>
                <a:ea typeface="Arial"/>
                <a:cs typeface="Arial"/>
              </a:defRPr>
            </a:defPPr>
          </a:lstStyle>
          <a:p xmlns:a="http://schemas.openxmlformats.org/drawingml/2006/main">
            <a:pPr>
              <a:defRPr sz="1200" b="0">
                <a:solidFill>
                  <a:srgbClr val="516170"/>
                </a:solidFill>
                <a:latin typeface="Arial"/>
                <a:ea typeface="Arial"/>
                <a:cs typeface="Arial"/>
              </a:defRPr>
            </a:pPr>
            <a:r>
              <a:rPr sz="1200" b="0">
                <a:solidFill>
                  <a:srgbClr val="516170"/>
                </a:solidFill>
                <a:latin typeface="Arial"/>
                <a:ea typeface="Arial"/>
                <a:cs typeface="Arial"/>
              </a:rPr>
              <a:t>NALTRA   3/4</a:t>
            </a:r>
          </a:p>
        </p:txBody>
      </p:sp>
      <p:graphicFrame>
        <p:nvGraphicFramePr>
          <p:cNvPr id="4" name="Chart">
            <a:extLst xmlns:a="http://schemas.openxmlformats.org/drawingml/2006/main">
              <a:ext uri="{FF2B5EF4-FFF2-40B4-BE49-F238E27FC236}">
                <a16:creationId xmlns:a16="http://schemas.microsoft.com/office/drawing/2014/main" id="{F58671EF-0F43-4C0F-8300-7A1B9A42FB56}"/>
              </a:ext>
            </a:extLst>
          </p:cNvPr>
          <p:cNvGraphicFramePr/>
          <p:nvPr/>
        </p:nvGraphicFramePr>
        <p:xfrm>
          <a:off xmlns:a="http://schemas.openxmlformats.org/drawingml/2006/main" x="552450" y="1819275"/>
          <a:ext xmlns:a="http://schemas.openxmlformats.org/drawingml/2006/main" cx="7810500" cy="4210050"/>
        </p:xfrm>
        <a:graphic xmlns:a="http://schemas.openxmlformats.org/drawingml/2006/main">
          <a:graphicData uri="http://schemas.openxmlformats.org/drawingml/2006/chart">
            <c:chart xmlns:r="http://schemas.openxmlformats.org/officeDocument/2006/relationships" xmlns:c="http://schemas.openxmlformats.org/drawingml/2006/chart" r:id="Rf2ef02f9c59b49f5"/>
          </a:graphicData>
        </a:graphic>
      </p:graphicFrame>
      <p:sp>
        <p:nvSpPr>
          <p:cNvPr id="5" name="">
            <a:extLst xmlns:a="http://schemas.openxmlformats.org/drawingml/2006/main">
              <a:ext uri="{FF2B5EF4-FFF2-40B4-BE49-F238E27FC236}">
                <a16:creationId xmlns:a16="http://schemas.microsoft.com/office/drawing/2014/main" id="{4D0395B2-6E40-4691-8A77-1FF5FFF56064}"/>
              </a:ext>
            </a:extLst>
          </p:cNvPr>
          <p:cNvSpPr>
            <a:spLocks xmlns:a="http://schemas.openxmlformats.org/drawingml/2006/main" noGrp="1"/>
          </p:cNvSpPr>
          <p:nvPr/>
        </p:nvSpPr>
        <p:spPr>
          <a:xfrm xmlns:a="http://schemas.openxmlformats.org/drawingml/2006/main">
            <a:off x="8943975" y="2124075"/>
            <a:ext cx="257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2283D"/>
                </a:solidFill>
                <a:latin typeface="Arial"/>
                <a:ea typeface="Arial"/>
                <a:cs typeface="Arial"/>
              </a:defRPr>
            </a:defPPr>
          </a:lstStyle>
          <a:p xmlns:a="http://schemas.openxmlformats.org/drawingml/2006/main">
            <a:pPr>
              <a:defRPr sz="2100" b="1">
                <a:solidFill>
                  <a:srgbClr val="12283D"/>
                </a:solidFill>
                <a:latin typeface="Arial"/>
                <a:ea typeface="Arial"/>
                <a:cs typeface="Arial"/>
              </a:defRPr>
            </a:pPr>
            <a:r>
              <a:rPr sz="2100" b="1">
                <a:solidFill>
                  <a:srgbClr val="12283D"/>
                </a:solidFill>
                <a:latin typeface="Arial"/>
                <a:ea typeface="Arial"/>
                <a:cs typeface="Arial"/>
              </a:rPr>
              <a:t>SVM on CPU</a:t>
            </a:r>
          </a:p>
        </p:txBody>
      </p:sp>
      <p:sp>
        <p:nvSpPr>
          <p:cNvPr id="6" name="">
            <a:extLst xmlns:a="http://schemas.openxmlformats.org/drawingml/2006/main">
              <a:ext uri="{FF2B5EF4-FFF2-40B4-BE49-F238E27FC236}">
                <a16:creationId xmlns:a16="http://schemas.microsoft.com/office/drawing/2014/main" id="{55550715-CD25-4C77-87AE-5C60228626F1}"/>
              </a:ext>
            </a:extLst>
          </p:cNvPr>
          <p:cNvSpPr>
            <a:spLocks xmlns:a="http://schemas.openxmlformats.org/drawingml/2006/main" noGrp="1"/>
          </p:cNvSpPr>
          <p:nvPr/>
        </p:nvSpPr>
        <p:spPr>
          <a:xfrm xmlns:a="http://schemas.openxmlformats.org/drawingml/2006/main">
            <a:off x="8943975" y="2667000"/>
            <a:ext cx="2571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125" b="1">
                <a:solidFill>
                  <a:srgbClr val="2878B5"/>
                </a:solidFill>
                <a:latin typeface="Arial"/>
                <a:ea typeface="Arial"/>
                <a:cs typeface="Arial"/>
              </a:defRPr>
            </a:defPPr>
          </a:lstStyle>
          <a:p xmlns:a="http://schemas.openxmlformats.org/drawingml/2006/main">
            <a:pPr>
              <a:defRPr sz="4125" b="1">
                <a:solidFill>
                  <a:srgbClr val="2878B5"/>
                </a:solidFill>
                <a:latin typeface="Arial"/>
                <a:ea typeface="Arial"/>
                <a:cs typeface="Arial"/>
              </a:defRPr>
            </a:pPr>
            <a:r>
              <a:rPr sz="4125" b="1">
                <a:solidFill>
                  <a:srgbClr val="2878B5"/>
                </a:solidFill>
                <a:latin typeface="Arial"/>
                <a:ea typeface="Arial"/>
                <a:cs typeface="Arial"/>
              </a:rPr>
              <a:t>2.0 ms</a:t>
            </a:r>
          </a:p>
        </p:txBody>
      </p:sp>
      <p:sp>
        <p:nvSpPr>
          <p:cNvPr id="7" name="">
            <a:extLst xmlns:a="http://schemas.openxmlformats.org/drawingml/2006/main">
              <a:ext uri="{FF2B5EF4-FFF2-40B4-BE49-F238E27FC236}">
                <a16:creationId xmlns:a16="http://schemas.microsoft.com/office/drawing/2014/main" id="{85EEB3B7-C3D8-4065-A7C7-ED65AA6C374E}"/>
              </a:ext>
            </a:extLst>
          </p:cNvPr>
          <p:cNvSpPr>
            <a:spLocks xmlns:a="http://schemas.openxmlformats.org/drawingml/2006/main" noGrp="1"/>
          </p:cNvSpPr>
          <p:nvPr/>
        </p:nvSpPr>
        <p:spPr>
          <a:xfrm xmlns:a="http://schemas.openxmlformats.org/drawingml/2006/main">
            <a:off x="8943975" y="3343275"/>
            <a:ext cx="257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16170"/>
                </a:solidFill>
                <a:latin typeface="Arial"/>
                <a:ea typeface="Arial"/>
                <a:cs typeface="Arial"/>
              </a:defRPr>
            </a:defPPr>
          </a:lstStyle>
          <a:p xmlns:a="http://schemas.openxmlformats.org/drawingml/2006/main">
            <a:pPr>
              <a:defRPr sz="1800" b="0">
                <a:solidFill>
                  <a:srgbClr val="516170"/>
                </a:solidFill>
                <a:latin typeface="Arial"/>
                <a:ea typeface="Arial"/>
                <a:cs typeface="Arial"/>
              </a:defRPr>
            </a:pPr>
            <a:r>
              <a:rPr sz="1800" b="0">
                <a:solidFill>
                  <a:srgbClr val="516170"/>
                </a:solidFill>
                <a:latin typeface="Arial"/>
                <a:ea typeface="Arial"/>
                <a:cs typeface="Arial"/>
              </a:rPr>
              <a:t>median single-text latency</a:t>
            </a:r>
          </a:p>
        </p:txBody>
      </p:sp>
      <p:sp>
        <p:nvSpPr>
          <p:cNvPr id="8" name="">
            <a:extLst xmlns:a="http://schemas.openxmlformats.org/drawingml/2006/main">
              <a:ext uri="{FF2B5EF4-FFF2-40B4-BE49-F238E27FC236}">
                <a16:creationId xmlns:a16="http://schemas.microsoft.com/office/drawing/2014/main" id="{18345A09-5DCE-4C13-9B74-C70420D682EF}"/>
              </a:ext>
            </a:extLst>
          </p:cNvPr>
          <p:cNvSpPr>
            <a:spLocks xmlns:a="http://schemas.openxmlformats.org/drawingml/2006/main" noGrp="1"/>
          </p:cNvSpPr>
          <p:nvPr/>
        </p:nvSpPr>
        <p:spPr>
          <a:xfrm xmlns:a="http://schemas.openxmlformats.org/drawingml/2006/main">
            <a:off x="8943975" y="4124325"/>
            <a:ext cx="257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75" b="1">
                <a:solidFill>
                  <a:srgbClr val="2878B5"/>
                </a:solidFill>
                <a:latin typeface="Arial"/>
                <a:ea typeface="Arial"/>
                <a:cs typeface="Arial"/>
              </a:defRPr>
            </a:defPPr>
          </a:lstStyle>
          <a:p xmlns:a="http://schemas.openxmlformats.org/drawingml/2006/main">
            <a:pPr>
              <a:defRPr sz="3975" b="1">
                <a:solidFill>
                  <a:srgbClr val="2878B5"/>
                </a:solidFill>
                <a:latin typeface="Arial"/>
                <a:ea typeface="Arial"/>
                <a:cs typeface="Arial"/>
              </a:defRPr>
            </a:pPr>
            <a:r>
              <a:rPr sz="3975" b="1">
                <a:solidFill>
                  <a:srgbClr val="2878B5"/>
                </a:solidFill>
                <a:latin typeface="Arial"/>
                <a:ea typeface="Arial"/>
                <a:cs typeface="Arial"/>
              </a:rPr>
              <a:t>739.6</a:t>
            </a:r>
          </a:p>
        </p:txBody>
      </p:sp>
      <p:sp>
        <p:nvSpPr>
          <p:cNvPr id="9" name="">
            <a:extLst xmlns:a="http://schemas.openxmlformats.org/drawingml/2006/main">
              <a:ext uri="{FF2B5EF4-FFF2-40B4-BE49-F238E27FC236}">
                <a16:creationId xmlns:a16="http://schemas.microsoft.com/office/drawing/2014/main" id="{ACB93425-3852-46CF-ACA7-1ABD7AE36D17}"/>
              </a:ext>
            </a:extLst>
          </p:cNvPr>
          <p:cNvSpPr>
            <a:spLocks xmlns:a="http://schemas.openxmlformats.org/drawingml/2006/main" noGrp="1"/>
          </p:cNvSpPr>
          <p:nvPr/>
        </p:nvSpPr>
        <p:spPr>
          <a:xfrm xmlns:a="http://schemas.openxmlformats.org/drawingml/2006/main">
            <a:off x="8943975" y="4819650"/>
            <a:ext cx="2571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16170"/>
                </a:solidFill>
                <a:latin typeface="Arial"/>
                <a:ea typeface="Arial"/>
                <a:cs typeface="Arial"/>
              </a:defRPr>
            </a:defPPr>
          </a:lstStyle>
          <a:p xmlns:a="http://schemas.openxmlformats.org/drawingml/2006/main">
            <a:pPr>
              <a:defRPr sz="1800" b="0">
                <a:solidFill>
                  <a:srgbClr val="516170"/>
                </a:solidFill>
                <a:latin typeface="Arial"/>
                <a:ea typeface="Arial"/>
                <a:cs typeface="Arial"/>
              </a:defRPr>
            </a:pPr>
            <a:r>
              <a:rPr sz="1800" b="0">
                <a:solidFill>
                  <a:srgbClr val="516170"/>
                </a:solidFill>
                <a:latin typeface="Arial"/>
                <a:ea typeface="Arial"/>
                <a:cs typeface="Arial"/>
              </a:rPr>
              <a:t>texts/s with batches of 64</a:t>
            </a:r>
          </a:p>
        </p:txBody>
      </p:sp>
      <p:sp>
        <p:nvSpPr>
          <p:cNvPr id="10" name="">
            <a:extLst xmlns:a="http://schemas.openxmlformats.org/drawingml/2006/main">
              <a:ext uri="{FF2B5EF4-FFF2-40B4-BE49-F238E27FC236}">
                <a16:creationId xmlns:a16="http://schemas.microsoft.com/office/drawing/2014/main" id="{0A4F3710-3D8E-4E91-816E-8771443D54CF}"/>
              </a:ext>
            </a:extLst>
          </p:cNvPr>
          <p:cNvSpPr>
            <a:spLocks xmlns:a="http://schemas.openxmlformats.org/drawingml/2006/main" noGrp="1"/>
          </p:cNvSpPr>
          <p:nvPr/>
        </p:nvSpPr>
        <p:spPr>
          <a:xfrm xmlns:a="http://schemas.openxmlformats.org/drawingml/2006/main">
            <a:off x="609600" y="6153150"/>
            <a:ext cx="10953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16170"/>
                </a:solidFill>
                <a:latin typeface="Arial"/>
                <a:ea typeface="Arial"/>
                <a:cs typeface="Arial"/>
              </a:defRPr>
            </a:defPPr>
          </a:lstStyle>
          <a:p xmlns:a="http://schemas.openxmlformats.org/drawingml/2006/main">
            <a:pPr>
              <a:defRPr sz="1575" b="0">
                <a:solidFill>
                  <a:srgbClr val="516170"/>
                </a:solidFill>
                <a:latin typeface="Arial"/>
                <a:ea typeface="Arial"/>
                <a:cs typeface="Arial"/>
              </a:defRPr>
            </a:pPr>
            <a:r>
              <a:rPr sz="1575" b="0">
                <a:solidFill>
                  <a:srgbClr val="516170"/>
                </a:solidFill>
                <a:latin typeface="Arial"/>
                <a:ea typeface="Arial"/>
                <a:cs typeface="Arial"/>
              </a:rPr>
              <a:t>CPU run: 200 texts, 10 warm-ups, 4 torch threads. No tested ensemble beats SVM.</a:t>
            </a:r>
          </a:p>
        </p:txBody>
      </p:sp>
    </p:spTree>
    <p:extLst>
      <p:ext uri="{BB962C8B-B14F-4D97-AF65-F5344CB8AC3E}">
        <p14:creationId xmlns:p14="http://schemas.microsoft.com/office/powerpoint/2010/main" val="117635690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3B920F5-52D0-4910-9550-5BBF9296580C}"/>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2283D"/>
                </a:solidFill>
                <a:latin typeface="Arial"/>
                <a:ea typeface="Arial"/>
                <a:cs typeface="Arial"/>
              </a:defRPr>
            </a:defPPr>
          </a:lstStyle>
          <a:p xmlns:a="http://schemas.openxmlformats.org/drawingml/2006/main">
            <a:pPr>
              <a:defRPr sz="3600" b="1">
                <a:solidFill>
                  <a:srgbClr val="12283D"/>
                </a:solidFill>
                <a:latin typeface="Arial"/>
                <a:ea typeface="Arial"/>
                <a:cs typeface="Arial"/>
              </a:defRPr>
            </a:pPr>
            <a:r>
              <a:rPr sz="3600" b="1">
                <a:solidFill>
                  <a:srgbClr val="12283D"/>
                </a:solidFill>
                <a:latin typeface="Arial"/>
                <a:ea typeface="Arial"/>
                <a:cs typeface="Arial"/>
              </a:rPr>
              <a:t>Robustness and interpretation</a:t>
            </a:r>
          </a:p>
        </p:txBody>
      </p:sp>
      <p:sp>
        <p:nvSpPr>
          <p:cNvPr id="2" name="">
            <a:extLst xmlns:a="http://schemas.openxmlformats.org/drawingml/2006/main">
              <a:ext uri="{FF2B5EF4-FFF2-40B4-BE49-F238E27FC236}">
                <a16:creationId xmlns:a16="http://schemas.microsoft.com/office/drawing/2014/main" id="{BB59A85F-E34D-4587-AEAD-58BB60B9AB92}"/>
              </a:ext>
            </a:extLst>
          </p:cNvPr>
          <p:cNvSpPr>
            <a:spLocks xmlns:a="http://schemas.openxmlformats.org/drawingml/2006/main" noGrp="1"/>
          </p:cNvSpPr>
          <p:nvPr/>
        </p:nvSpPr>
        <p:spPr>
          <a:xfrm xmlns:a="http://schemas.openxmlformats.org/drawingml/2006/main">
            <a:off x="609600" y="1181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16170"/>
                </a:solidFill>
                <a:latin typeface="Arial"/>
                <a:ea typeface="Arial"/>
                <a:cs typeface="Arial"/>
              </a:defRPr>
            </a:defPPr>
          </a:lstStyle>
          <a:p xmlns:a="http://schemas.openxmlformats.org/drawingml/2006/main">
            <a:pPr>
              <a:defRPr sz="1875" b="0">
                <a:solidFill>
                  <a:srgbClr val="516170"/>
                </a:solidFill>
                <a:latin typeface="Arial"/>
                <a:ea typeface="Arial"/>
                <a:cs typeface="Arial"/>
              </a:defRPr>
            </a:pPr>
            <a:r>
              <a:rPr sz="1875" b="0">
                <a:solidFill>
                  <a:srgbClr val="516170"/>
                </a:solidFill>
                <a:latin typeface="Arial"/>
                <a:ea typeface="Arial"/>
                <a:cs typeface="Arial"/>
              </a:rPr>
              <a:t>English micro-F1 loss under language and noise shifts</a:t>
            </a:r>
          </a:p>
        </p:txBody>
      </p:sp>
      <p:sp>
        <p:nvSpPr>
          <p:cNvPr id="3" name="">
            <a:extLst xmlns:a="http://schemas.openxmlformats.org/drawingml/2006/main">
              <a:ext uri="{FF2B5EF4-FFF2-40B4-BE49-F238E27FC236}">
                <a16:creationId xmlns:a16="http://schemas.microsoft.com/office/drawing/2014/main" id="{548EEBB9-8D8F-438E-887E-51E3F7BBD089}"/>
              </a:ext>
            </a:extLst>
          </p:cNvPr>
          <p:cNvSpPr>
            <a:spLocks xmlns:a="http://schemas.openxmlformats.org/drawingml/2006/main" noGrp="1"/>
          </p:cNvSpPr>
          <p:nvPr/>
        </p:nvSpPr>
        <p:spPr>
          <a:xfrm xmlns:a="http://schemas.openxmlformats.org/drawingml/2006/main">
            <a:off x="10191750" y="6419850"/>
            <a:ext cx="1390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16170"/>
                </a:solidFill>
                <a:latin typeface="Arial"/>
                <a:ea typeface="Arial"/>
                <a:cs typeface="Arial"/>
              </a:defRPr>
            </a:defPPr>
          </a:lstStyle>
          <a:p xmlns:a="http://schemas.openxmlformats.org/drawingml/2006/main">
            <a:pPr>
              <a:defRPr sz="1200" b="0">
                <a:solidFill>
                  <a:srgbClr val="516170"/>
                </a:solidFill>
                <a:latin typeface="Arial"/>
                <a:ea typeface="Arial"/>
                <a:cs typeface="Arial"/>
              </a:defRPr>
            </a:pPr>
            <a:r>
              <a:rPr sz="1200" b="0">
                <a:solidFill>
                  <a:srgbClr val="516170"/>
                </a:solidFill>
                <a:latin typeface="Arial"/>
                <a:ea typeface="Arial"/>
                <a:cs typeface="Arial"/>
              </a:rPr>
              <a:t>NALTRA   4/4</a:t>
            </a:r>
          </a:p>
        </p:txBody>
      </p:sp>
      <p:graphicFrame>
        <p:nvGraphicFramePr>
          <p:cNvPr id="4" name="Chart">
            <a:extLst xmlns:a="http://schemas.openxmlformats.org/drawingml/2006/main">
              <a:ext uri="{FF2B5EF4-FFF2-40B4-BE49-F238E27FC236}">
                <a16:creationId xmlns:a16="http://schemas.microsoft.com/office/drawing/2014/main" id="{CFE1B61D-BCDE-43AA-9770-E48A8069E463}"/>
              </a:ext>
            </a:extLst>
          </p:cNvPr>
          <p:cNvGraphicFramePr/>
          <p:nvPr/>
        </p:nvGraphicFramePr>
        <p:xfrm>
          <a:off xmlns:a="http://schemas.openxmlformats.org/drawingml/2006/main" x="590550" y="2019300"/>
          <a:ext xmlns:a="http://schemas.openxmlformats.org/drawingml/2006/main" cx="6191250" cy="3505200"/>
        </p:xfrm>
        <a:graphic xmlns:a="http://schemas.openxmlformats.org/drawingml/2006/main">
          <a:graphicData uri="http://schemas.openxmlformats.org/drawingml/2006/chart">
            <c:chart xmlns:r="http://schemas.openxmlformats.org/officeDocument/2006/relationships" xmlns:c="http://schemas.openxmlformats.org/drawingml/2006/chart" r:id="R93677417f702403b"/>
          </a:graphicData>
        </a:graphic>
      </p:graphicFrame>
      <p:sp>
        <p:nvSpPr>
          <p:cNvPr id="5" name="">
            <a:extLst xmlns:a="http://schemas.openxmlformats.org/drawingml/2006/main">
              <a:ext uri="{FF2B5EF4-FFF2-40B4-BE49-F238E27FC236}">
                <a16:creationId xmlns:a16="http://schemas.microsoft.com/office/drawing/2014/main" id="{13662390-63A6-49DD-B857-F92785CD00E2}"/>
              </a:ext>
            </a:extLst>
          </p:cNvPr>
          <p:cNvSpPr>
            <a:spLocks xmlns:a="http://schemas.openxmlformats.org/drawingml/2006/main" noGrp="1"/>
          </p:cNvSpPr>
          <p:nvPr/>
        </p:nvSpPr>
        <p:spPr>
          <a:xfrm xmlns:a="http://schemas.openxmlformats.org/drawingml/2006/main">
            <a:off x="7477125" y="2085975"/>
            <a:ext cx="41052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2283D"/>
                </a:solidFill>
                <a:latin typeface="Arial"/>
                <a:ea typeface="Arial"/>
                <a:cs typeface="Arial"/>
              </a:defRPr>
            </a:defPPr>
          </a:lstStyle>
          <a:p xmlns:a="http://schemas.openxmlformats.org/drawingml/2006/main">
            <a:pPr>
              <a:defRPr sz="2175" b="1">
                <a:solidFill>
                  <a:srgbClr val="12283D"/>
                </a:solidFill>
                <a:latin typeface="Arial"/>
                <a:ea typeface="Arial"/>
                <a:cs typeface="Arial"/>
              </a:defRPr>
            </a:pPr>
            <a:r>
              <a:rPr sz="2175" b="1">
                <a:solidFill>
                  <a:srgbClr val="12283D"/>
                </a:solidFill>
                <a:latin typeface="Arial"/>
                <a:ea typeface="Arial"/>
                <a:cs typeface="Arial"/>
              </a:rPr>
              <a:t>Humanities OOD detection</a:t>
            </a:r>
          </a:p>
        </p:txBody>
      </p:sp>
      <p:sp>
        <p:nvSpPr>
          <p:cNvPr id="6" name="">
            <a:extLst xmlns:a="http://schemas.openxmlformats.org/drawingml/2006/main">
              <a:ext uri="{FF2B5EF4-FFF2-40B4-BE49-F238E27FC236}">
                <a16:creationId xmlns:a16="http://schemas.microsoft.com/office/drawing/2014/main" id="{C7E0E552-6890-4322-842B-50ED3C168984}"/>
              </a:ext>
            </a:extLst>
          </p:cNvPr>
          <p:cNvSpPr>
            <a:spLocks xmlns:a="http://schemas.openxmlformats.org/drawingml/2006/main" noGrp="1"/>
          </p:cNvSpPr>
          <p:nvPr/>
        </p:nvSpPr>
        <p:spPr>
          <a:xfrm xmlns:a="http://schemas.openxmlformats.org/drawingml/2006/main">
            <a:off x="7477125" y="2657475"/>
            <a:ext cx="41052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2283D"/>
                </a:solidFill>
                <a:latin typeface="Arial"/>
                <a:ea typeface="Arial"/>
                <a:cs typeface="Arial"/>
              </a:defRPr>
            </a:defPPr>
          </a:lstStyle>
          <a:p xmlns:a="http://schemas.openxmlformats.org/drawingml/2006/main">
            <a:pPr>
              <a:defRPr sz="1875" b="0">
                <a:solidFill>
                  <a:srgbClr val="12283D"/>
                </a:solidFill>
                <a:latin typeface="Arial"/>
                <a:ea typeface="Arial"/>
                <a:cs typeface="Arial"/>
              </a:defRPr>
            </a:pPr>
            <a:r>
              <a:rPr sz="1875" b="0">
                <a:solidFill>
                  <a:srgbClr val="12283D"/>
                </a:solidFill>
                <a:latin typeface="Arial"/>
                <a:ea typeface="Arial"/>
                <a:cs typeface="Arial"/>
              </a:rPr>
              <a:t>SVM AUROC: 0.927 EN / 0.924 TR</a:t>
            </a:r>
          </a:p>
        </p:txBody>
      </p:sp>
      <p:sp>
        <p:nvSpPr>
          <p:cNvPr id="7" name="">
            <a:extLst xmlns:a="http://schemas.openxmlformats.org/drawingml/2006/main">
              <a:ext uri="{FF2B5EF4-FFF2-40B4-BE49-F238E27FC236}">
                <a16:creationId xmlns:a16="http://schemas.microsoft.com/office/drawing/2014/main" id="{AD7778A8-5C60-4E19-9071-467B256D39A0}"/>
              </a:ext>
            </a:extLst>
          </p:cNvPr>
          <p:cNvSpPr>
            <a:spLocks xmlns:a="http://schemas.openxmlformats.org/drawingml/2006/main" noGrp="1"/>
          </p:cNvSpPr>
          <p:nvPr/>
        </p:nvSpPr>
        <p:spPr>
          <a:xfrm xmlns:a="http://schemas.openxmlformats.org/drawingml/2006/main">
            <a:off x="7477125" y="3324225"/>
            <a:ext cx="41052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16170"/>
                </a:solidFill>
                <a:latin typeface="Arial"/>
                <a:ea typeface="Arial"/>
                <a:cs typeface="Arial"/>
              </a:defRPr>
            </a:defPPr>
          </a:lstStyle>
          <a:p xmlns:a="http://schemas.openxmlformats.org/drawingml/2006/main">
            <a:pPr>
              <a:defRPr sz="1725" b="0">
                <a:solidFill>
                  <a:srgbClr val="516170"/>
                </a:solidFill>
                <a:latin typeface="Arial"/>
                <a:ea typeface="Arial"/>
                <a:cs typeface="Arial"/>
              </a:defRPr>
            </a:pPr>
            <a:r>
              <a:rPr sz="1725" b="0">
                <a:solidFill>
                  <a:srgbClr val="516170"/>
                </a:solidFill>
                <a:latin typeface="Arial"/>
                <a:ea typeface="Arial"/>
                <a:cs typeface="Arial"/>
              </a:rPr>
              <a:t>94 OOD projects per language</a:t>
            </a:r>
          </a:p>
        </p:txBody>
      </p:sp>
      <p:sp>
        <p:nvSpPr>
          <p:cNvPr id="8" name="">
            <a:extLst xmlns:a="http://schemas.openxmlformats.org/drawingml/2006/main">
              <a:ext uri="{FF2B5EF4-FFF2-40B4-BE49-F238E27FC236}">
                <a16:creationId xmlns:a16="http://schemas.microsoft.com/office/drawing/2014/main" id="{C952D994-A31C-4398-9B2F-2D0B3EF89375}"/>
              </a:ext>
            </a:extLst>
          </p:cNvPr>
          <p:cNvSpPr>
            <a:spLocks xmlns:a="http://schemas.openxmlformats.org/drawingml/2006/main" noGrp="1"/>
          </p:cNvSpPr>
          <p:nvPr/>
        </p:nvSpPr>
        <p:spPr>
          <a:xfrm xmlns:a="http://schemas.openxmlformats.org/drawingml/2006/main">
            <a:off x="7477125" y="3962400"/>
            <a:ext cx="41052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2283D"/>
                </a:solidFill>
                <a:latin typeface="Arial"/>
                <a:ea typeface="Arial"/>
                <a:cs typeface="Arial"/>
              </a:defRPr>
            </a:defPPr>
          </a:lstStyle>
          <a:p xmlns:a="http://schemas.openxmlformats.org/drawingml/2006/main">
            <a:pPr>
              <a:defRPr sz="2175" b="1">
                <a:solidFill>
                  <a:srgbClr val="12283D"/>
                </a:solidFill>
                <a:latin typeface="Arial"/>
                <a:ea typeface="Arial"/>
                <a:cs typeface="Arial"/>
              </a:defRPr>
            </a:pPr>
            <a:r>
              <a:rPr sz="2175" b="1">
                <a:solidFill>
                  <a:srgbClr val="12283D"/>
                </a:solidFill>
                <a:latin typeface="Arial"/>
                <a:ea typeface="Arial"/>
                <a:cs typeface="Arial"/>
              </a:rPr>
              <a:t>Limits</a:t>
            </a:r>
          </a:p>
        </p:txBody>
      </p:sp>
      <p:sp>
        <p:nvSpPr>
          <p:cNvPr id="9" name="">
            <a:extLst xmlns:a="http://schemas.openxmlformats.org/drawingml/2006/main">
              <a:ext uri="{FF2B5EF4-FFF2-40B4-BE49-F238E27FC236}">
                <a16:creationId xmlns:a16="http://schemas.microsoft.com/office/drawing/2014/main" id="{7A8DF544-30D6-4A37-A0D3-8E71A24FB1FA}"/>
              </a:ext>
            </a:extLst>
          </p:cNvPr>
          <p:cNvSpPr>
            <a:spLocks xmlns:a="http://schemas.openxmlformats.org/drawingml/2006/main" noGrp="1"/>
          </p:cNvSpPr>
          <p:nvPr/>
        </p:nvSpPr>
        <p:spPr>
          <a:xfrm xmlns:a="http://schemas.openxmlformats.org/drawingml/2006/main">
            <a:off x="7477125" y="4505325"/>
            <a:ext cx="410527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2283D"/>
                </a:solidFill>
                <a:latin typeface="Arial"/>
                <a:ea typeface="Arial"/>
                <a:cs typeface="Arial"/>
              </a:defRPr>
            </a:defPPr>
          </a:lstStyle>
          <a:p xmlns:a="http://schemas.openxmlformats.org/drawingml/2006/main">
            <a:pPr>
              <a:defRPr sz="1800" b="0">
                <a:solidFill>
                  <a:srgbClr val="12283D"/>
                </a:solidFill>
                <a:latin typeface="Arial"/>
                <a:ea typeface="Arial"/>
                <a:cs typeface="Arial"/>
              </a:defRPr>
            </a:pPr>
            <a:r>
              <a:rPr sz="1800" b="0">
                <a:solidFill>
                  <a:srgbClr val="12283D"/>
                </a:solidFill>
                <a:latin typeface="Arial"/>
                <a:ea typeface="Arial"/>
                <a:cs typeface="Arial"/>
              </a:rPr>
              <a:t>Silver labels and synthetic variants</a:t>
            </a:r>
          </a:p>
          <a:p xmlns:a="http://schemas.openxmlformats.org/drawingml/2006/main">
            <a:pPr>
              <a:defRPr sz="1800" b="0">
                <a:solidFill>
                  <a:srgbClr val="12283D"/>
                </a:solidFill>
                <a:latin typeface="Arial"/>
                <a:ea typeface="Arial"/>
                <a:cs typeface="Arial"/>
              </a:defRPr>
            </a:pPr>
            <a:r>
              <a:rPr sz="1800" b="0">
                <a:solidFill>
                  <a:srgbClr val="12283D"/>
                </a:solidFill>
                <a:latin typeface="Arial"/>
                <a:ea typeface="Arial"/>
                <a:cs typeface="Arial"/>
              </a:rPr>
              <a:t>One training seed</a:t>
            </a:r>
          </a:p>
          <a:p xmlns:a="http://schemas.openxmlformats.org/drawingml/2006/main">
            <a:pPr>
              <a:defRPr sz="1800" b="0">
                <a:solidFill>
                  <a:srgbClr val="12283D"/>
                </a:solidFill>
                <a:latin typeface="Arial"/>
                <a:ea typeface="Arial"/>
                <a:cs typeface="Arial"/>
              </a:defRPr>
            </a:pPr>
            <a:r>
              <a:rPr sz="1800" b="0">
                <a:solidFill>
                  <a:srgbClr val="12283D"/>
                </a:solidFill>
                <a:latin typeface="Arial"/>
                <a:ea typeface="Arial"/>
                <a:cs typeface="Arial"/>
              </a:rPr>
              <a:t>Original artifact verification pending</a:t>
            </a:r>
          </a:p>
        </p:txBody>
      </p:sp>
      <p:sp>
        <p:nvSpPr>
          <p:cNvPr id="10" name="">
            <a:extLst xmlns:a="http://schemas.openxmlformats.org/drawingml/2006/main">
              <a:ext uri="{FF2B5EF4-FFF2-40B4-BE49-F238E27FC236}">
                <a16:creationId xmlns:a16="http://schemas.microsoft.com/office/drawing/2014/main" id="{DF25DFA5-F9A3-49D4-8601-E39D5FC11462}"/>
              </a:ext>
            </a:extLst>
          </p:cNvPr>
          <p:cNvSpPr>
            <a:spLocks xmlns:a="http://schemas.openxmlformats.org/drawingml/2006/main" noGrp="1"/>
          </p:cNvSpPr>
          <p:nvPr/>
        </p:nvSpPr>
        <p:spPr>
          <a:xfrm xmlns:a="http://schemas.openxmlformats.org/drawingml/2006/main">
            <a:off x="609600" y="5734050"/>
            <a:ext cx="1095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2283D"/>
                </a:solidFill>
                <a:latin typeface="Arial"/>
                <a:ea typeface="Arial"/>
                <a:cs typeface="Arial"/>
              </a:defRPr>
            </a:defPPr>
          </a:lstStyle>
          <a:p xmlns:a="http://schemas.openxmlformats.org/drawingml/2006/main">
            <a:pPr>
              <a:defRPr sz="1950" b="1">
                <a:solidFill>
                  <a:srgbClr val="12283D"/>
                </a:solidFill>
                <a:latin typeface="Arial"/>
                <a:ea typeface="Arial"/>
                <a:cs typeface="Arial"/>
              </a:defRPr>
            </a:pPr>
            <a:r>
              <a:rPr sz="1950" b="1">
                <a:solidFill>
                  <a:srgbClr val="12283D"/>
                </a:solidFill>
                <a:latin typeface="Arial"/>
                <a:ea typeface="Arial"/>
                <a:cs typeface="Arial"/>
              </a:rPr>
              <a:t>Hybrid kNN loses less F1 under these shifts, but SVM remains more accurate.</a:t>
            </a:r>
          </a:p>
        </p:txBody>
      </p:sp>
      <p:sp>
        <p:nvSpPr>
          <p:cNvPr id="11" name="">
            <a:extLst xmlns:a="http://schemas.openxmlformats.org/drawingml/2006/main">
              <a:ext uri="{FF2B5EF4-FFF2-40B4-BE49-F238E27FC236}">
                <a16:creationId xmlns:a16="http://schemas.microsoft.com/office/drawing/2014/main" id="{B49BCA56-BFBE-47AA-A664-4041995E7FAB}"/>
              </a:ext>
            </a:extLst>
          </p:cNvPr>
          <p:cNvSpPr>
            <a:spLocks xmlns:a="http://schemas.openxmlformats.org/drawingml/2006/main" noGrp="1"/>
          </p:cNvSpPr>
          <p:nvPr/>
        </p:nvSpPr>
        <p:spPr>
          <a:xfrm xmlns:a="http://schemas.openxmlformats.org/drawingml/2006/main">
            <a:off x="609600" y="6200775"/>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16170"/>
                </a:solidFill>
                <a:latin typeface="Arial"/>
                <a:ea typeface="Arial"/>
                <a:cs typeface="Arial"/>
              </a:defRPr>
            </a:defPPr>
          </a:lstStyle>
          <a:p xmlns:a="http://schemas.openxmlformats.org/drawingml/2006/main">
            <a:pPr>
              <a:defRPr sz="1500" b="0">
                <a:solidFill>
                  <a:srgbClr val="516170"/>
                </a:solidFill>
                <a:latin typeface="Arial"/>
                <a:ea typeface="Arial"/>
                <a:cs typeface="Arial"/>
              </a:defRPr>
            </a:pPr>
            <a:r>
              <a:rPr sz="1500" b="0">
                <a:solidFill>
                  <a:srgbClr val="516170"/>
                </a:solidFill>
                <a:latin typeface="Arial"/>
                <a:ea typeface="Arial"/>
                <a:cs typeface="Arial"/>
              </a:rPr>
              <a:t>Next: repeat training seeds and separate model selection from ensemble tuning</a:t>
            </a:r>
          </a:p>
        </p:txBody>
      </p:sp>
    </p:spTree>
    <p:extLst>
      <p:ext uri="{BB962C8B-B14F-4D97-AF65-F5344CB8AC3E}">
        <p14:creationId xmlns:p14="http://schemas.microsoft.com/office/powerpoint/2010/main" val="12741351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2026-10-10T21:17:37.7210000Z</dcterms:created>
  <dcterms:modified xsi:type="dcterms:W3CDTF">2026-10-10T21:17:37.7210000Z</dcterms:modified>
</coreProperties>
</file>