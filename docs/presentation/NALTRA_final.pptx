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407e5f85916a4c51" Type="http://schemas.openxmlformats.org/officeDocument/2006/relationships/extended-properties" Target="docProps/app.xml"/><Relationship Id="Ra10f1b4f9f8f4961" Type="http://schemas.openxmlformats.org/package/2006/relationships/metadata/core-properties" Target="docProps/core.xml"/><Relationship Id="Rf4c0928fed044f4c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d83c0786ae74e14"/>
  </p:sldMasterIdLst>
  <p:notesMasterIdLst>
    <p:notesMasterId xmlns:r="http://schemas.openxmlformats.org/officeDocument/2006/relationships" r:id="Rf4806416786f4690"/>
  </p:notesMasterIdLst>
  <p:sldIdLst>
    <p:sldId xmlns:r="http://schemas.openxmlformats.org/officeDocument/2006/relationships" id="256" r:id="R441c97f329c04c4b"/>
    <p:sldId xmlns:r="http://schemas.openxmlformats.org/officeDocument/2006/relationships" id="257" r:id="Rf974d210c2494720"/>
    <p:sldId xmlns:r="http://schemas.openxmlformats.org/officeDocument/2006/relationships" id="258" r:id="R453797d62a76469a"/>
    <p:sldId xmlns:r="http://schemas.openxmlformats.org/officeDocument/2006/relationships" id="259" r:id="R52cb7d2740b54de4"/>
    <p:sldId xmlns:r="http://schemas.openxmlformats.org/officeDocument/2006/relationships" id="260" r:id="Re779c1b189ee42bf"/>
    <p:sldId xmlns:ns0="http://schemas.openxmlformats.org/officeDocument/2006/relationships" id="261" ns0:id="rId11"/>
    <p:sldId xmlns:ns0="http://schemas.openxmlformats.org/officeDocument/2006/relationships" id="262" ns0:id="rId12"/>
    <p:sldId xmlns:ns0="http://schemas.openxmlformats.org/officeDocument/2006/relationships" id="263" ns0:id="rId1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441c97f329c04c4b" Type="http://schemas.openxmlformats.org/officeDocument/2006/relationships/slide" Target="slides/slide1.xml"/><Relationship Id="R453797d62a76469a" Type="http://schemas.openxmlformats.org/officeDocument/2006/relationships/slide" Target="slides/slide3.xml"/><Relationship Id="R52cb7d2740b54de4" Type="http://schemas.openxmlformats.org/officeDocument/2006/relationships/slide" Target="slides/slide4.xml"/><Relationship Id="R6a7bd9d2f6d44cf9" Type="http://schemas.openxmlformats.org/officeDocument/2006/relationships/presProps" Target="presProps.xml"/><Relationship Id="R9ce0735f03cf4e86" Type="http://schemas.openxmlformats.org/officeDocument/2006/relationships/theme" Target="theme/theme1.xml"/><Relationship Id="R9d83c0786ae74e14" Type="http://schemas.openxmlformats.org/officeDocument/2006/relationships/slideMaster" Target="slideMasters/slideMaster1.xml"/><Relationship Id="Rb3b052ceca1b4f33" Type="http://schemas.openxmlformats.org/officeDocument/2006/relationships/tableStyles" Target="tableStyles.xml"/><Relationship Id="Re779c1b189ee42bf" Type="http://schemas.openxmlformats.org/officeDocument/2006/relationships/slide" Target="slides/slide5.xml"/><Relationship Id="Rf4806416786f4690" Type="http://schemas.openxmlformats.org/officeDocument/2006/relationships/notesMaster" Target="notesMasters/notesMaster1.xml"/><Relationship Id="Rf974d210c2494720" Type="http://schemas.openxmlformats.org/officeDocument/2006/relationships/slide" Target="slides/slide2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7cdbcb250ed64516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NALTRA">
  <a:themeElements>
    <a:clrScheme name="NALTR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NALT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62ead861a9cf48fa" Type="http://schemas.openxmlformats.org/officeDocument/2006/relationships/slide" Target="../slides/slide1.xml"/><Relationship Id="Rcc91284be137490a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0b164a5708b0423b" Type="http://schemas.openxmlformats.org/officeDocument/2006/relationships/notesMaster" Target="../notesMasters/notesMaster1.xml"/><Relationship Id="R86d5917fc24f4f3c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08946edb7ad34d92" Type="http://schemas.openxmlformats.org/officeDocument/2006/relationships/slide" Target="../slides/slide3.xml"/><Relationship Id="R8108b9fe532c420e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7c896ba63a11478c" Type="http://schemas.openxmlformats.org/officeDocument/2006/relationships/notesMaster" Target="../notesMasters/notesMaster1.xml"/><Relationship Id="R91f9d7e522814ec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2f9a94b82bde4605" Type="http://schemas.openxmlformats.org/officeDocument/2006/relationships/slide" Target="../slides/slide5.xml"/><Relationship Id="R4fb4f8f4d0074fb6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0:00–0:20</a:t>
            </a:r>
          </a:p>
          <a:p xmlns:a="http://schemas.openxmlformats.org/drawingml/2006/main">
            <a:r>
              <a:t>Routing research projects by field should work for Turkish or mixed text. NALTRA predicts all of a project's fields and their ancestors, not one topic. We built a new paired benchmark in English and machine-translated Turkish, and test flagging projects from a held-out field.</a:t>
            </a:r>
          </a:p>
          <a:p xmlns:a="http://schemas.openxmlformats.org/drawingml/2006/main">
            <a:r>
              <a:t>Sources (not spoken): README.md (task, 3.2 labels per project); docs/dataset.md (code-switch and noisy tracks); data/processed/cordis_h2020/code_switch/sentence_mix/balanced/test.jsonl, project 895187 (gold labels laser_physics, particle_physics and their ancestors). Held-out field: humanities, a retained-label holdout (README.md research question 3; docs/evaluation.md#ood-and-efficiency).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0:22–0:33</a:t>
            </a:r>
          </a:p>
          <a:p xmlns:a="http://schemas.openxmlformats.org/drawingml/2006/main">
            <a:r>
              <a:t>From CORDIS we kept about thirty-one thousand EU projects and four hundred seventy-three fields; code-switched and noisy copies share one project-level split.</a:t>
            </a:r>
          </a:p>
          <a:p xmlns:a="http://schemas.openxmlformats.org/drawingml/2006/main">
            <a:r>
              <a:t>Sources (not spoken): data/README.md#at-a-glance (283,002 aligned sentence pairs; 9,422 records in each of the two code-switch tracks = 18,844); docs/dataset.md#translation, #derived-evaluation-tracks (code-switch and noisy copies) and #labels-and-splits (label support of 50 or more, grouped project split).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0:35–0:55</a:t>
            </a:r>
          </a:p>
          <a:p xmlns:a="http://schemas.openxmlformats.org/drawingml/2006/main">
            <a:r>
              <a:t>Course baselines: Naive Bayes, SVM, BiLSTM and XLM-R. New methods: hybrid kNN, NALTRA votes and zero-shot Kev, Jev and Laya. We rank by micro-F1, since predicting no label scores ninety-nine percent accuracy.</a:t>
            </a:r>
          </a:p>
          <a:p xmlns:a="http://schemas.openxmlformats.org/drawingml/2006/main">
            <a:r>
              <a:t>Sources (not spoken): README.md Models table and configs/models/*.yaml (architecture vs model, hidden backup B3); results/metrics/cordis_v1.1.0_ensemble/summary.json members (votes over svm, hybrid_knn, bilstm, transformer; the sample adds kev and jev) and label_distribution all_negative_accuracy 0.9932.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0:57–1:15</a:t>
            </a:r>
          </a:p>
          <a:p xmlns:a="http://schemas.openxmlformats.org/drawingml/2006/main">
            <a:r>
              <a:t>SVM wins every full test set: English zero point five six, Turkish zero point four nine, at two milliseconds per text. No vote beats it. On a hundred-twenty-project sample, Jev and Kev reach about zero point two seven.</a:t>
            </a:r>
          </a:p>
          <a:p xmlns:a="http://schemas.openxmlformats.org/drawingml/2006/main">
            <a:r>
              <a:t>Sources (not spoken): results/metrics/cordis_v1.1.0_ensemble/summary.json (full test sets; svm hmicro_f1 0.668 EN, 0.615 TR); results/benchmarks/cordis_v1.1.0/benchmark_summary.json (SVM p50 1.99 ms); results/metrics/cordis_v1.1.0_sample/summary.json and pairwise.json (120-pair sample).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1:17–1:49</a:t>
            </a:r>
          </a:p>
          <a:p xmlns:a="http://schemas.openxmlformats.org/drawingml/2006/main">
            <a:r>
              <a:t>Robustness flips: from English to Turkish SVM loses seven points, kNN one; on Turkish, code-switched and noisy English, SVM loses significantly more than every other trained model. A retrained SVM separates held-out humanities-only projects at zero point nine three AUROC. Limits: one seed, translated Turkish, silver labels. Take-home: the highest micro-F1 is not the most robust.</a:t>
            </a:r>
          </a:p>
          <a:p xmlns:a="http://schemas.openxmlformats.org/drawingml/2006/main">
            <a:r>
              <a:t>Sources (not spoken): results/metrics/cordis_v1.1.0_ensemble/summary.json significance.cross_condition and robustness.json (SVM's drop minus each other model's, four shifts, Holm); results/ood/cordis_v1.1.0/summary.json (humanities held out, 4,351 in-domain vs 94 OOD); README.md Limitations.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not presented</a:t>
            </a:r>
          </a:p>
          <a:p>
            <a:r>
              <a:t>Answer questions on robustness and significance.</a:t>
            </a:r>
          </a:p>
          <a:p>
            <a:r>
              <a:t>Sources (not spoken): results/metrics/cordis_v1.1.0_ensemble/summary.json significance.cross_condition; results/metrics/cordis_v1.1.0_ensemble/robustness.json drop_differences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not presented</a:t>
            </a:r>
          </a:p>
          <a:p>
            <a:r>
              <a:t>Answer questions on the zero-shot sample and OOD.</a:t>
            </a:r>
          </a:p>
          <a:p>
            <a:r>
              <a:t>Sources (not spoken): results/metrics/cordis_v1.1.0_sample/summary.json, pairwise.json; results/ood/cordis_v1.1.0/summary.json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Backup, not presented</a:t>
            </a:r>
          </a:p>
          <a:p>
            <a:r>
              <a:t>Answer questions on which concrete model stands behind each method name.</a:t>
            </a:r>
          </a:p>
          <a:p>
            <a:r>
              <a:t>Sources (not spoken): README.md Models table; configs/benchmark.yaml roles; configs/models/*.yaml (svm calibration_cv 3; bilstm hidden_dim 256, layers 1; hybrid_knn intfloat/multilingual-e5-base, rrf_k 60; kev Kev-0.8B)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780e595190b149de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1723fcc146314e6b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2fd61bbf7f3f41f4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e136038b1dfc43c2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9cf700cfa9a040bf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50c4296844224e80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147421E-8744-4746-920B-1BEDDE7400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D1F898DF-8FA9-4E32-A708-923E51D7F42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3195880-24DA-4ED7-8E73-1B71EB09443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1FDB467-71C7-45BD-B8D4-CF7CB51479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AEEC481-658D-4DFD-9834-08D155289D5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9B9C459-3033-47C8-ADAB-7C257FCB12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E79E728-60E9-489E-B427-19DBC6D528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F59EA74-8D53-4880-B699-1C069F859B5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F822803-505B-46DB-B566-B789FECFF5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5502142-BFBF-4967-B319-F2C2548642B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677d9deb3c3b4aa3" Type="http://schemas.openxmlformats.org/officeDocument/2006/relationships/slideLayout" Target="../slideLayouts/slideLayout2.xml"/><Relationship Id="R787b2baac59e4a64" Type="http://schemas.openxmlformats.org/officeDocument/2006/relationships/slideLayout" Target="../slideLayouts/slideLayout1.xml"/><Relationship Id="Raffd002fb3c24db3" Type="http://schemas.openxmlformats.org/officeDocument/2006/relationships/slideLayout" Target="../slideLayouts/slideLayout6.xml"/><Relationship Id="Rcbcbbe0941544d38" Type="http://schemas.openxmlformats.org/officeDocument/2006/relationships/slideLayout" Target="../slideLayouts/slideLayout5.xml"/><Relationship Id="Re152f1a613ab43e4" Type="http://schemas.openxmlformats.org/officeDocument/2006/relationships/slideLayout" Target="../slideLayouts/slideLayout3.xml"/><Relationship Id="Rf14f2a72ad4b4219" Type="http://schemas.openxmlformats.org/officeDocument/2006/relationships/slideLayout" Target="../slideLayouts/slideLayout4.xml"/><Relationship Id="Rfc41b045f8254f82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87b2baac59e4a64"/>
    <p:sldLayoutId xmlns:r="http://schemas.openxmlformats.org/officeDocument/2006/relationships" id="2147483650" r:id="R677d9deb3c3b4aa3"/>
    <p:sldLayoutId xmlns:r="http://schemas.openxmlformats.org/officeDocument/2006/relationships" id="2147483651" r:id="Re152f1a613ab43e4"/>
    <p:sldLayoutId xmlns:r="http://schemas.openxmlformats.org/officeDocument/2006/relationships" id="2147483652" r:id="Rf14f2a72ad4b4219"/>
    <p:sldLayoutId xmlns:r="http://schemas.openxmlformats.org/officeDocument/2006/relationships" id="2147483653" r:id="Rcbcbbe0941544d38"/>
    <p:sldLayoutId xmlns:r="http://schemas.openxmlformats.org/officeDocument/2006/relationships" id="2147483654" r:id="Raffd002fb3c24d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NALTRA">
  <a:themeElements>
    <a:clrScheme name="NALTR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NALT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f36cb37691d4b50" Type="http://schemas.openxmlformats.org/officeDocument/2006/relationships/slideLayout" Target="../slideLayouts/slideLayout6.xml"/><Relationship Id="R81ea59e968324078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0dd4b7a62bc84c59" Type="http://schemas.openxmlformats.org/officeDocument/2006/relationships/notesSlide" Target="../notesSlides/notesSlide2.xml"/><Relationship Id="Rb2edaf6e0c494ee4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2b9b2359767c476d" Type="http://schemas.openxmlformats.org/officeDocument/2006/relationships/slideLayout" Target="../slideLayouts/slideLayout6.xml"/><Relationship Id="R7204db95f5504391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4b29ee61df764804" Type="http://schemas.openxmlformats.org/officeDocument/2006/relationships/chart" Target="charts/chart1.xml"/><Relationship Id="R7e9f1a6ac2f44012" Type="http://schemas.openxmlformats.org/officeDocument/2006/relationships/slideLayout" Target="../slideLayouts/slideLayout6.xml"/><Relationship Id="R870392b5e213486e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181080341f454875" Type="http://schemas.openxmlformats.org/officeDocument/2006/relationships/notesSlide" Target="../notesSlides/notesSlide5.xml"/><Relationship Id="R246134caa748475a" Type="http://schemas.openxmlformats.org/officeDocument/2006/relationships/slideLayout" Target="../slideLayouts/slideLayout6.xml"/><Relationship Id="R451955d900ab404e" Type="http://schemas.openxmlformats.org/officeDocument/2006/relationships/chart" Target="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charts/_rels/chart1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?xml version='1.0' encoding='UTF-8' standalone='yes'?>
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strRef>
              <c:f>Sheet1!$C$1</c:f>
              <c:strCache>
                <c:ptCount val="1"/>
                <c:pt idx="0">
                  <c:v>Turkish</c:v>
                </c:pt>
              </c:strCache>
            </c:strRef>
          </c:tx>
          <c:spPr>
            <a:solidFill xmlns:a="http://schemas.openxmlformats.org/drawingml/2006/main">
              <a:srgbClr val="D47722"/>
            </a:solidFill>
          </c:spPr>
          <c:cat>
            <c:strRef>
              <c:f>Sheet1!$A$2:$A$7</c:f>
              <c:strCache>
                <c:ptCount val="6"/>
                <c:pt idx="0">
                  <c:v>XLM-R · baseline</c:v>
                </c:pt>
                <c:pt idx="1">
                  <c:v>Naive Bayes · baseline</c:v>
                </c:pt>
                <c:pt idx="2">
                  <c:v>BiLSTM · baseline</c:v>
                </c:pt>
                <c:pt idx="3">
                  <c:v>Hybrid kNN · new</c:v>
                </c:pt>
                <c:pt idx="4">
                  <c:v>Weighted soft vote · new</c:v>
                </c:pt>
                <c:pt idx="5">
                  <c:v>SVM · baseline</c:v>
                </c:pt>
              </c:strCache>
            </c:strRef>
          </c:cat>
          <c:val>
            <c:numRef>
              <c:f>Sheet1!$C$2:$C$7</c:f>
              <c:numCache>
                <c:formatCode>0.000</c:formatCode>
                <c:ptCount val="6"/>
                <c:pt idx="0">
                  <c:v>0.23975860146282266</c:v>
                </c:pt>
                <c:pt idx="1">
                  <c:v>0.27525252525252525</c:v>
                </c:pt>
                <c:pt idx="2">
                  <c:v>0.27077148860945266</c:v>
                </c:pt>
                <c:pt idx="3">
                  <c:v>0.3817207946301444</c:v>
                </c:pt>
                <c:pt idx="4">
                  <c:v>0.4722918201915991</c:v>
                </c:pt>
                <c:pt idx="5">
                  <c:v>0.4886031560490941</c:v>
                </c:pt>
              </c:numCache>
            </c:numRef>
          </c:val>
        </c:ser>
        <c:ser>
          <c:idx val="1"/>
          <c:order val="1"/>
          <c:tx>
            <c:strRef>
              <c:f>Sheet1!$B$1</c:f>
              <c:strCache>
                <c:ptCount val="1"/>
                <c:pt idx="0">
                  <c:v>English</c:v>
                </c:pt>
              </c:strCache>
            </c:strRef>
          </c:tx>
          <c:spPr>
            <a:solidFill xmlns:a="http://schemas.openxmlformats.org/drawingml/2006/main">
              <a:srgbClr val="2878B5"/>
            </a:solidFill>
          </c:spPr>
          <c:cat>
            <c:strRef>
              <c:f>Sheet1!$A$2:$A$7</c:f>
              <c:strCache>
                <c:ptCount val="6"/>
                <c:pt idx="0">
                  <c:v>XLM-R · baseline</c:v>
                </c:pt>
                <c:pt idx="1">
                  <c:v>Naive Bayes · baseline</c:v>
                </c:pt>
                <c:pt idx="2">
                  <c:v>BiLSTM · baseline</c:v>
                </c:pt>
                <c:pt idx="3">
                  <c:v>Hybrid kNN · new</c:v>
                </c:pt>
                <c:pt idx="4">
                  <c:v>Weighted soft vote · new</c:v>
                </c:pt>
                <c:pt idx="5">
                  <c:v>SVM · baseline</c:v>
                </c:pt>
              </c:strCache>
            </c:strRef>
          </c:cat>
          <c:val>
            <c:numRef>
              <c:f>Sheet1!$B$2:$B$7</c:f>
              <c:numCache>
                <c:formatCode>0.000</c:formatCode>
                <c:ptCount val="6"/>
                <c:pt idx="0">
                  <c:v>0.24764546510127725</c:v>
                </c:pt>
                <c:pt idx="1">
                  <c:v>0.2776641340346776</c:v>
                </c:pt>
                <c:pt idx="2">
                  <c:v>0.2890562409870213</c:v>
                </c:pt>
                <c:pt idx="3">
                  <c:v>0.39293598233995586</c:v>
                </c:pt>
                <c:pt idx="4">
                  <c:v>0.5228412059591895</c:v>
                </c:pt>
                <c:pt idx="5">
                  <c:v>0.5583668583967816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600">
                  <a:solidFill>
                    <a:srgbClr val="12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0">
            <a:noFill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6"/>
          <c:min val="0.0"/>
        </c:scaling>
        <c:delete val="0"/>
        <c:axPos val="b"/>
        <c:majorGridlines>
          <c:spPr>
            <a:ln xmlns:a="http://schemas.openxmlformats.org/drawingml/2006/main" w="9525">
              <a:solidFill>
                <a:srgbClr val="DDE5EB"/>
              </a:solidFill>
              <a:prstDash val="solid"/>
            </a:ln>
          </c:spPr>
        </c:majorGridlines>
        <c:numFmt formatCode="0.0" sourceLinked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0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2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700">
              <a:solidFill>
                <a:srgbClr val="12283D"/>
              </a:solidFill>
              <a:latin typeface="Arial"/>
              <a:ea typeface="Arial"/>
              <a:cs typeface="Arial"/>
            </a:defRPr>
          </a:pPr>
        </a:p>
      </c:txPr>
    </c:legend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 → Turkish</c:v>
                </c:pt>
              </c:strCache>
            </c:strRef>
          </c:tx>
          <c:spPr>
            <a:solidFill xmlns:a="http://schemas.openxmlformats.org/drawingml/2006/main">
              <a:srgbClr val="2878B5"/>
            </a:solidFill>
          </c:spPr>
          <c:dPt>
            <c:idx val="0"/>
            <c:spPr>
              <a:solidFill xmlns:a="http://schemas.openxmlformats.org/drawingml/2006/main">
                <a:srgbClr val="12283D"/>
              </a:solidFill>
            </c:spPr>
          </c:dPt>
          <c:dPt>
            <c:idx val="1"/>
            <c:spPr>
              <a:solidFill xmlns:a="http://schemas.openxmlformats.org/drawingml/2006/main">
                <a:srgbClr val="A9B4BF"/>
              </a:solidFill>
            </c:spPr>
          </c:dPt>
          <c:dPt>
            <c:idx val="2"/>
            <c:spPr>
              <a:solidFill xmlns:a="http://schemas.openxmlformats.org/drawingml/2006/main">
                <a:srgbClr val="1B9E77"/>
              </a:solidFill>
            </c:spPr>
          </c:dPt>
          <c:dPt>
            <c:idx val="3"/>
            <c:spPr>
              <a:solidFill xmlns:a="http://schemas.openxmlformats.org/drawingml/2006/main">
                <a:srgbClr val="A9B4BF"/>
              </a:solidFill>
            </c:spPr>
          </c:dPt>
          <c:dPt>
            <c:idx val="4"/>
            <c:spPr>
              <a:solidFill xmlns:a="http://schemas.openxmlformats.org/drawingml/2006/main">
                <a:srgbClr val="A9B4BF"/>
              </a:solidFill>
            </c:spPr>
          </c:dPt>
          <c:cat>
            <c:strRef>
              <c:f>Sheet1!$A$2:$A$6</c:f>
              <c:strCache>
                <c:ptCount val="5"/>
                <c:pt idx="0">
                  <c:v>SVM</c:v>
                </c:pt>
                <c:pt idx="1">
                  <c:v>BiLSTM</c:v>
                </c:pt>
                <c:pt idx="2">
                  <c:v>Hybrid kNN (new)</c:v>
                </c:pt>
                <c:pt idx="3">
                  <c:v>XLM-R</c:v>
                </c:pt>
                <c:pt idx="4">
                  <c:v>Naive Bayes (n.s.)</c:v>
                </c:pt>
              </c:strCache>
            </c:strRef>
          </c:cat>
          <c:val>
            <c:numRef>
              <c:f>Sheet1!$B$2:$B$6</c:f>
              <c:numCache>
                <c:formatCode>0.000</c:formatCode>
                <c:ptCount val="5"/>
                <c:pt idx="0">
                  <c:v>0.06976369023323059</c:v>
                </c:pt>
                <c:pt idx="1">
                  <c:v>0.018284738063812256</c:v>
                </c:pt>
                <c:pt idx="2">
                  <c:v>0.0112152099609375</c:v>
                </c:pt>
                <c:pt idx="3">
                  <c:v>0.007886871695518494</c:v>
                </c:pt>
                <c:pt idx="4">
                  <c:v>0.0024116039276123047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12283D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DE5EB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00">
                <a:solidFill>
                  <a:srgbClr val="12283D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  <c:max val="0.08"/>
          <c:min val="0.0"/>
        </c:scaling>
        <c:delete/>
        <c:axPos val="l"/>
        <c:numFmt formatCode="0.00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  <c:majorUnit val="0.025"/>
      </c:valAx>
      <c:spPr>
        <a:noFill xmlns:a="http://schemas.openxmlformats.org/drawingml/2006/main"/>
      </c:spPr>
    </c:plotArea>
    <c:plotVisOnly val="1"/>
  </c:chart>
  <c:spPr>
    <a:noFill xmlns:a="http://schemas.openxmlformats.org/drawingml/2006/main"/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8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09904" y="566928"/>
            <a:ext cx="6126480" cy="1600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NALTRA: hierarchical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multi-label classification</a:t>
            </a:r>
          </a:p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rial"/>
              </a:rPr>
              <a:t>under language shift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09904" y="292608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New paired EN–TR benchmark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609904" y="379476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All fields of a project + ancestors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609904" y="4663440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Arial"/>
              </a:rPr>
              <a:t>Flag unfamiliar fields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949440" y="658368"/>
            <a:ext cx="463600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rial"/>
              </a:rPr>
              <a:t>Test project 895187, EN–TR mixed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6949440" y="1097280"/>
            <a:ext cx="4636008" cy="7772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1">
                <a:solidFill>
                  <a:srgbClr val="BED3E5"/>
                </a:solidFill>
                <a:latin typeface="Arial"/>
              </a:rPr>
              <a:t>“…by using ultracold polar molecules. Böyle bir ölçüm…”</a:t>
            </a:r>
          </a:p>
        </p:txBody>
      </p:sp>
      <p:sp xmlns:a="http://schemas.openxmlformats.org/drawingml/2006/main">
        <p:nvSpPr>
          <p:cNvPr id="8" name="Rectangle 7"/>
          <p:cNvSpPr/>
          <p:nvPr/>
        </p:nvSpPr>
        <p:spPr>
          <a:xfrm>
            <a:off x="7941564" y="2194560"/>
            <a:ext cx="2651760" cy="502920"/>
          </a:xfrm>
          <a:prstGeom prst="rect">
            <a:avLst/>
          </a:prstGeom>
          <a:noFill/>
          <a:ln w="14287">
            <a:solidFill>
              <a:srgbClr val="BED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Natural sciences</a:t>
            </a:r>
          </a:p>
        </p:txBody>
      </p:sp>
      <p:sp xmlns:a="http://schemas.openxmlformats.org/drawingml/2006/main">
        <p:nvSpPr>
          <p:cNvPr id="9" name="Rectangle 8"/>
          <p:cNvSpPr/>
          <p:nvPr/>
        </p:nvSpPr>
        <p:spPr>
          <a:xfrm>
            <a:off x="7941564" y="3108960"/>
            <a:ext cx="2651760" cy="502920"/>
          </a:xfrm>
          <a:prstGeom prst="rect">
            <a:avLst/>
          </a:prstGeom>
          <a:noFill/>
          <a:ln w="14287">
            <a:solidFill>
              <a:srgbClr val="BED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Physical sciences</a:t>
            </a:r>
          </a:p>
        </p:txBody>
      </p:sp>
      <p:sp xmlns:a="http://schemas.openxmlformats.org/drawingml/2006/main">
        <p:nvSpPr>
          <p:cNvPr id="10" name="Rectangle 9"/>
          <p:cNvSpPr/>
          <p:nvPr/>
        </p:nvSpPr>
        <p:spPr>
          <a:xfrm>
            <a:off x="6949440" y="4023360"/>
            <a:ext cx="2194560" cy="502920"/>
          </a:xfrm>
          <a:prstGeom prst="rect">
            <a:avLst/>
          </a:prstGeom>
          <a:noFill/>
          <a:ln w="14287">
            <a:solidFill>
              <a:srgbClr val="BED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Optics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9390888" y="4023360"/>
            <a:ext cx="2194560" cy="502920"/>
          </a:xfrm>
          <a:prstGeom prst="rect">
            <a:avLst/>
          </a:prstGeom>
          <a:noFill/>
          <a:ln w="14287">
            <a:solidFill>
              <a:srgbClr val="BED3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Theoretical physics</a:t>
            </a:r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6949440" y="4937760"/>
            <a:ext cx="2194560" cy="502920"/>
          </a:xfrm>
          <a:prstGeom prst="rect">
            <a:avLst/>
          </a:prstGeom>
          <a:solidFill>
            <a:srgbClr val="28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Laser physics</a:t>
            </a:r>
          </a:p>
        </p:txBody>
      </p:sp>
      <p:sp xmlns:a="http://schemas.openxmlformats.org/drawingml/2006/main">
        <p:nvSpPr>
          <p:cNvPr id="13" name="Rectangle 12"/>
          <p:cNvSpPr/>
          <p:nvPr/>
        </p:nvSpPr>
        <p:spPr>
          <a:xfrm>
            <a:off x="9390888" y="4937760"/>
            <a:ext cx="2194560" cy="502920"/>
          </a:xfrm>
          <a:prstGeom prst="rect">
            <a:avLst/>
          </a:prstGeom>
          <a:solidFill>
            <a:srgbClr val="2878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576" rIns="36576"/>
          <a:lstStyle/>
          <a:p>
            <a:pPr algn="ctr"/>
            <a:r>
              <a:rPr sz="1700">
                <a:solidFill>
                  <a:srgbClr val="FFFFFF"/>
                </a:solidFill>
                <a:latin typeface="Arial"/>
              </a:rPr>
              <a:t>Particle physics</a:t>
            </a:r>
          </a:p>
        </p:txBody>
      </p:sp>
      <p:cxnSp xmlns:a="http://schemas.openxmlformats.org/drawingml/2006/main">
        <p:nvCxnSpPr>
          <p:cNvPr id="14" name="Connector 13"/>
          <p:cNvCxnSpPr/>
          <p:nvPr/>
        </p:nvCxnSpPr>
        <p:spPr>
          <a:xfrm>
            <a:off x="9267444" y="2697480"/>
            <a:ext cx="0" cy="41148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5" name="Connector 14"/>
          <p:cNvCxnSpPr/>
          <p:nvPr/>
        </p:nvCxnSpPr>
        <p:spPr>
          <a:xfrm>
            <a:off x="9267444" y="3611880"/>
            <a:ext cx="0" cy="20574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6" name="Connector 15"/>
          <p:cNvCxnSpPr/>
          <p:nvPr/>
        </p:nvCxnSpPr>
        <p:spPr>
          <a:xfrm>
            <a:off x="8046720" y="3817620"/>
            <a:ext cx="2441448" cy="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7" name="Connector 16"/>
          <p:cNvCxnSpPr/>
          <p:nvPr/>
        </p:nvCxnSpPr>
        <p:spPr>
          <a:xfrm>
            <a:off x="8046720" y="3817620"/>
            <a:ext cx="0" cy="20574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8" name="Connector 17"/>
          <p:cNvCxnSpPr/>
          <p:nvPr/>
        </p:nvCxnSpPr>
        <p:spPr>
          <a:xfrm>
            <a:off x="8046720" y="4526280"/>
            <a:ext cx="0" cy="41148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19" name="Connector 18"/>
          <p:cNvCxnSpPr/>
          <p:nvPr/>
        </p:nvCxnSpPr>
        <p:spPr>
          <a:xfrm>
            <a:off x="10488168" y="3817620"/>
            <a:ext cx="0" cy="20574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 xmlns:a="http://schemas.openxmlformats.org/drawingml/2006/main">
        <p:nvCxnSpPr>
          <p:cNvPr id="20" name="Connector 19"/>
          <p:cNvCxnSpPr/>
          <p:nvPr/>
        </p:nvCxnSpPr>
        <p:spPr>
          <a:xfrm>
            <a:off x="10488168" y="4526280"/>
            <a:ext cx="0" cy="411480"/>
          </a:xfrm>
          <a:prstGeom prst="line">
            <a:avLst/>
          </a:prstGeom>
          <a:ln w="19050">
            <a:solidFill>
              <a:srgbClr val="BED3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 xmlns:a="http://schemas.openxmlformats.org/drawingml/2006/main">
        <p:nvSpPr>
          <p:cNvPr id="21" name="TextBox 20"/>
          <p:cNvSpPr txBox="1"/>
          <p:nvPr/>
        </p:nvSpPr>
        <p:spPr>
          <a:xfrm>
            <a:off x="6949440" y="5577840"/>
            <a:ext cx="4636008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ED3E5"/>
                </a:solidFill>
                <a:latin typeface="Arial"/>
              </a:rPr>
              <a:t>Blue: gold · outlined: added ancestors</a:t>
            </a:r>
          </a:p>
        </p:txBody>
      </p:sp>
      <p:sp xmlns:a="http://schemas.openxmlformats.org/drawingml/2006/main">
        <p:nvSpPr>
          <p:cNvPr id="22" name="TextBox 21"/>
          <p:cNvSpPr txBox="1"/>
          <p:nvPr/>
        </p:nvSpPr>
        <p:spPr>
          <a:xfrm>
            <a:off x="609904" y="6400800"/>
            <a:ext cx="932688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ED3E5"/>
                </a:solidFill>
                <a:latin typeface="Arial"/>
              </a:rPr>
              <a:t>A. Alakili · A. Alkabi · O. Alzyod · A. Gamal · R. Isaoglu · M. Kamaleldin   |   github.com/Rxd3/NALTRA</a:t>
            </a:r>
          </a:p>
        </p:txBody>
      </p:sp>
      <p:sp xmlns:a="http://schemas.openxmlformats.org/drawingml/2006/main">
        <p:nvSpPr>
          <p:cNvPr id="23" name="TextBox 22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BED3E5"/>
                </a:solidFill>
                <a:latin typeface="Arial"/>
              </a:rPr>
              <a:t>1/5</a:t>
            </a:r>
          </a:p>
        </p:txBody>
      </p:sp>
    </p:spTree>
    <p:extLst>
      <p:ext uri="{BB962C8B-B14F-4D97-AF65-F5344CB8AC3E}">
        <p14:creationId xmlns:p14="http://schemas.microsoft.com/office/powerpoint/2010/main" val="130969646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Our data: the NALTRA CORDIS EN–TR benchmark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Release 1.1.0, the same projects in every track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2/5</a:t>
            </a:r>
          </a:p>
        </p:txBody>
      </p:sp>
      <p:sp xmlns:a="http://schemas.openxmlformats.org/drawingml/2006/main">
        <p:nvSpPr>
          <p:cNvPr id="5" name="TextBox 4"/>
          <p:cNvSpPr txBox="1"/>
          <p:nvPr/>
        </p:nvSpPr>
        <p:spPr>
          <a:xfrm>
            <a:off x="609904" y="20116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878B5"/>
                </a:solidFill>
                <a:latin typeface="Arial"/>
              </a:rPr>
              <a:t>31,407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09904" y="272491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16170"/>
                </a:solidFill>
                <a:latin typeface="Arial"/>
              </a:rPr>
              <a:t>paired EN + TR projects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3398824" y="20116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878B5"/>
                </a:solidFill>
                <a:latin typeface="Arial"/>
              </a:rPr>
              <a:t>283,002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3398824" y="272491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16170"/>
                </a:solidFill>
                <a:latin typeface="Arial"/>
              </a:rPr>
              <a:t>aligned sentence pairs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6187744" y="20116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878B5"/>
                </a:solidFill>
                <a:latin typeface="Arial"/>
              </a:rPr>
              <a:t>18,844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6187744" y="272491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16170"/>
                </a:solidFill>
                <a:latin typeface="Arial"/>
              </a:rPr>
              <a:t>code-switched records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8976664" y="2011680"/>
            <a:ext cx="2606040" cy="6858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4400" b="1" i="0">
                <a:solidFill>
                  <a:srgbClr val="2878B5"/>
                </a:solidFill>
                <a:latin typeface="Arial"/>
              </a:rPr>
              <a:t>473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8976664" y="272491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516170"/>
                </a:solidFill>
                <a:latin typeface="Arial"/>
              </a:rPr>
              <a:t>labels, 586-node tree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09904" y="4023360"/>
            <a:ext cx="539496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283D"/>
                </a:solidFill>
                <a:latin typeface="Arial"/>
              </a:rPr>
              <a:t>Tracks we built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09904" y="4480560"/>
            <a:ext cx="539496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English + machine-translated Turkish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Code-switched mixes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Character and punctuation noise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309360" y="4023360"/>
            <a:ext cx="527608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12283D"/>
                </a:solidFill>
                <a:latin typeface="Arial"/>
              </a:rPr>
              <a:t>Split by project, per language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6309360" y="4480560"/>
            <a:ext cx="5276088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21,985 train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4,711 validation</a:t>
            </a:r>
          </a:p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12283D"/>
                </a:solidFill>
                <a:latin typeface="Arial"/>
              </a:rPr>
              <a:t>4,711 test</a:t>
            </a:r>
          </a:p>
        </p:txBody>
      </p:sp>
    </p:spTree>
    <p:extLst>
      <p:ext uri="{BB962C8B-B14F-4D97-AF65-F5344CB8AC3E}">
        <p14:creationId xmlns:p14="http://schemas.microsoft.com/office/powerpoint/2010/main" val="427504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xmlns:a="http://schemas.openxmlformats.org/drawingml/2006/main">
        <p:nvSpPr>
          <p:cNvPr id="2" name="TextBox 1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Course baselines vs new methods</a:t>
            </a:r>
          </a:p>
        </p:txBody>
      </p:sp>
      <p:sp xmlns:a="http://schemas.openxmlformats.org/drawingml/2006/main">
        <p:nvSpPr>
          <p:cNvPr id="3" name="TextBox 2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Every model predicts the same 473 labels</a:t>
            </a:r>
          </a:p>
        </p:txBody>
      </p:sp>
      <p:sp xmlns:a="http://schemas.openxmlformats.org/drawingml/2006/main">
        <p:nvSpPr>
          <p:cNvPr id="4" name="TextBox 3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3/5</a:t>
            </a:r>
          </a:p>
        </p:txBody>
      </p:sp>
      <p:sp xmlns:a="http://schemas.openxmlformats.org/drawingml/2006/main">
        <p:nvSpPr>
          <p:cNvPr id="5" name="Rectangle 4"/>
          <p:cNvSpPr/>
          <p:nvPr/>
        </p:nvSpPr>
        <p:spPr>
          <a:xfrm>
            <a:off x="609904" y="1874519"/>
            <a:ext cx="5257800" cy="32918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884224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283D"/>
                </a:solidFill>
                <a:latin typeface="Arial"/>
              </a:rPr>
              <a:t>Course baselines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884224" y="27432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Naive Bayes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884224" y="32918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Linear SVM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84224" y="3840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BiLSTM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84224" y="4389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XLM-R</a:t>
            </a:r>
          </a:p>
        </p:txBody>
      </p:sp>
      <p:sp xmlns:a="http://schemas.openxmlformats.org/drawingml/2006/main">
        <p:nvSpPr>
          <p:cNvPr id="11" name="Rectangle 10"/>
          <p:cNvSpPr/>
          <p:nvPr/>
        </p:nvSpPr>
        <p:spPr>
          <a:xfrm>
            <a:off x="6324904" y="1874519"/>
            <a:ext cx="5257800" cy="329184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6599224" y="210312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12283D"/>
                </a:solidFill>
                <a:latin typeface="Arial"/>
              </a:rPr>
              <a:t>New methods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599224" y="274320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Hybrid kNN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599224" y="329184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2878B5"/>
                </a:solidFill>
                <a:latin typeface="Arial"/>
              </a:rPr>
              <a:t>NALTRA votes</a:t>
            </a:r>
          </a:p>
        </p:txBody>
      </p:sp>
      <p:sp xmlns:a="http://schemas.openxmlformats.org/drawingml/2006/main">
        <p:nvSpPr>
          <p:cNvPr id="15" name="TextBox 14"/>
          <p:cNvSpPr txBox="1"/>
          <p:nvPr/>
        </p:nvSpPr>
        <p:spPr>
          <a:xfrm>
            <a:off x="6599224" y="3840480"/>
            <a:ext cx="47091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400" b="1" i="0">
                <a:solidFill>
                  <a:srgbClr val="516170"/>
                </a:solidFill>
                <a:latin typeface="Arial"/>
              </a:rPr>
              <a:t>zero-shot </a:t>
            </a:r>
            <a:r>
              <a:rPr sz="2400" b="1" i="0">
                <a:solidFill>
                  <a:srgbClr val="2878B5"/>
                </a:solidFill>
                <a:latin typeface="Arial"/>
              </a:rPr>
              <a:t>Kev, Jev, Laya</a:t>
            </a:r>
          </a:p>
        </p:txBody>
      </p:sp>
      <p:sp xmlns:a="http://schemas.openxmlformats.org/drawingml/2006/main">
        <p:nvSpPr>
          <p:cNvPr id="16" name="TextBox 15"/>
          <p:cNvSpPr txBox="1"/>
          <p:nvPr/>
        </p:nvSpPr>
        <p:spPr>
          <a:xfrm>
            <a:off x="609904" y="54864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83D"/>
                </a:solidFill>
                <a:latin typeface="Arial"/>
              </a:rPr>
              <a:t>Metric: micro-F1</a:t>
            </a:r>
            <a:r>
              <a:rPr sz="2000" b="0" i="0">
                <a:solidFill>
                  <a:srgbClr val="12283D"/>
                </a:solidFill>
                <a:latin typeface="Arial"/>
              </a:rPr>
              <a:t>, as predicting no label already scores 99.3% accuracy</a:t>
            </a:r>
          </a:p>
        </p:txBody>
      </p:sp>
    </p:spTree>
    <p:extLst>
      <p:ext uri="{BB962C8B-B14F-4D97-AF65-F5344CB8AC3E}">
        <p14:creationId xmlns:p14="http://schemas.microsoft.com/office/powerpoint/2010/main" val="123955955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1247F949-5598-4218-8124-4667A5E21B62}"/>
              </a:ext>
            </a:extLst>
          </p:cNvPr>
          <p:cNvGraphicFramePr/>
          <p:nvPr/>
        </p:nvGraphicFramePr>
        <p:xfrm>
          <a:off xmlns:a="http://schemas.openxmlformats.org/drawingml/2006/main" x="502920" y="1783080"/>
          <a:ext xmlns:a="http://schemas.openxmlformats.org/drawingml/2006/main" cx="7589520" cy="402336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b29ee61df764804"/>
          </a:graphicData>
        </a:graphic>
      </p:graphicFrame>
      <p:sp xmlns:a="http://schemas.openxmlformats.org/drawingml/2006/main">
        <p:nvSpPr>
          <p:cNvPr id="5" name="TextBox 4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SVM leads the full benchmark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Micro-F1, all 4,711 test projects per language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4/5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09904" y="5897880"/>
            <a:ext cx="7498079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Hierarchical micro-F1 (ancestors credited): SVM 0.668 EN / 0.615 TR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8458200" y="1828800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12283D"/>
                </a:solidFill>
                <a:latin typeface="Arial"/>
              </a:rPr>
              <a:t>SVM on CPU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8458200" y="2212848"/>
            <a:ext cx="3127248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800" b="1" i="0">
                <a:solidFill>
                  <a:srgbClr val="2878B5"/>
                </a:solidFill>
                <a:latin typeface="Arial"/>
              </a:rPr>
              <a:t>2.0 ms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8458200" y="2880360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median per text</a:t>
            </a:r>
          </a:p>
        </p:txBody>
      </p:sp>
      <p:sp xmlns:a="http://schemas.openxmlformats.org/drawingml/2006/main">
        <p:nvSpPr>
          <p:cNvPr id="12" name="Rectangle 11"/>
          <p:cNvSpPr/>
          <p:nvPr/>
        </p:nvSpPr>
        <p:spPr>
          <a:xfrm>
            <a:off x="8293608" y="3429000"/>
            <a:ext cx="3456432" cy="2697480"/>
          </a:xfrm>
          <a:prstGeom prst="rect">
            <a:avLst/>
          </a:prstGeom>
          <a:solidFill>
            <a:srgbClr val="EEF3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8458200" y="3547872"/>
            <a:ext cx="3127248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12283D"/>
                </a:solidFill>
                <a:latin typeface="Arial"/>
              </a:rPr>
              <a:t>120-pair sample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8458200" y="3913632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new zero-shot methods</a:t>
            </a:r>
          </a:p>
        </p:txBody>
      </p:sp>
      <p:graphicFrame xmlns:a="http://schemas.openxmlformats.org/drawingml/2006/main">
        <p:nvGraphicFramePr>
          <p:cNvPr id="15" name="Table 14"/>
          <p:cNvGraphicFramePr>
            <a:graphicFrameLocks noGrp="1"/>
          </p:cNvGraphicFramePr>
          <p:nvPr/>
        </p:nvGraphicFramePr>
        <p:xfrm>
          <a:off x="8458200" y="4279392"/>
          <a:ext cx="3127248" cy="1737360"/>
        </p:xfrm>
        <a:graphic>
          <a:graphicData uri="http://schemas.openxmlformats.org/drawingml/2006/table">
            <a:tbl>
              <a:tblPr firstRow="1" bandRow="0"/>
              <a:tblGrid>
                <a:gridCol w="1298448"/>
                <a:gridCol w="914400"/>
                <a:gridCol w="914400"/>
              </a:tblGrid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TR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SVM (ref.)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0.489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Jev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0.277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0.279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Kev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0.220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Laya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0.068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635690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DFE7F9B-7006-4337-BDD2-5B6EACA01DC7}"/>
              </a:ext>
            </a:extLst>
          </p:cNvPr>
          <p:cNvGraphicFramePr/>
          <p:nvPr/>
        </p:nvGraphicFramePr>
        <p:xfrm>
          <a:off xmlns:a="http://schemas.openxmlformats.org/drawingml/2006/main" x="502920" y="1691640"/>
          <a:ext xmlns:a="http://schemas.openxmlformats.org/drawingml/2006/main" cx="6675120" cy="329184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1955d900ab404e"/>
          </a:graphicData>
        </a:graphic>
      </p:graphicFrame>
      <p:sp xmlns:a="http://schemas.openxmlformats.org/drawingml/2006/main">
        <p:nvSpPr>
          <p:cNvPr id="5" name="TextBox 4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Robustness and near-OOD</a:t>
            </a:r>
          </a:p>
        </p:txBody>
      </p:sp>
      <p:sp xmlns:a="http://schemas.openxmlformats.org/drawingml/2006/main">
        <p:nvSpPr>
          <p:cNvPr id="6" name="TextBox 5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EN → TR micro-F1 drop (lower = more robust)</a:t>
            </a:r>
          </a:p>
        </p:txBody>
      </p:sp>
      <p:sp xmlns:a="http://schemas.openxmlformats.org/drawingml/2006/main">
        <p:nvSpPr>
          <p:cNvPr id="7" name="TextBox 6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5/5</a:t>
            </a:r>
          </a:p>
        </p:txBody>
      </p:sp>
      <p:sp xmlns:a="http://schemas.openxmlformats.org/drawingml/2006/main">
        <p:nvSpPr>
          <p:cNvPr id="8" name="TextBox 7"/>
          <p:cNvSpPr txBox="1"/>
          <p:nvPr/>
        </p:nvSpPr>
        <p:spPr>
          <a:xfrm>
            <a:off x="609904" y="5047488"/>
            <a:ext cx="10972800" cy="5669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SVM drops significantly more than every other trained model on TR, code-switch and noisy EN (Holm p ≤ 0.0008)</a:t>
            </a:r>
          </a:p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n.s.: not significant (95% interval includes 0)</a:t>
            </a:r>
          </a:p>
        </p:txBody>
      </p:sp>
      <p:sp xmlns:a="http://schemas.openxmlformats.org/drawingml/2006/main">
        <p:nvSpPr>
          <p:cNvPr id="9" name="TextBox 8"/>
          <p:cNvSpPr txBox="1"/>
          <p:nvPr/>
        </p:nvSpPr>
        <p:spPr>
          <a:xfrm>
            <a:off x="7479792" y="1828800"/>
            <a:ext cx="410565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83D"/>
                </a:solidFill>
                <a:latin typeface="Arial"/>
              </a:rPr>
              <a:t>Near-OOD: humanities held out</a:t>
            </a:r>
          </a:p>
        </p:txBody>
      </p:sp>
      <p:sp xmlns:a="http://schemas.openxmlformats.org/drawingml/2006/main">
        <p:nvSpPr>
          <p:cNvPr id="10" name="TextBox 9"/>
          <p:cNvSpPr txBox="1"/>
          <p:nvPr/>
        </p:nvSpPr>
        <p:spPr>
          <a:xfrm>
            <a:off x="7479792" y="2286000"/>
            <a:ext cx="4105656" cy="9144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2283D"/>
                </a:solidFill>
                <a:latin typeface="Arial"/>
              </a:rPr>
              <a:t>SVM AUROC 0.927 EN / 0.924 TR</a:t>
            </a:r>
          </a:p>
          <a:p>
            <a:pPr algn="l">
              <a:spcAft>
                <a:spcPts val="600"/>
              </a:spcAft>
            </a:pPr>
            <a:r>
              <a:rPr sz="1700" b="0" i="0">
                <a:solidFill>
                  <a:srgbClr val="516170"/>
                </a:solidFill>
                <a:latin typeface="Arial"/>
              </a:rPr>
              <a:t>94 OOD vs 4,351 in-domain projects</a:t>
            </a:r>
          </a:p>
        </p:txBody>
      </p:sp>
      <p:sp xmlns:a="http://schemas.openxmlformats.org/drawingml/2006/main">
        <p:nvSpPr>
          <p:cNvPr id="11" name="TextBox 10"/>
          <p:cNvSpPr txBox="1"/>
          <p:nvPr/>
        </p:nvSpPr>
        <p:spPr>
          <a:xfrm>
            <a:off x="7479792" y="3383280"/>
            <a:ext cx="4105656" cy="38404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100" b="1" i="0">
                <a:solidFill>
                  <a:srgbClr val="12283D"/>
                </a:solidFill>
                <a:latin typeface="Arial"/>
              </a:rPr>
              <a:t>Limits</a:t>
            </a:r>
          </a:p>
        </p:txBody>
      </p:sp>
      <p:sp xmlns:a="http://schemas.openxmlformats.org/drawingml/2006/main">
        <p:nvSpPr>
          <p:cNvPr id="12" name="TextBox 11"/>
          <p:cNvSpPr txBox="1"/>
          <p:nvPr/>
        </p:nvSpPr>
        <p:spPr>
          <a:xfrm>
            <a:off x="7479792" y="3840480"/>
            <a:ext cx="4105656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2283D"/>
                </a:solidFill>
                <a:latin typeface="Arial"/>
              </a:rPr>
              <a:t>One seed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2283D"/>
                </a:solidFill>
                <a:latin typeface="Arial"/>
              </a:rPr>
              <a:t>Machine-translated Turkish</a:t>
            </a:r>
          </a:p>
          <a:p>
            <a:pPr algn="l">
              <a:spcAft>
                <a:spcPts val="0"/>
              </a:spcAft>
            </a:pPr>
            <a:r>
              <a:rPr sz="1800" b="0" i="0">
                <a:solidFill>
                  <a:srgbClr val="12283D"/>
                </a:solidFill>
                <a:latin typeface="Arial"/>
              </a:rPr>
              <a:t>Synthetic shifts, silver labels</a:t>
            </a:r>
          </a:p>
        </p:txBody>
      </p:sp>
      <p:sp xmlns:a="http://schemas.openxmlformats.org/drawingml/2006/main">
        <p:nvSpPr>
          <p:cNvPr id="13" name="TextBox 12"/>
          <p:cNvSpPr txBox="1"/>
          <p:nvPr/>
        </p:nvSpPr>
        <p:spPr>
          <a:xfrm>
            <a:off x="609904" y="57607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 i="0">
                <a:solidFill>
                  <a:srgbClr val="2878B5"/>
                </a:solidFill>
                <a:latin typeface="Arial"/>
              </a:rPr>
              <a:t>Take-home: highest micro-F1 ≠ most robust</a:t>
            </a:r>
          </a:p>
        </p:txBody>
      </p:sp>
      <p:sp xmlns:a="http://schemas.openxmlformats.org/drawingml/2006/main">
        <p:nvSpPr>
          <p:cNvPr id="14" name="TextBox 13"/>
          <p:cNvSpPr txBox="1"/>
          <p:nvPr/>
        </p:nvSpPr>
        <p:spPr>
          <a:xfrm>
            <a:off x="609904" y="6400800"/>
            <a:ext cx="5486400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github.com/Rxd3/NALTRA</a:t>
            </a:r>
          </a:p>
        </p:txBody>
      </p:sp>
    </p:spTree>
    <p:extLst>
      <p:ext uri="{BB962C8B-B14F-4D97-AF65-F5344CB8AC3E}">
        <p14:creationId xmlns:p14="http://schemas.microsoft.com/office/powerpoint/2010/main" val="1274135175"/>
      </p:ext>
    </p:extLst>
  </p:cSld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Backup: micro-F1 lost from English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Full test sets; paired project bootstrap, 10,000 resamples, 95% interval, Holm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Backup B1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737360"/>
          <a:ext cx="10972800" cy="3648449"/>
        </p:xfrm>
        <a:graphic>
          <a:graphicData uri="http://schemas.openxmlformats.org/drawingml/2006/table">
            <a:tbl>
              <a:tblPr firstRow="1" bandRow="0"/>
              <a:tblGrid>
                <a:gridCol w="2560320"/>
                <a:gridCol w="2103120"/>
                <a:gridCol w="2103120"/>
                <a:gridCol w="2103120"/>
                <a:gridCol w="2103120"/>
              </a:tblGrid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→ TR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→ code-switch</a:t>
                      </a:r>
                    </a:p>
                    <a:p>
                      <a:pPr algn="ctr"/>
                      <a:r>
                        <a:rPr sz="1500" b="1" i="0">
                          <a:solidFill>
                            <a:srgbClr val="FFFFFF"/>
                          </a:solidFill>
                          <a:latin typeface="Arial"/>
                        </a:rPr>
                        <a:t>(sentence)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→ noisy EN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→ noisy TR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SVM · 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0.070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[0.064, 0.075]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0.050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[0.046, 0.055]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0.078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[0.072, 0.084]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0.126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[0.119, 0.133]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Hybrid kNN · 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0.011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[0.007, 0.016]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0.009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[0.005, 0.014]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0.019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[0.015, 0.023]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0.026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[0.021, 0.031]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BiLSTM · 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0.018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[0.012, 0.024]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0.005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[0.001, 0.010]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0.048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[0.042, 0.054]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0.070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[0.063, 0.077]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XLM-R · 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0.008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[0.003, 0.013]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0.003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[−0.001, 0.007]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0.044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[0.039, 0.049]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0.053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[0.047, 0.059]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Naive Bayes · 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0.002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[−0.002, 0.007]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−0.002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[−0.005, 0.000]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0.016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[0.011, 0.021]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0.027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[0.021, 0.034]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1207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Weighted soft · 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0.051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[0.045, 0.056]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0.020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[0.016, 0.024]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0.064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[0.058, 0.070]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0.102</a:t>
                      </a:r>
                    </a:p>
                    <a:p>
                      <a:pPr algn="ctr"/>
                      <a:r>
                        <a:rPr sz="1500" b="0" i="0">
                          <a:solidFill>
                            <a:srgbClr val="12283D"/>
                          </a:solidFill>
                          <a:latin typeface="Arial"/>
                        </a:rPr>
                        <a:t>[0.095, 0.108]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904" y="5504688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An interval containing 0 is not significant. Relative TR drop: SVM 12.5%, hybrid kNN 2.9%.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SVM's drop minus each other trained model's (TR, both code-switch mixes, noisy EN): all 16 above 0, Holm p ≤ 0.0008.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Thresholds: val-A · votes: val-B · member selection reused full validation.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Backup: 120-pair zero-shot sample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Same 120 test projects per language; thresholds from 32 val-A pairs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Backup B2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737360"/>
          <a:ext cx="8961120" cy="3291840"/>
        </p:xfrm>
        <a:graphic>
          <a:graphicData uri="http://schemas.openxmlformats.org/drawingml/2006/table">
            <a:tbl>
              <a:tblPr firstRow="1" bandRow="0"/>
              <a:tblGrid>
                <a:gridCol w="2468880"/>
                <a:gridCol w="1371600"/>
                <a:gridCol w="1097280"/>
                <a:gridCol w="1097280"/>
                <a:gridCol w="2926080"/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System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EN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TR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EN → TR drop [95% CI]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SVM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0.556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0.489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0.066 [0.033, 0.100]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Weighted soft vote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0.510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0.468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0.042 [0.016, 0.069]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Hybrid kNN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0.377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0.382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−0.005 [−0.027, 0.018]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BiLSTM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0.298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0.278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0.020 [−0.020, 0.060]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Naive Bayes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0.297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0.298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−0.001 [−0.029, 0.026]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Jev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0.277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0.279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−0.002 [−0.018, 0.014]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Kev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0.220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0.045 [0.021, 0.070]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XLM-R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0.265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0.241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0.024 [−0.010, 0.057]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Laya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0.068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0.046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1">
                          <a:solidFill>
                            <a:srgbClr val="516170"/>
                          </a:solidFill>
                          <a:latin typeface="Arial"/>
                        </a:rPr>
                        <a:t>0.021 [−0.005, 0.048]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904" y="5166360"/>
            <a:ext cx="10972800" cy="10972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Grey rows: EN→TR drop not significant (Holm p ≥ 0.05). Observed pairwise micro-F1 intervals have average half-widths of about 0.043 EN and 0.041 TR; small differences remain uncertain.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English, Jev minus: XLM-R +0.012 [−0.033, +0.058] · BiLSTM −0.021 [−0.066, +0.025] · NB −0.020 [−0.062, +0.022]</a:t>
            </a:r>
          </a:p>
          <a:p>
            <a:pPr algn="l">
              <a:spcAft>
                <a:spcPts val="3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OOD at 95% recall of humanities: SVM still flags 32% EN / 28% TR in-domain projects.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904" y="457200"/>
            <a:ext cx="10972800" cy="66751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3600" b="1" i="0">
                <a:solidFill>
                  <a:srgbClr val="12283D"/>
                </a:solidFill>
                <a:latin typeface="Arial"/>
              </a:rPr>
              <a:t>Backup: architectures and models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904" y="1179576"/>
            <a:ext cx="10972800" cy="40233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0"/>
              </a:spcAft>
            </a:pPr>
            <a:r>
              <a:rPr sz="1900" b="0" i="0">
                <a:solidFill>
                  <a:srgbClr val="516170"/>
                </a:solidFill>
                <a:latin typeface="Arial"/>
              </a:rPr>
              <a:t>Architecture → concrete model behind each name on slide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66960" y="6400800"/>
            <a:ext cx="1618488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spcAft>
                <a:spcPts val="0"/>
              </a:spcAft>
            </a:pPr>
            <a:r>
              <a:rPr sz="1400" b="0" i="0">
                <a:solidFill>
                  <a:srgbClr val="516170"/>
                </a:solidFill>
                <a:latin typeface="Arial"/>
              </a:rPr>
              <a:t>Backup B3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904" y="1737360"/>
          <a:ext cx="10972800" cy="3657600"/>
        </p:xfrm>
        <a:graphic>
          <a:graphicData uri="http://schemas.openxmlformats.org/drawingml/2006/table">
            <a:tbl>
              <a:tblPr firstRow="1" bandRow="0"/>
              <a:tblGrid>
                <a:gridCol w="2103120"/>
                <a:gridCol w="1280160"/>
                <a:gridCol w="7589520"/>
              </a:tblGrid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Model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Role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 i="0">
                          <a:solidFill>
                            <a:srgbClr val="FFFFFF"/>
                          </a:solidFill>
                          <a:latin typeface="Arial"/>
                        </a:rPr>
                        <a:t>Architecture → model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1228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Naive Bayes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MultinomialNB on TF-IDF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Linear SVM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LinearSVC + Platt calibration, TF-IDF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BiLSTM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1 layer × 256, trained from scratch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XLM-R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baseline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xlm-roberta-base, fine-tuned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Hybrid kNN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TF-IDF + multilingual-e5-base, reciprocal rank fusion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NALTRA votes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Hard/soft votes: SVM, kNN, BiLSTM, XLM-R (+ Kev, Jev on sample)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Kev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Kev-0.8B, local zero-shot yes/no per label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Jev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Hosted zero-shot yes/no per label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l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Laya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new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i="0">
                          <a:solidFill>
                            <a:srgbClr val="12283D"/>
                          </a:solidFill>
                          <a:latin typeface="Arial"/>
                        </a:rPr>
                        <a:t>convaiinnovations/laya, zero-shot choice; scored, no vote</a:t>
                      </a:r>
                    </a:p>
                  </a:txBody>
                  <a:tcPr marL="73152" marR="73152" marT="18288" marB="18288" anchor="ctr">
                    <a:lnL w="9525">
                      <a:solidFill>
                        <a:srgbClr val="BED3E5"/>
                      </a:solidFill>
                    </a:lnL>
                    <a:lnR w="9525">
                      <a:solidFill>
                        <a:srgbClr val="BED3E5"/>
                      </a:solidFill>
                    </a:lnR>
                    <a:lnT w="9525">
                      <a:solidFill>
                        <a:srgbClr val="BED3E5"/>
                      </a:solidFill>
                    </a:lnT>
                    <a:lnB w="9525">
                      <a:solidFill>
                        <a:srgbClr val="BED3E5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904" y="5532120"/>
            <a:ext cx="10972800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Trained members see English and machine-translated Turkish; Kev, Jev and Laya are not fine-tuned on CORDIS.</a:t>
            </a:r>
          </a:p>
          <a:p>
            <a:pPr algn="l">
              <a:spcAft>
                <a:spcPts val="200"/>
              </a:spcAft>
            </a:pPr>
            <a:r>
              <a:rPr sz="1600" b="0" i="0">
                <a:solidFill>
                  <a:srgbClr val="516170"/>
                </a:solidFill>
                <a:latin typeface="Arial"/>
              </a:rPr>
              <a:t>Roles: configs/benchmark.yaml · settings: configs/models/*.yaml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ALTRA">
  <a:themeElements>
    <a:clrScheme name="NALTRA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NALTRA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2026-10-10T21:40:28.2690000Z</dcterms:created>
  <dcterms:modified xsi:type="dcterms:W3CDTF">2026-10-10T21:40:28.2690000Z</dcterms:modified>
</coreProperties>
</file>