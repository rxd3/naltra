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0f1b4f9f8f4961" /><Relationship Type="http://schemas.openxmlformats.org/officeDocument/2006/relationships/extended-properties" Target="/docProps/app.xml" Id="R407e5f85916a4c51" /><Relationship Type="http://schemas.openxmlformats.org/officeDocument/2006/relationships/officeDocument" Target="/ppt/presentation.xml" Id="Rf4c0928fed044f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83c0786ae74e14"/>
  </p:sldMasterIdLst>
  <p:notesMasterIdLst>
    <p:notesMasterId xmlns:r="http://schemas.openxmlformats.org/officeDocument/2006/relationships" r:id="Rf4806416786f4690"/>
  </p:notesMasterIdLst>
  <p:sldIdLst>
    <p:sldId xmlns:r="http://schemas.openxmlformats.org/officeDocument/2006/relationships" id="256" r:id="R441c97f329c04c4b"/>
    <p:sldId xmlns:r="http://schemas.openxmlformats.org/officeDocument/2006/relationships" id="257" r:id="Rf974d210c2494720"/>
    <p:sldId xmlns:r="http://schemas.openxmlformats.org/officeDocument/2006/relationships" id="258" r:id="R453797d62a76469a"/>
    <p:sldId xmlns:r="http://schemas.openxmlformats.org/officeDocument/2006/relationships" id="259" r:id="R52cb7d2740b54de4"/>
    <p:sldId xmlns:r="http://schemas.openxmlformats.org/officeDocument/2006/relationships" id="260" r:id="Re779c1b189ee42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e0735f03cf4e86" /><Relationship Type="http://schemas.openxmlformats.org/officeDocument/2006/relationships/slideMaster" Target="/ppt/slideMasters/slideMaster1.xml" Id="R9d83c0786ae74e14" /><Relationship Type="http://schemas.openxmlformats.org/officeDocument/2006/relationships/notesMaster" Target="/ppt/notesMasters/notesMaster1.xml" Id="Rf4806416786f4690" /><Relationship Type="http://schemas.openxmlformats.org/officeDocument/2006/relationships/presProps" Target="/ppt/presProps.xml" Id="R6a7bd9d2f6d44cf9" /><Relationship Type="http://schemas.openxmlformats.org/officeDocument/2006/relationships/tableStyles" Target="/ppt/tableStyles.xml" Id="Rb3b052ceca1b4f33" /><Relationship Type="http://schemas.openxmlformats.org/officeDocument/2006/relationships/slide" Target="/ppt/slides/slide1.xml" Id="R441c97f329c04c4b" /><Relationship Type="http://schemas.openxmlformats.org/officeDocument/2006/relationships/slide" Target="/ppt/slides/slide2.xml" Id="Rf974d210c2494720" /><Relationship Type="http://schemas.openxmlformats.org/officeDocument/2006/relationships/slide" Target="/ppt/slides/slide3.xml" Id="R453797d62a76469a" /><Relationship Type="http://schemas.openxmlformats.org/officeDocument/2006/relationships/slide" Target="/ppt/slides/slide4.xml" Id="R52cb7d2740b54de4" /><Relationship Type="http://schemas.openxmlformats.org/officeDocument/2006/relationships/slide" Target="/ppt/slides/slide5.xml" Id="Re779c1b189ee42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dbcb250ed645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ead861a9cf48fa" /><Relationship Type="http://schemas.openxmlformats.org/officeDocument/2006/relationships/notesMaster" Target="/ppt/notesMasters/notesMaster1.xml" Id="Rcc91284be13749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d5917fc24f4f3c" /><Relationship Type="http://schemas.openxmlformats.org/officeDocument/2006/relationships/notesMaster" Target="/ppt/notesMasters/notesMaster1.xml" Id="R0b164a5708b042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946edb7ad34d92" /><Relationship Type="http://schemas.openxmlformats.org/officeDocument/2006/relationships/notesMaster" Target="/ppt/notesMasters/notesMaster1.xml" Id="R8108b9fe532c42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f9d7e522814ec2" /><Relationship Type="http://schemas.openxmlformats.org/officeDocument/2006/relationships/notesMaster" Target="/ppt/notesMasters/notesMaster1.xml" Id="R7c896ba63a1147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9a94b82bde4605" /><Relationship Type="http://schemas.openxmlformats.org/officeDocument/2006/relationships/notesMaster" Target="/ppt/notesMasters/notesMaster1.xml" Id="R4fb4f8f4d0074f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NALTRA is a multilingual system that classifies research text into scientific fields. It assigns multiple labels, estimates whether an input is outside its domain, and tests robustness across languages and noisy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for preparation, not spoken:</a:t>
            </a:r>
          </a:p>
          <a:p xmlns:a="http://schemas.openxmlformats.org/drawingml/2006/main">
            <a:r>
              <a:t>README.md: project purpose and models</a:t>
            </a:r>
          </a:p>
          <a:p xmlns:a="http://schemas.openxmlformats.org/drawingml/2006/main">
            <a:r>
              <a:t>docs/core_ml.md: prediction output and OOD scoring</a:t>
            </a:r>
          </a:p>
          <a:p xmlns:a="http://schemas.openxmlformats.org/drawingml/2006/main">
            <a:r>
              <a:t>taxonomy/taxonomy.json: actual natural_sciences / physical_sciences / optics subtree</a:t>
            </a:r>
          </a:p>
          <a:p xmlns:a="http://schemas.openxmlformats.org/drawingml/2006/main">
            <a:r>
              <a:t>Blue nodes are illustrative labels, not predictions from an executed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0:17–0:37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cleaned CORDIS project objectives and mapped EuroSciVoc labels, retaining 31,407 projects and 473 labels. We grouped duplicate texts before a seventy-fifteen-fifteen train, validation and test split. Turkish and synthetic variants keep the same project splits.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for preparation, not spoken:</a:t>
            </a:r>
          </a:p>
          <a:p xmlns:a="http://schemas.openxmlformats.org/drawingml/2006/main">
            <a:r>
              <a:t>docs/dataset.md: source, cleaning, label support and grouped splits</a:t>
            </a:r>
          </a:p>
          <a:p xmlns:a="http://schemas.openxmlformats.org/drawingml/2006/main">
            <a:r>
              <a:t>Label support uses the full archive, including projects later assigned to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0:37–1:01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compared TF-IDF, hybrid kNN, BiLSTM, XLM-R and ensembles. We also tested zero-shot Kev locally and Jev through a hosted API, asking yes-or-no questions per label. Laya uses two-option questions; its results are pending. Validation tunes thresholds and voting before test scoring.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for preparation, not spoken:</a:t>
            </a:r>
          </a:p>
          <a:p xmlns:a="http://schemas.openxmlformats.org/drawingml/2006/main">
            <a:r>
              <a:t>docs/evaluation.md: models, validation partitions, metrics and 10,000 paired resamples</a:t>
            </a:r>
          </a:p>
          <a:p xmlns:a="http://schemas.openxmlformats.org/drawingml/2006/main">
            <a:r>
              <a:t>Hyperparameters and neural checkpoints previously used full validation, a documented reuse limitation.</a:t>
            </a:r>
          </a:p>
          <a:p xmlns:a="http://schemas.openxmlformats.org/drawingml/2006/main">
            <a:r>
              <a:t>results/metrics/cordis_v1.1.0_sample/summary.json: fixed 120-pair test metrics for Kev/Jev</a:t>
            </a:r>
          </a:p>
          <a:p xmlns:a="http://schemas.openxmlformats.org/drawingml/2006/main">
            <a:r>
              <a:t>docs/evaluation.md and configs/benchmark.yaml: local Kev, hosted Jev and local two-option Laya. Laya results are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1:01–1:28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 the full test, SVM leads at 0.558 English and 0.489 Turkish micro-F1, with two-millisecond CPU latency. Separately, on 120 matched projects, Jev scores 0.277 English and 0.279 Turkish. Kev scores 0.265 and 0.220. These sample results must stay separate from the full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for preparation, not spoken:</a:t>
            </a:r>
          </a:p>
          <a:p xmlns:a="http://schemas.openxmlformats.org/drawingml/2006/main">
            <a:r>
              <a:t>results/metrics/cordis_v1.1.0_ensemble/summary.json: full EN/TR metrics</a:t>
            </a:r>
          </a:p>
          <a:p xmlns:a="http://schemas.openxmlformats.org/drawingml/2006/main">
            <a:r>
              <a:t>results/benchmarks/cordis_v1.1.0/benchmark_summary.json: matching SVM artifacts and CPU timings</a:t>
            </a:r>
          </a:p>
          <a:p xmlns:a="http://schemas.openxmlformats.org/drawingml/2006/main">
            <a:r>
              <a:t>results/metrics/cordis_v1.1.0_sample/summary.json: fixed 120-pair test metrics for Kev/Jev</a:t>
            </a:r>
          </a:p>
          <a:p xmlns:a="http://schemas.openxmlformats.org/drawingml/2006/main">
            <a:r>
              <a:t>docs/evaluation.md and configs/benchmark.yaml: local Kev, hosted Jev and local two-option Laya. Laya results are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1:28–1:50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Hybrid kNN loses less F1 under shifts, while SVM stays more accurate. A separately retrained SVM reaches 0.927 English AUROC for humanities OOD detection. Silver labels and one training seed limit conclusions. Next steps are artifact verification and repeated training.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for preparation, not spoken:</a:t>
            </a:r>
          </a:p>
          <a:p xmlns:a="http://schemas.openxmlformats.org/drawingml/2006/main">
            <a:r>
              <a:t>results/metrics/cordis_v1.1.0_ensemble/summary.json: robustness comparisons</a:t>
            </a:r>
          </a:p>
          <a:p xmlns:a="http://schemas.openxmlformats.org/drawingml/2006/main">
            <a:r>
              <a:t>results/ood/cordis_v1.1.0/summary.json: humanities holdout, 4,351 ID and 94 OOD projects per language</a:t>
            </a:r>
          </a:p>
          <a:p xmlns:a="http://schemas.openxmlformats.org/drawingml/2006/main">
            <a:r>
              <a:t>docs/results.md and docs/reproducibility.md: limitations and pending original artifact verification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e595190b149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3fcc146314e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61bbf7f3f41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36038b1dfc43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f700cfa9a040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4296844224e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7421E-8744-4746-920B-1BEDDE7400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F898DF-8FA9-4E32-A708-923E51D7F4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195880-24DA-4ED7-8E73-1B71EB0944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FDB467-71C7-45BD-B8D4-CF7CB5147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EEC481-658D-4DFD-9834-08D155289D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B9C459-3033-47C8-ADAB-7C257FCB12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79E728-60E9-489E-B427-19DBC6D528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59EA74-8D53-4880-B699-1C069F859B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822803-505B-46DB-B566-B789FECFF5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502142-BFBF-4967-B319-F2C2548642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41b045f8254f82" /><Relationship Type="http://schemas.openxmlformats.org/officeDocument/2006/relationships/slideLayout" Target="/ppt/slideLayouts/slideLayout1.xml" Id="R787b2baac59e4a64" /><Relationship Type="http://schemas.openxmlformats.org/officeDocument/2006/relationships/slideLayout" Target="/ppt/slideLayouts/slideLayout2.xml" Id="R677d9deb3c3b4aa3" /><Relationship Type="http://schemas.openxmlformats.org/officeDocument/2006/relationships/slideLayout" Target="/ppt/slideLayouts/slideLayout3.xml" Id="Re152f1a613ab43e4" /><Relationship Type="http://schemas.openxmlformats.org/officeDocument/2006/relationships/slideLayout" Target="/ppt/slideLayouts/slideLayout4.xml" Id="Rf14f2a72ad4b4219" /><Relationship Type="http://schemas.openxmlformats.org/officeDocument/2006/relationships/slideLayout" Target="/ppt/slideLayouts/slideLayout5.xml" Id="Rcbcbbe0941544d38" /><Relationship Type="http://schemas.openxmlformats.org/officeDocument/2006/relationships/slideLayout" Target="/ppt/slideLayouts/slideLayout6.xml" Id="Raffd002fb3c24d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7b2baac59e4a64"/>
    <p:sldLayoutId xmlns:r="http://schemas.openxmlformats.org/officeDocument/2006/relationships" id="2147483650" r:id="R677d9deb3c3b4aa3"/>
    <p:sldLayoutId xmlns:r="http://schemas.openxmlformats.org/officeDocument/2006/relationships" id="2147483651" r:id="Re152f1a613ab43e4"/>
    <p:sldLayoutId xmlns:r="http://schemas.openxmlformats.org/officeDocument/2006/relationships" id="2147483652" r:id="Rf14f2a72ad4b4219"/>
    <p:sldLayoutId xmlns:r="http://schemas.openxmlformats.org/officeDocument/2006/relationships" id="2147483653" r:id="Rcbcbbe0941544d38"/>
    <p:sldLayoutId xmlns:r="http://schemas.openxmlformats.org/officeDocument/2006/relationships" id="2147483654" r:id="Raffd002fb3c24d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36cb37691d4b50" /><Relationship Type="http://schemas.openxmlformats.org/officeDocument/2006/relationships/notesSlide" Target="/ppt/notesSlides/notesSlide1.xml" Id="R81ea59e9683240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daf6e0c494ee4" /><Relationship Type="http://schemas.openxmlformats.org/officeDocument/2006/relationships/notesSlide" Target="/ppt/notesSlides/notesSlide2.xml" Id="R0dd4b7a62bc84c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9b2359767c476d" /><Relationship Type="http://schemas.openxmlformats.org/officeDocument/2006/relationships/notesSlide" Target="/ppt/notesSlides/notesSlide3.xml" Id="R7204db95f55043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9f1a6ac2f44012" /><Relationship Type="http://schemas.openxmlformats.org/officeDocument/2006/relationships/chart" Target="/ppt/slides/charts/chart1.xml" Id="R4b29ee61df764804" /><Relationship Type="http://schemas.openxmlformats.org/officeDocument/2006/relationships/notesSlide" Target="/ppt/notesSlides/notesSlide4.xml" Id="R870392b5e21348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6134caa748475a" /><Relationship Type="http://schemas.openxmlformats.org/officeDocument/2006/relationships/chart" Target="/ppt/slides/charts/chart2.xml" Id="R451955d900ab404e" /><Relationship Type="http://schemas.openxmlformats.org/officeDocument/2006/relationships/notesSlide" Target="/ppt/notesSlides/notesSlide5.xml" Id="R181080341f45487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English</c:v>
          </c:tx>
          <c:spPr>
            <a:solidFill xmlns:a="http://schemas.openxmlformats.org/drawingml/2006/main">
              <a:srgbClr val="2878B5"/>
            </a:solidFill>
          </c:spPr>
          <c:cat>
            <c:strRef>
              <c:f>'Chart Data'!$A$2:$A$7</c:f>
              <c:strCache>
                <c:ptCount val="6"/>
                <c:pt idx="0">
                  <c:v>XLM-R</c:v>
                </c:pt>
                <c:pt idx="1">
                  <c:v>Naive Bayes</c:v>
                </c:pt>
                <c:pt idx="2">
                  <c:v>BiLSTM</c:v>
                </c:pt>
                <c:pt idx="3">
                  <c:v>Hybrid kNN</c:v>
                </c:pt>
                <c:pt idx="4">
                  <c:v>Weighted soft</c:v>
                </c:pt>
                <c:pt idx="5">
                  <c:v>SVM</c:v>
                </c:pt>
              </c:strCache>
            </c:strRef>
          </c:cat>
          <c:val>
            <c:numRef>
              <c:f>'Chart Data'!$B$2:$B$7</c:f>
              <c:numCache>
                <c:formatCode>0.000</c:formatCode>
                <c:ptCount val="6"/>
                <c:pt idx="0">
                  <c:v>0.247645</c:v>
                </c:pt>
                <c:pt idx="1">
                  <c:v>0.277664</c:v>
                </c:pt>
                <c:pt idx="2">
                  <c:v>0.289056</c:v>
                </c:pt>
                <c:pt idx="3">
                  <c:v>0.392936</c:v>
                </c:pt>
                <c:pt idx="4">
                  <c:v>0.522841</c:v>
                </c:pt>
                <c:pt idx="5">
                  <c:v>0.558367</c:v>
                </c:pt>
              </c:numCache>
            </c:numRef>
          </c:val>
        </c:ser>
        <c:ser>
          <c:idx val="1"/>
          <c:order val="1"/>
          <c:tx>
            <c:v>Turkish</c:v>
          </c:tx>
          <c:spPr>
            <a:solidFill xmlns:a="http://schemas.openxmlformats.org/drawingml/2006/main">
              <a:srgbClr val="D47722"/>
            </a:solidFill>
          </c:spPr>
          <c:cat>
            <c:strRef>
              <c:f>'Chart Data'!$C$2:$C$7</c:f>
              <c:strCache>
                <c:ptCount val="6"/>
                <c:pt idx="0">
                  <c:v>XLM-R</c:v>
                </c:pt>
                <c:pt idx="1">
                  <c:v>Naive Bayes</c:v>
                </c:pt>
                <c:pt idx="2">
                  <c:v>BiLSTM</c:v>
                </c:pt>
                <c:pt idx="3">
                  <c:v>Hybrid kNN</c:v>
                </c:pt>
                <c:pt idx="4">
                  <c:v>Weighted soft</c:v>
                </c:pt>
                <c:pt idx="5">
                  <c:v>SVM</c:v>
                </c:pt>
              </c:strCache>
            </c:strRef>
          </c:cat>
          <c:val>
            <c:numRef>
              <c:f>'Chart Data'!$D$2:$D$7</c:f>
              <c:numCache>
                <c:formatCode>0.000</c:formatCode>
                <c:ptCount val="6"/>
                <c:pt idx="0">
                  <c:v>0.239759</c:v>
                </c:pt>
                <c:pt idx="1">
                  <c:v>0.275253</c:v>
                </c:pt>
                <c:pt idx="2">
                  <c:v>0.270771</c:v>
                </c:pt>
                <c:pt idx="3">
                  <c:v>0.381721</c:v>
                </c:pt>
                <c:pt idx="4">
                  <c:v>0.472292</c:v>
                </c:pt>
                <c:pt idx="5">
                  <c:v>0.488603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228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5EB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2283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SVM</c:v>
          </c:tx>
          <c:spPr>
            <a:solidFill xmlns:a="http://schemas.openxmlformats.org/drawingml/2006/main">
              <a:srgbClr val="2878B5"/>
            </a:solidFill>
          </c:spPr>
          <c:cat>
            <c:strRef>
              <c:f>'Chart Data'!$A$2:$A$3</c:f>
              <c:strCache>
                <c:ptCount val="2"/>
                <c:pt idx="0">
                  <c:v>Turkish</c:v>
                </c:pt>
                <c:pt idx="1">
                  <c:v>Noisy English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0.069764</c:v>
                </c:pt>
                <c:pt idx="1">
                  <c:v>0.078269</c:v>
                </c:pt>
              </c:numCache>
            </c:numRef>
          </c:val>
        </c:ser>
        <c:ser>
          <c:idx val="1"/>
          <c:order val="1"/>
          <c:tx>
            <c:v>Hybrid kNN</c:v>
          </c:tx>
          <c:spPr>
            <a:solidFill xmlns:a="http://schemas.openxmlformats.org/drawingml/2006/main">
              <a:srgbClr val="D47722"/>
            </a:solidFill>
          </c:spPr>
          <c:cat>
            <c:strRef>
              <c:f>'Chart Data'!$C$2:$C$3</c:f>
              <c:strCache>
                <c:ptCount val="2"/>
                <c:pt idx="0">
                  <c:v>Turkish</c:v>
                </c:pt>
                <c:pt idx="1">
                  <c:v>Noisy English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0.011215</c:v>
                </c:pt>
                <c:pt idx="1">
                  <c:v>0.018914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228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5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B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2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2283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35A69-800A-46CB-AAC0-4A2AA435B597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429750" y="4514850"/>
            <a:ext cx="1152525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ED3E5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22F50-C2F8-4776-9020-647F32015CF8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8258175" y="4514850"/>
            <a:ext cx="1171575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ED3E5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4A51B-6195-4803-BC13-649F090F8001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429750" y="35623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ED3E5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A6A0E-B0C5-4FF1-849C-486567FB722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429750" y="26098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ED3E5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D2144-45BE-4BF2-B6FB-79B6BBE5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628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NALTRA is a multilingual</a:t>
            </a:r>
          </a:p>
          <a:p xmlns:a="http://schemas.openxmlformats.org/drawingml/2006/main">
            <a:pPr>
              <a:buNone/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research-text classifier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95973-F6D0-4937-8212-BAF64DCD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019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BED3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BED3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ED3E5"/>
                </a:solidFill>
                <a:latin typeface="Arial"/>
                <a:ea typeface="Arial"/>
                <a:cs typeface="Arial"/>
              </a:rPr>
              <a:t>It maps project objectives to scientific fields</a:t>
            </a:r>
          </a:p>
          <a:p xmlns:a="http://schemas.openxmlformats.org/drawingml/2006/main">
            <a:pPr>
              <a:buNone/>
              <a:defRPr sz="2025" b="0">
                <a:solidFill>
                  <a:srgbClr val="BED3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ED3E5"/>
                </a:solidFill>
                <a:latin typeface="Arial"/>
                <a:ea typeface="Arial"/>
                <a:cs typeface="Arial"/>
              </a:rPr>
              <a:t>and their taxonomy ancestors.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E0B69-2CF7-4CE4-B7FA-704136EF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90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Taxonomy classification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0515F-E137-4BEC-A4C3-0962BC74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ED3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BED3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D3E5"/>
                </a:solidFill>
                <a:latin typeface="Arial"/>
                <a:ea typeface="Arial"/>
                <a:cs typeface="Arial"/>
              </a:rPr>
              <a:t>Multiple scientific labels per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BDBAC-01B5-4D74-A37C-D1110D3A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590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OOD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A0021-6F7F-406A-AB8C-FBE57910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ED3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BED3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D3E5"/>
                </a:solidFill>
                <a:latin typeface="Arial"/>
                <a:ea typeface="Arial"/>
                <a:cs typeface="Arial"/>
              </a:rPr>
              <a:t>Confidence scoring and a held-out-domain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3510A-5B77-4AF0-A1D3-E85AC850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590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Robustness 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EA3B6-6C43-4ADA-8B9A-9FB8A18A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ED3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BED3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D3E5"/>
                </a:solidFill>
                <a:latin typeface="Arial"/>
                <a:ea typeface="Arial"/>
                <a:cs typeface="Arial"/>
              </a:rPr>
              <a:t>English, Turkish, mixed and noisy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2B356-F437-420E-A16D-F7B77442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38275"/>
            <a:ext cx="42767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EuroSciVoc hierarchy</a:t>
            </a:r>
          </a:p>
        </p:txBody>
      </p:sp>
      <p:sp>
        <p:nvSpPr>
          <p:cNvPr id="10" name="taxonomy-natural_sciences">
            <a:extLst xmlns:a="http://schemas.openxmlformats.org/drawingml/2006/main">
              <a:ext uri="{FF2B5EF4-FFF2-40B4-BE49-F238E27FC236}">
                <a16:creationId xmlns:a16="http://schemas.microsoft.com/office/drawing/2014/main" id="{AD7855F9-6868-419E-9CB8-84147B0C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ED3E5"/>
            </a:solidFill>
            <a:prstDash val="solid"/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Natural sciences</a:t>
            </a:r>
          </a:p>
        </p:txBody>
      </p:sp>
      <p:sp>
        <p:nvSpPr>
          <p:cNvPr id="11" name="taxonomy-physical_sciences">
            <a:extLst xmlns:a="http://schemas.openxmlformats.org/drawingml/2006/main">
              <a:ext uri="{FF2B5EF4-FFF2-40B4-BE49-F238E27FC236}">
                <a16:creationId xmlns:a16="http://schemas.microsoft.com/office/drawing/2014/main" id="{2946DD42-62DC-42DF-B139-2A7235F0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ED3E5"/>
            </a:solidFill>
            <a:prstDash val="solid"/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Physical sciences</a:t>
            </a:r>
          </a:p>
        </p:txBody>
      </p:sp>
      <p:sp>
        <p:nvSpPr>
          <p:cNvPr id="12" name="taxonomy-optics">
            <a:extLst xmlns:a="http://schemas.openxmlformats.org/drawingml/2006/main">
              <a:ext uri="{FF2B5EF4-FFF2-40B4-BE49-F238E27FC236}">
                <a16:creationId xmlns:a16="http://schemas.microsoft.com/office/drawing/2014/main" id="{612F92BF-5FEB-45F2-A262-03AA8CE1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ED3E5"/>
            </a:solidFill>
            <a:prstDash val="solid"/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Optics</a:t>
            </a:r>
          </a:p>
        </p:txBody>
      </p:sp>
      <p:sp>
        <p:nvSpPr>
          <p:cNvPr id="13" name="taxonomy-laser_physics">
            <a:extLst xmlns:a="http://schemas.openxmlformats.org/drawingml/2006/main">
              <a:ext uri="{FF2B5EF4-FFF2-40B4-BE49-F238E27FC236}">
                <a16:creationId xmlns:a16="http://schemas.microsoft.com/office/drawing/2014/main" id="{24574227-A0FF-45E3-86B6-70C24143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101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14288">
            <a:solidFill>
              <a:srgbClr val="2878B5"/>
            </a:solidFill>
            <a:prstDash val="solid"/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Laser physics</a:t>
            </a:r>
          </a:p>
        </p:txBody>
      </p:sp>
      <p:sp>
        <p:nvSpPr>
          <p:cNvPr id="14" name="taxonomy-nonlinear_optics">
            <a:extLst xmlns:a="http://schemas.openxmlformats.org/drawingml/2006/main">
              <a:ext uri="{FF2B5EF4-FFF2-40B4-BE49-F238E27FC236}">
                <a16:creationId xmlns:a16="http://schemas.microsoft.com/office/drawing/2014/main" id="{9ADFE3B6-77B3-4DBF-A4A8-86A24D5B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101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14288">
            <a:solidFill>
              <a:srgbClr val="2878B5"/>
            </a:solidFill>
            <a:prstDash val="solid"/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Nonlinear optics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E427F-42E2-452C-8D96-2D55E0E2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762625"/>
            <a:ext cx="4324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ED3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BED3E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ED3E5"/>
                </a:solidFill>
                <a:latin typeface="Arial"/>
                <a:ea typeface="Arial"/>
                <a:cs typeface="Arial"/>
              </a:rPr>
              <a:t>Blue: example direct predictions</a:t>
            </a:r>
          </a:p>
          <a:p xmlns:a="http://schemas.openxmlformats.org/drawingml/2006/main">
            <a:pPr>
              <a:buNone/>
              <a:defRPr sz="1575" b="0">
                <a:solidFill>
                  <a:srgbClr val="BED3E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ED3E5"/>
                </a:solidFill>
                <a:latin typeface="Arial"/>
                <a:ea typeface="Arial"/>
                <a:cs typeface="Arial"/>
              </a:rPr>
              <a:t>Outlined: ancestors included in the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C06DE-6E66-4307-ADB4-BAE7BADE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ED3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BED3E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3E5"/>
                </a:solidFill>
                <a:latin typeface="Arial"/>
                <a:ea typeface="Arial"/>
                <a:cs typeface="Arial"/>
              </a:rPr>
              <a:t>NALTRA   1/5</a:t>
            </a:r>
          </a:p>
        </p:txBody>
      </p:sp>
    </p:spTree>
    <p:extLst>
      <p:ext uri="{BB962C8B-B14F-4D97-AF65-F5344CB8AC3E}">
        <p14:creationId xmlns:p14="http://schemas.microsoft.com/office/powerpoint/2010/main" val="1309696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6778F-1D46-4376-B1B1-EECB0BBE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283D"/>
                </a:solidFill>
                <a:latin typeface="Arial"/>
                <a:ea typeface="Arial"/>
                <a:cs typeface="Arial"/>
              </a:rPr>
              <a:t>Dataset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0A2CC-00AA-448E-B894-0B71DEF3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Multi-label classification of EU Horizon 2020 research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21F63-606D-4A01-9A1E-66FA6084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NALTRA   2/5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0E956-C73F-4C5F-AA26-DF3B019A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8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31,407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410D3-32B7-45C2-92A0-2805AA07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retained projects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839EA-4401-40E6-A1AC-E11CD3E0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3357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8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473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7F652-8876-40E6-B5AD-06D62A29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955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direct labels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4B134-D7D7-43DD-BC89-665266FC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3357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8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586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C393A-CCE2-413E-B2FF-9B15B1D5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955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hierarchy nodes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29476-14A7-466B-B14E-A170D0BC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283D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318FB-82DD-4EA3-BEE7-60792BBC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61436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Repair CSV rows and clean objectives</a:t>
            </a:r>
          </a:p>
          <a:p xmlns:a="http://schemas.openxmlformats.org/drawingml/2006/main">
            <a:pPr>
              <a:buNone/>
              <a:defRPr sz="1950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Keep labels with ≥50 source projects</a:t>
            </a:r>
          </a:p>
          <a:p xmlns:a="http://schemas.openxmlformats.org/drawingml/2006/main">
            <a:pPr>
              <a:buNone/>
              <a:defRPr sz="1950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Group exact duplicates before splitting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CA05A-DA6C-446E-AFA2-EAC2F7A1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813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283D"/>
                </a:solidFill>
                <a:latin typeface="Arial"/>
                <a:ea typeface="Arial"/>
                <a:cs typeface="Arial"/>
              </a:rPr>
              <a:t>Evaluation variants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4013F-B4DF-40D0-AD02-55F87A71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76675"/>
            <a:ext cx="4191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English and translated Turkish</a:t>
            </a:r>
          </a:p>
          <a:p xmlns:a="http://schemas.openxmlformats.org/drawingml/2006/main">
            <a:pPr>
              <a:buNone/>
              <a:defRPr sz="187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Sentence and chunk code-switch mixes</a:t>
            </a:r>
          </a:p>
          <a:p xmlns:a="http://schemas.openxmlformats.org/drawingml/2006/main">
            <a:pPr>
              <a:buNone/>
              <a:defRPr sz="187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Character and punctuation noise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5990F-3B54-4829-A3E4-33B89000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83D"/>
                </a:solidFill>
                <a:latin typeface="Arial"/>
                <a:ea typeface="Arial"/>
                <a:cs typeface="Arial"/>
              </a:rPr>
              <a:t>70% train     15% validation     15%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EC47E-1930-4180-BA94-F84B8CAA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21,985 / 4,711 / 4,711 projects per language. Shared pair IDs keep variants in the same split.</a:t>
            </a:r>
          </a:p>
        </p:txBody>
      </p:sp>
    </p:spTree>
    <p:extLst>
      <p:ext uri="{BB962C8B-B14F-4D97-AF65-F5344CB8AC3E}">
        <p14:creationId xmlns:p14="http://schemas.microsoft.com/office/powerpoint/2010/main" val="4275048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DD201-D2AB-4313-A0BA-EA193CCC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283D"/>
                </a:solidFill>
                <a:latin typeface="Arial"/>
                <a:ea typeface="Arial"/>
                <a:cs typeface="Arial"/>
              </a:rPr>
              <a:t>Models and evaluation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29928-B1FD-49DE-8471-A2962621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Every model scores the same 473 scientific labels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FD2F8-5C11-4248-9E5A-ECCF7743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NALTRA   3/5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725D0-E738-4136-9F6A-DC42F52E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283D"/>
                </a:solidFill>
                <a:latin typeface="Arial"/>
                <a:ea typeface="Arial"/>
                <a:cs typeface="Arial"/>
              </a:rPr>
              <a:t>Model families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7183C-DECC-4A6A-998D-6591FFDB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Classical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3B91B-4B89-4892-80EA-BFAF8065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TF-IDF Naive Bayes and calibrated SVM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B0227-90B9-44B3-ADF0-EBA7536D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8358D-B22E-45A8-9C1A-C2B4231C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5752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TF-IDF + multilingual-e5 hybrid kNN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24766-4349-4985-9C4D-2AD00CEE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Neural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6A608-CEFE-4B1B-9023-77C0563E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3855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BiLSTM and fine-tuned XLM-R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0214F-CCB6-48A6-9E65-ECAB0A68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Ensembles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FB74D-A4E4-4AB6-8436-A44021CC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195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Hard votes and weighted soft scores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EF19C-D42D-4E30-BC74-218B2E79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97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283D"/>
                </a:solidFill>
                <a:latin typeface="Arial"/>
                <a:ea typeface="Arial"/>
                <a:cs typeface="Arial"/>
              </a:rPr>
              <a:t>Frozen test protocol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395E8-7A08-461A-AE28-9442157F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5747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Trained members use EN + TR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1A3BC-EE8E-4C88-802B-857C1161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4238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Val-A: tune member thresholds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8C2EE-F446-4353-B566-D42B0433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48125"/>
            <a:ext cx="4238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Val-B: tune ensemble settings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A3DA1D-EFFA-439A-A338-24D9D1F0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4238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Test: direct + hierarchical 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B466D-511A-4AE9-A4A9-6EFAC49D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10,000 paired project bootstrap resamples, 95% intervals and Holm correction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4BB5AE-8419-429F-93E5-921B7B4D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Zero-shot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C662B-2690-440E-8891-20D66F4B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86325"/>
            <a:ext cx="466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Kev (local) + Jev (hosted): yes/no</a:t>
            </a:r>
          </a:p>
          <a:p xmlns:a="http://schemas.openxmlformats.org/drawingml/2006/main">
            <a:pPr>
              <a:defRPr sz="172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Laya (local): two-option choice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9B7EF-4A71-4329-8667-673AA244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Kev/Jev: 120 matched test pairs. Laya results pending.</a:t>
            </a:r>
          </a:p>
        </p:txBody>
      </p:sp>
    </p:spTree>
    <p:extLst>
      <p:ext uri="{BB962C8B-B14F-4D97-AF65-F5344CB8AC3E}">
        <p14:creationId xmlns:p14="http://schemas.microsoft.com/office/powerpoint/2010/main" val="1239559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E4938-63D0-4CAF-9A40-5705100D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283D"/>
                </a:solidFill>
                <a:latin typeface="Arial"/>
                <a:ea typeface="Arial"/>
                <a:cs typeface="Arial"/>
              </a:rPr>
              <a:t>SVM leads the full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70566-0C99-40B8-9877-1DCC281B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Direct-label micro-F1 on 4,711 test projects per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BC687-111E-42D7-BC08-64E92B93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NALTRA   4/5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247F949-5598-4218-8124-4667A5E21B62}"/>
              </a:ext>
            </a:extLst>
          </p:cNvPr>
          <p:cNvGraphicFramePr/>
          <p:nvPr/>
        </p:nvGraphicFramePr>
        <p:xfrm>
          <a:off xmlns:a="http://schemas.openxmlformats.org/drawingml/2006/main" x="552450" y="1819275"/>
          <a:ext xmlns:a="http://schemas.openxmlformats.org/drawingml/2006/main" cx="7810500" cy="4210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29ee61df76480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395B2-6E40-4691-8A77-1FF5FFF5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83D"/>
                </a:solidFill>
                <a:latin typeface="Arial"/>
                <a:ea typeface="Arial"/>
                <a:cs typeface="Arial"/>
              </a:rPr>
              <a:t>SVM on CPU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50715-CD25-4C77-87AE-5C602286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76500"/>
            <a:ext cx="2838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82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2.0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EB3B7-C3D8-4065-A7C7-ED65AA6C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90875"/>
            <a:ext cx="2838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median latency per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45A09-5DCE-4C13-9B74-C70420D6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62375"/>
            <a:ext cx="2838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83D"/>
                </a:solidFill>
                <a:latin typeface="Arial"/>
                <a:ea typeface="Arial"/>
                <a:cs typeface="Arial"/>
              </a:rPr>
              <a:t>Zero-shot 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93425-3852-46CF-ACA7-1ABD7AE3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910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120 pairs, EN/TR micro-F1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F3710-3D8E-4E91-816E-8771443D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CPU run: 200 texts, 10 warm-ups, 4 torch threads. No tested ensemble beats SVM.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9C3C3-6C2F-4380-A555-932DD7D2FBF5}"/>
              </a:ext>
            </a:extLst>
          </p:cNvPr>
          <p:cNvGraphicFramePr/>
          <p:nvPr/>
        </p:nvGraphicFramePr>
        <p:xfrm>
          <a:off xmlns:a="http://schemas.openxmlformats.org/drawingml/2006/main" x="8743950" y="4572000"/>
          <a:ext xmlns:a="http://schemas.openxmlformats.org/drawingml/2006/main" cx="2838450" cy="1371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895350"/>
                <a:gridCol w="971550"/>
                <a:gridCol w="971550"/>
              </a:tblGrid>
              <a:tr h="342900">
                <a:tc>
                  <a:txBody>
                    <a:bodyPr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2283D"/>
                    </a:solidFill>
                  </a:tcPr>
                </a:tc>
                <a:tc>
                  <a:txBody>
                    <a:bodyPr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</a:t>
                      </a:r>
                    </a:p>
                  </a:txBody>
                  <a:tcPr marL="91440" marR="91440" marT="45720" marB="45720" anchor="ctr">
                    <a:solidFill>
                      <a:srgbClr val="12283D"/>
                    </a:solidFill>
                  </a:tcPr>
                </a:tc>
                <a:tc>
                  <a:txBody>
                    <a:bodyPr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</a:t>
                      </a:r>
                    </a:p>
                  </a:txBody>
                  <a:tcPr marL="91440" marR="91440" marT="45720" marB="45720" anchor="ctr">
                    <a:solidFill>
                      <a:srgbClr val="12283D"/>
                    </a:solidFill>
                  </a:tcPr>
                </a:tc>
              </a:tr>
              <a:tr h="342900">
                <a:tc>
                  <a:txBody>
                    <a:bodyPr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2283D"/>
                          </a:solidFill>
                          <a:latin typeface="Arial"/>
                          <a:ea typeface="Arial"/>
                          <a:cs typeface="Arial"/>
                        </a:rPr>
                        <a:t>Jev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2283D"/>
                          </a:solidFill>
                          <a:latin typeface="Arial"/>
                          <a:ea typeface="Arial"/>
                          <a:cs typeface="Arial"/>
                        </a:rPr>
                        <a:t>0.277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2283D"/>
                          </a:solidFill>
                          <a:latin typeface="Arial"/>
                          <a:ea typeface="Arial"/>
                          <a:cs typeface="Arial"/>
                        </a:rPr>
                        <a:t>0.279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2283D"/>
                          </a:solidFill>
                          <a:latin typeface="Arial"/>
                          <a:ea typeface="Arial"/>
                          <a:cs typeface="Arial"/>
                        </a:rPr>
                        <a:t>Kev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2283D"/>
                          </a:solidFill>
                          <a:latin typeface="Arial"/>
                          <a:ea typeface="Arial"/>
                          <a:cs typeface="Arial"/>
                        </a:rPr>
                        <a:t>0.265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2283D"/>
                          </a:solidFill>
                          <a:latin typeface="Arial"/>
                          <a:ea typeface="Arial"/>
                          <a:cs typeface="Arial"/>
                        </a:rPr>
                        <a:t>0.220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2283D"/>
                          </a:solidFill>
                          <a:latin typeface="Arial"/>
                          <a:ea typeface="Arial"/>
                          <a:cs typeface="Arial"/>
                        </a:rPr>
                        <a:t>Laya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2283D"/>
                          </a:solidFill>
                          <a:latin typeface="Arial"/>
                          <a:ea typeface="Arial"/>
                          <a:cs typeface="Arial"/>
                        </a:rPr>
                        <a:t>Pending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2283D"/>
                          </a:solidFill>
                          <a:latin typeface="Arial"/>
                          <a:ea typeface="Arial"/>
                          <a:cs typeface="Arial"/>
                        </a:rPr>
                        <a:t>Pending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63569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920F5-52D0-4910-9550-5BBF9296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283D"/>
                </a:solidFill>
                <a:latin typeface="Arial"/>
                <a:ea typeface="Arial"/>
                <a:cs typeface="Arial"/>
              </a:rPr>
              <a:t>Robustness and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9A85F-E34D-4587-AEAD-58BB60B9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English micro-F1 loss under language and noise shifts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EEBB9-8D8F-438E-887E-51E3F7BB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NALTRA   5/5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DFE7F9B-7006-4337-BDD2-5B6EACA01DC7}"/>
              </a:ext>
            </a:extLst>
          </p:cNvPr>
          <p:cNvGraphicFramePr/>
          <p:nvPr/>
        </p:nvGraphicFramePr>
        <p:xfrm>
          <a:off xmlns:a="http://schemas.openxmlformats.org/drawingml/2006/main" x="590550" y="2019300"/>
          <a:ext xmlns:a="http://schemas.openxmlformats.org/drawingml/2006/main" cx="6191250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1955d900ab404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62390-63A6-49DD-B857-F92785CD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85975"/>
            <a:ext cx="4105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283D"/>
                </a:solidFill>
                <a:latin typeface="Arial"/>
                <a:ea typeface="Arial"/>
                <a:cs typeface="Arial"/>
              </a:rPr>
              <a:t>Humanities OOD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0E552-6890-4322-842B-50ED3C16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57475"/>
            <a:ext cx="41052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SVM AUROC: 0.927 EN / 0.924 TR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778A8-5C60-4E19-9071-467B256D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24225"/>
            <a:ext cx="4105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94 OOD projects per language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2D994-A31C-4398-9B2F-2D0B3EF8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62400"/>
            <a:ext cx="4105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283D"/>
                </a:solidFill>
                <a:latin typeface="Arial"/>
                <a:ea typeface="Arial"/>
                <a:cs typeface="Arial"/>
              </a:rPr>
              <a:t>Limits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DF544-30D6-4A37-A0D3-8E71A24F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05325"/>
            <a:ext cx="41052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Silver labels and synthetic variants</a:t>
            </a:r>
          </a:p>
          <a:p xmlns:a="http://schemas.openxmlformats.org/drawingml/2006/main">
            <a:pPr>
              <a:buNone/>
              <a:defRPr sz="1800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One training seed</a:t>
            </a:r>
          </a:p>
          <a:p xmlns:a="http://schemas.openxmlformats.org/drawingml/2006/main">
            <a:pPr>
              <a:buNone/>
              <a:defRPr sz="1800" b="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83D"/>
                </a:solidFill>
                <a:latin typeface="Arial"/>
                <a:ea typeface="Arial"/>
                <a:cs typeface="Arial"/>
              </a:rPr>
              <a:t>Original artifact verification 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5DFA5-F9A3-49D4-8601-E39D5FC1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283D"/>
                </a:solidFill>
                <a:latin typeface="Arial"/>
                <a:ea typeface="Arial"/>
                <a:cs typeface="Arial"/>
              </a:rPr>
              <a:t>Hybrid kNN loses less F1 under shifts. SVM keeps the highest accuracy.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BCA56-BFBE-47AA-A664-4041995E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Next: repeat training seeds and separate model selection from ensemble tuning</a:t>
            </a:r>
          </a:p>
        </p:txBody>
      </p:sp>
    </p:spTree>
    <p:extLst>
      <p:ext uri="{BB962C8B-B14F-4D97-AF65-F5344CB8AC3E}">
        <p14:creationId xmlns:p14="http://schemas.microsoft.com/office/powerpoint/2010/main" val="1274135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2026-10-10T21:40:28.2690000Z</dcterms:created>
  <dcterms:modified xsi:type="dcterms:W3CDTF">2026-10-10T21:40:28.2690000Z</dcterms:modified>
</coreProperties>
</file>